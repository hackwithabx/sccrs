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3" Type="http://schemas.openxmlformats.org/officeDocument/2006/relationships/viewProps" Target="viewProps.xml" /><Relationship Id="rId42" Type="http://schemas.openxmlformats.org/officeDocument/2006/relationships/presProps" Target="presProps.xml" /><Relationship Id="rId1" Type="http://schemas.openxmlformats.org/officeDocument/2006/relationships/slideMaster" Target="slideMasters/slideMaster1.xml" /><Relationship Id="rId45" Type="http://schemas.openxmlformats.org/officeDocument/2006/relationships/tableStyles" Target="tableStyles.xml" /><Relationship Id="rId44"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sv.dev" TargetMode="Externa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ShieldX — Detailed Architecture &amp; Developer Documentation</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Version:</a:t>
            </a:r>
            <a:r>
              <a:rPr/>
              <a:t> 2.0</a:t>
            </a:r>
            <a:br/>
            <a:r>
              <a:rPr b="1"/>
              <a:t>Last Updated:</a:t>
            </a:r>
            <a:r>
              <a:rPr/>
              <a:t> March 20, 2026</a:t>
            </a:r>
            <a:br/>
            <a:r>
              <a:rPr b="1"/>
              <a:t>Author:</a:t>
            </a:r>
            <a:r>
              <a:rPr/>
              <a:t> SecureCodeReviews Engineering</a:t>
            </a:r>
            <a:br/>
            <a:r>
              <a:rPr b="1"/>
              <a:t>Audience:</a:t>
            </a:r>
            <a:r>
              <a:rPr/>
              <a:t> Developers, Engineering Leads, DevSecOps Teams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Table of Contents</a:t>
            </a:r>
          </a:p>
        </p:txBody>
      </p:sp>
      <p:sp>
        <p:nvSpPr>
          <p:cNvPr id="3" name="Content Placeholder 2"/>
          <p:cNvSpPr>
            <a:spLocks noGrp="1"/>
          </p:cNvSpPr>
          <p:nvPr>
            <p:ph idx="1"/>
          </p:nvPr>
        </p:nvSpPr>
        <p:spPr/>
        <p:txBody>
          <a:bodyPr/>
          <a:lstStyle/>
          <a:p>
            <a:pPr lvl="0" indent="-342900" marL="342900">
              <a:buAutoNum type="arabicPeriod"/>
            </a:pPr>
            <a:r>
              <a:rPr/>
              <a:t>System Overview</a:t>
            </a:r>
          </a:p>
          <a:p>
            <a:pPr lvl="0" indent="-342900" marL="342900">
              <a:buAutoNum type="arabicPeriod"/>
            </a:pPr>
            <a:r>
              <a:rPr/>
              <a:t>Technology Stack</a:t>
            </a:r>
          </a:p>
          <a:p>
            <a:pPr lvl="0" indent="-342900" marL="342900">
              <a:buAutoNum type="arabicPeriod"/>
            </a:pPr>
            <a:r>
              <a:rPr/>
              <a:t>Architecture Diagram</a:t>
            </a:r>
          </a:p>
          <a:p>
            <a:pPr lvl="0" indent="-342900" marL="342900">
              <a:buAutoNum type="arabicPeriod"/>
            </a:pPr>
            <a:r>
              <a:rPr/>
              <a:t>Module Architecture</a:t>
            </a:r>
          </a:p>
          <a:p>
            <a:pPr lvl="1"/>
            <a:r>
              <a:rPr/>
              <a:t>4.1 Secrets Scanner</a:t>
            </a:r>
          </a:p>
          <a:p>
            <a:pPr lvl="1"/>
            <a:r>
              <a:rPr/>
              <a:t>4.2 Dependency Scanner</a:t>
            </a:r>
          </a:p>
          <a:p>
            <a:pPr lvl="1"/>
            <a:r>
              <a:rPr/>
              <a:t>4.3 API Security Scanner</a:t>
            </a:r>
          </a:p>
          <a:p>
            <a:pPr lvl="1"/>
            <a:r>
              <a:rPr/>
              <a:t>4.4 Cloud Security Audit</a:t>
            </a:r>
          </a:p>
          <a:p>
            <a:pPr lvl="1"/>
            <a:r>
              <a:rPr/>
              <a:t>4.5 Threat Log Analyzer</a:t>
            </a:r>
          </a:p>
          <a:p>
            <a:pPr lvl="1"/>
            <a:r>
              <a:rPr/>
              <a:t>4.6 CI/CD Pipeline Gate</a:t>
            </a:r>
          </a:p>
          <a:p>
            <a:pPr lvl="1"/>
            <a:r>
              <a:rPr/>
              <a:t>4.7 Alert System</a:t>
            </a:r>
          </a:p>
          <a:p>
            <a:pPr lvl="1"/>
            <a:r>
              <a:rPr/>
              <a:t>4.8 Security Score</a:t>
            </a:r>
          </a:p>
          <a:p>
            <a:pPr lvl="0" indent="-342900" marL="342900">
              <a:buAutoNum type="arabicPeriod"/>
            </a:pPr>
            <a:r>
              <a:rPr/>
              <a:t>API Reference</a:t>
            </a:r>
          </a:p>
          <a:p>
            <a:pPr lvl="0" indent="-342900" marL="342900">
              <a:buAutoNum type="arabicPeriod"/>
            </a:pPr>
            <a:r>
              <a:rPr/>
              <a:t>Authentication &amp; Authorization</a:t>
            </a:r>
          </a:p>
          <a:p>
            <a:pPr lvl="0" indent="-342900" marL="342900">
              <a:buAutoNum type="arabicPeriod"/>
            </a:pPr>
            <a:r>
              <a:rPr/>
              <a:t>Data Flow &amp; Privacy</a:t>
            </a:r>
          </a:p>
          <a:p>
            <a:pPr lvl="0" indent="-342900" marL="342900">
              <a:buAutoNum type="arabicPeriod"/>
            </a:pPr>
            <a:r>
              <a:rPr/>
              <a:t>Billing &amp; Plans</a:t>
            </a:r>
          </a:p>
          <a:p>
            <a:pPr lvl="0" indent="-342900" marL="342900">
              <a:buAutoNum type="arabicPeriod"/>
            </a:pPr>
            <a:r>
              <a:rPr/>
              <a:t>External APIs &amp; Data Sources</a:t>
            </a:r>
          </a:p>
          <a:p>
            <a:pPr lvl="0" indent="-342900" marL="342900">
              <a:buAutoNum type="arabicPeriod"/>
            </a:pPr>
            <a:r>
              <a:rPr/>
              <a:t>Database Schema</a:t>
            </a:r>
          </a:p>
          <a:p>
            <a:pPr lvl="0" indent="-342900" marL="342900">
              <a:buAutoNum type="arabicPeriod"/>
            </a:pPr>
            <a:r>
              <a:rPr/>
              <a:t>Deployment Architecture</a:t>
            </a:r>
          </a:p>
          <a:p>
            <a:pPr lvl="0" indent="-342900" marL="342900">
              <a:buAutoNum type="arabicPeriod"/>
            </a:pPr>
            <a:r>
              <a:rPr/>
              <a:t>CI/CD Integration Guide</a:t>
            </a:r>
          </a:p>
          <a:p>
            <a:pPr lvl="0" indent="-342900" marL="342900">
              <a:buAutoNum type="arabicPeriod"/>
            </a:pPr>
            <a:r>
              <a:rPr/>
              <a:t>Security Hardening</a:t>
            </a:r>
          </a:p>
          <a:p>
            <a:pPr lvl="0" indent="-342900" marL="342900">
              <a:buAutoNum type="arabicPeriod"/>
            </a:pPr>
            <a:r>
              <a:rPr/>
              <a:t>Known Limitations &amp; Technical Boundaries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1. System Overview</a:t>
            </a:r>
          </a:p>
        </p:txBody>
      </p:sp>
      <p:sp>
        <p:nvSpPr>
          <p:cNvPr id="4" name="Text Placeholder 3"/>
          <p:cNvSpPr>
            <a:spLocks noGrp="1"/>
          </p:cNvSpPr>
          <p:nvPr>
            <p:ph idx="2" sz="half" type="body"/>
          </p:nvPr>
        </p:nvSpPr>
        <p:spPr/>
        <p:txBody>
          <a:bodyPr/>
          <a:lstStyle/>
          <a:p>
            <a:pPr lvl="0" indent="0" marL="0">
              <a:buNone/>
            </a:pPr>
            <a:r>
              <a:rPr/>
              <a:t>ShieldX is a multi-module application security platform built as part of the SecureCodeReviews.com (SCRs) Next.js application. It operates as a SaaS product with three plan tiers: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495300"/>
                <a:gridCol w="736600"/>
                <a:gridCol w="901700"/>
                <a:gridCol w="736600"/>
                <a:gridCol w="736600"/>
                <a:gridCol w="901700"/>
                <a:gridCol w="571500"/>
              </a:tblGrid>
              <a:tr h="0">
                <a:tc>
                  <a:txBody>
                    <a:bodyPr/>
                    <a:lstStyle/>
                    <a:p>
                      <a:pPr lvl="0" indent="0" marL="0">
                        <a:buNone/>
                      </a:pPr>
                      <a:r>
                        <a:rPr/>
                        <a:t>Plan</a:t>
                      </a:r>
                    </a:p>
                  </a:txBody>
                  <a:tcPr/>
                </a:tc>
                <a:tc>
                  <a:txBody>
                    <a:bodyPr/>
                    <a:lstStyle/>
                    <a:p>
                      <a:pPr lvl="0" indent="0" marL="0">
                        <a:buNone/>
                      </a:pPr>
                      <a:r>
                        <a:rPr/>
                        <a:t>Modules</a:t>
                      </a:r>
                    </a:p>
                  </a:txBody>
                  <a:tcPr/>
                </a:tc>
                <a:tc>
                  <a:txBody>
                    <a:bodyPr/>
                    <a:lstStyle/>
                    <a:p>
                      <a:pPr lvl="0" indent="0" marL="0">
                        <a:buNone/>
                      </a:pPr>
                      <a:r>
                        <a:rPr/>
                        <a:t>Scan Limit</a:t>
                      </a:r>
                    </a:p>
                  </a:txBody>
                  <a:tcPr/>
                </a:tc>
                <a:tc>
                  <a:txBody>
                    <a:bodyPr/>
                    <a:lstStyle/>
                    <a:p>
                      <a:pPr lvl="0" indent="0" marL="0">
                        <a:buNone/>
                      </a:pPr>
                      <a:r>
                        <a:rPr/>
                        <a:t>History</a:t>
                      </a:r>
                    </a:p>
                  </a:txBody>
                  <a:tcPr/>
                </a:tc>
                <a:tc>
                  <a:txBody>
                    <a:bodyPr/>
                    <a:lstStyle/>
                    <a:p>
                      <a:pPr lvl="0" indent="0" marL="0">
                        <a:buNone/>
                      </a:pPr>
                      <a:r>
                        <a:rPr/>
                        <a:t>API Key</a:t>
                      </a:r>
                    </a:p>
                  </a:txBody>
                  <a:tcPr/>
                </a:tc>
                <a:tc>
                  <a:txBody>
                    <a:bodyPr/>
                    <a:lstStyle/>
                    <a:p>
                      <a:pPr lvl="0" indent="0" marL="0">
                        <a:buNone/>
                      </a:pPr>
                      <a:r>
                        <a:rPr/>
                        <a:t>Team Seats</a:t>
                      </a:r>
                    </a:p>
                  </a:txBody>
                  <a:tcPr/>
                </a:tc>
                <a:tc>
                  <a:txBody>
                    <a:bodyPr/>
                    <a:lstStyle/>
                    <a:p>
                      <a:pPr lvl="0" indent="0" marL="0">
                        <a:buNone/>
                      </a:pPr>
                      <a:r>
                        <a:rPr/>
                        <a:t>Price</a:t>
                      </a:r>
                    </a:p>
                  </a:txBody>
                  <a:tcPr/>
                </a:tc>
              </a:tr>
              <a:tr h="0">
                <a:tc>
                  <a:txBody>
                    <a:bodyPr/>
                    <a:lstStyle/>
                    <a:p>
                      <a:pPr lvl="0" indent="0" marL="0">
                        <a:buNone/>
                      </a:pPr>
                      <a:r>
                        <a:rPr b="1"/>
                        <a:t>Free/Demo</a:t>
                      </a:r>
                    </a:p>
                  </a:txBody>
                </a:tc>
                <a:tc>
                  <a:txBody>
                    <a:bodyPr/>
                    <a:lstStyle/>
                    <a:p>
                      <a:pPr lvl="0" indent="0" marL="0">
                        <a:buNone/>
                      </a:pPr>
                      <a:r>
                        <a:rPr/>
                        <a:t>Secrets, Score (demo only)</a:t>
                      </a:r>
                    </a:p>
                  </a:txBody>
                </a:tc>
                <a:tc>
                  <a:txBody>
                    <a:bodyPr/>
                    <a:lstStyle/>
                    <a:p>
                      <a:pPr lvl="0" indent="0" marL="0">
                        <a:buNone/>
                      </a:pPr>
                      <a:r>
                        <a:rPr/>
                        <a:t>5 total</a:t>
                      </a:r>
                    </a:p>
                  </a:txBody>
                </a:tc>
                <a:tc>
                  <a:txBody>
                    <a:bodyPr/>
                    <a:lstStyle/>
                    <a:p>
                      <a:pPr lvl="0" indent="0" marL="0">
                        <a:buNone/>
                      </a:pPr>
                      <a:r>
                        <a:rPr/>
                        <a:t>No</a:t>
                      </a:r>
                    </a:p>
                  </a:txBody>
                </a:tc>
                <a:tc>
                  <a:txBody>
                    <a:bodyPr/>
                    <a:lstStyle/>
                    <a:p>
                      <a:pPr lvl="0" indent="0" marL="0">
                        <a:buNone/>
                      </a:pPr>
                      <a:r>
                        <a:rPr/>
                        <a:t>No</a:t>
                      </a:r>
                    </a:p>
                  </a:txBody>
                </a:tc>
                <a:tc>
                  <a:txBody>
                    <a:bodyPr/>
                    <a:lstStyle/>
                    <a:p>
                      <a:pPr lvl="0" indent="0" marL="0">
                        <a:buNone/>
                      </a:pPr>
                      <a:r>
                        <a:rPr/>
                        <a:t>No</a:t>
                      </a:r>
                    </a:p>
                  </a:txBody>
                </a:tc>
                <a:tc>
                  <a:txBody>
                    <a:bodyPr/>
                    <a:lstStyle/>
                    <a:p>
                      <a:pPr lvl="0" indent="0" marL="0">
                        <a:buNone/>
                      </a:pPr>
                      <a:r>
                        <a:rPr/>
                        <a:t>Free</a:t>
                      </a:r>
                    </a:p>
                  </a:txBody>
                </a:tc>
              </a:tr>
              <a:tr h="0">
                <a:tc>
                  <a:txBody>
                    <a:bodyPr/>
                    <a:lstStyle/>
                    <a:p>
                      <a:pPr lvl="0" indent="0" marL="0">
                        <a:buNone/>
                      </a:pPr>
                      <a:r>
                        <a:rPr b="1"/>
                        <a:t>Pro</a:t>
                      </a:r>
                    </a:p>
                  </a:txBody>
                </a:tc>
                <a:tc>
                  <a:txBody>
                    <a:bodyPr/>
                    <a:lstStyle/>
                    <a:p>
                      <a:pPr lvl="0" indent="0" marL="0">
                        <a:buNone/>
                      </a:pPr>
                      <a:r>
                        <a:rPr/>
                        <a:t>All 8 modules</a:t>
                      </a:r>
                    </a:p>
                  </a:txBody>
                </a:tc>
                <a:tc>
                  <a:txBody>
                    <a:bodyPr/>
                    <a:lstStyle/>
                    <a:p>
                      <a:pPr lvl="0" indent="0" marL="0">
                        <a:buNone/>
                      </a:pPr>
                      <a:r>
                        <a:rPr/>
                        <a:t>1,000/month</a:t>
                      </a:r>
                    </a:p>
                  </a:txBody>
                </a:tc>
                <a:tc>
                  <a:txBody>
                    <a:bodyPr/>
                    <a:lstStyle/>
                    <a:p>
                      <a:pPr lvl="0" indent="0" marL="0">
                        <a:buNone/>
                      </a:pPr>
                      <a:r>
                        <a:rPr/>
                        <a:t>Yes</a:t>
                      </a:r>
                    </a:p>
                  </a:txBody>
                </a:tc>
                <a:tc>
                  <a:txBody>
                    <a:bodyPr/>
                    <a:lstStyle/>
                    <a:p>
                      <a:pPr lvl="0" indent="0" marL="0">
                        <a:buNone/>
                      </a:pPr>
                      <a:r>
                        <a:rPr/>
                        <a:t>Yes</a:t>
                      </a:r>
                    </a:p>
                  </a:txBody>
                </a:tc>
                <a:tc>
                  <a:txBody>
                    <a:bodyPr/>
                    <a:lstStyle/>
                    <a:p>
                      <a:pPr lvl="0" indent="0" marL="0">
                        <a:buNone/>
                      </a:pPr>
                      <a:r>
                        <a:rPr/>
                        <a:t>No</a:t>
                      </a:r>
                    </a:p>
                  </a:txBody>
                </a:tc>
                <a:tc>
                  <a:txBody>
                    <a:bodyPr/>
                    <a:lstStyle/>
                    <a:p>
                      <a:pPr lvl="0" indent="0" marL="0">
                        <a:buNone/>
                      </a:pPr>
                      <a:r>
                        <a:rPr/>
                        <a:t>Paid</a:t>
                      </a:r>
                    </a:p>
                  </a:txBody>
                </a:tc>
              </a:tr>
              <a:tr h="0">
                <a:tc>
                  <a:txBody>
                    <a:bodyPr/>
                    <a:lstStyle/>
                    <a:p>
                      <a:pPr lvl="0" indent="0" marL="0">
                        <a:buNone/>
                      </a:pPr>
                      <a:r>
                        <a:rPr b="1"/>
                        <a:t>Enterprise</a:t>
                      </a:r>
                    </a:p>
                  </a:txBody>
                </a:tc>
                <a:tc>
                  <a:txBody>
                    <a:bodyPr/>
                    <a:lstStyle/>
                    <a:p>
                      <a:pPr lvl="0" indent="0" marL="0">
                        <a:buNone/>
                      </a:pPr>
                      <a:r>
                        <a:rPr/>
                        <a:t>All 8 modules</a:t>
                      </a:r>
                    </a:p>
                  </a:txBody>
                </a:tc>
                <a:tc>
                  <a:txBody>
                    <a:bodyPr/>
                    <a:lstStyle/>
                    <a:p>
                      <a:pPr lvl="0" indent="0" marL="0">
                        <a:buNone/>
                      </a:pPr>
                      <a:r>
                        <a:rPr/>
                        <a:t>Unlimited</a:t>
                      </a:r>
                    </a:p>
                  </a:txBody>
                </a:tc>
                <a:tc>
                  <a:txBody>
                    <a:bodyPr/>
                    <a:lstStyle/>
                    <a:p>
                      <a:pPr lvl="0" indent="0" marL="0">
                        <a:buNone/>
                      </a:pPr>
                      <a:r>
                        <a:rPr/>
                        <a:t>Yes</a:t>
                      </a:r>
                    </a:p>
                  </a:txBody>
                </a:tc>
                <a:tc>
                  <a:txBody>
                    <a:bodyPr/>
                    <a:lstStyle/>
                    <a:p>
                      <a:pPr lvl="0" indent="0" marL="0">
                        <a:buNone/>
                      </a:pPr>
                      <a:r>
                        <a:rPr/>
                        <a:t>Yes</a:t>
                      </a:r>
                    </a:p>
                  </a:txBody>
                </a:tc>
                <a:tc>
                  <a:txBody>
                    <a:bodyPr/>
                    <a:lstStyle/>
                    <a:p>
                      <a:pPr lvl="0" indent="0" marL="0">
                        <a:buNone/>
                      </a:pPr>
                      <a:r>
                        <a:rPr/>
                        <a:t>25+ seats</a:t>
                      </a:r>
                    </a:p>
                  </a:txBody>
                </a:tc>
                <a:tc>
                  <a:txBody>
                    <a:bodyPr/>
                    <a:lstStyle/>
                    <a:p>
                      <a:pPr lvl="0" indent="0" marL="0">
                        <a:buNone/>
                      </a:pPr>
                      <a:r>
                        <a:rPr/>
                        <a:t>Paid</a:t>
                      </a:r>
                    </a:p>
                  </a:txBody>
                </a:tc>
              </a:tr>
            </a:tbl>
          </a:graphicData>
        </a:graphic>
      </p:graphicFrame>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Core Philosophy</a:t>
            </a:r>
          </a:p>
          <a:p>
            <a:pPr lvl="0"/>
            <a:r>
              <a:rPr b="1"/>
              <a:t>Zero code storage</a:t>
            </a:r>
            <a:r>
              <a:rPr/>
              <a:t> — All scans happen in memory, results returned to browser, nothing persisted on server</a:t>
            </a:r>
          </a:p>
          <a:p>
            <a:pPr lvl="0"/>
            <a:r>
              <a:rPr b="1"/>
              <a:t>Developer-first</a:t>
            </a:r>
            <a:r>
              <a:rPr/>
              <a:t> — 60-second scan workflow, no security team required</a:t>
            </a:r>
          </a:p>
          <a:p>
            <a:pPr lvl="0"/>
            <a:r>
              <a:rPr b="1"/>
              <a:t>Real data</a:t>
            </a:r>
            <a:r>
              <a:rPr/>
              <a:t> — Uses live vulnerability databases (OSV.dev), real HTTP requests for API scans</a:t>
            </a:r>
          </a:p>
          <a:p>
            <a:pPr lvl="0"/>
            <a:r>
              <a:rPr b="1"/>
              <a:t>Privacy by design</a:t>
            </a:r>
            <a:r>
              <a:rPr/>
              <a:t> — No telemetry, no code logging, no third-party data sharing</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2. Technology Stack</a:t>
            </a:r>
          </a:p>
        </p:txBody>
      </p:sp>
      <p:sp>
        <p:nvSpPr>
          <p:cNvPr id="4" name="Text Placeholder 3"/>
          <p:cNvSpPr>
            <a:spLocks noGrp="1"/>
          </p:cNvSpPr>
          <p:nvPr>
            <p:ph idx="2" sz="half" type="body"/>
          </p:nvPr>
        </p:nvSpPr>
        <p:spPr/>
        <p:txBody>
          <a:bodyPr/>
          <a:lstStyle/>
          <a:p>
            <a:pPr lvl="0" indent="0" marL="0">
              <a:spcBef>
                <a:spcPts val="3000"/>
              </a:spcBef>
              <a:buNone/>
            </a:pPr>
            <a:r>
              <a:rPr b="1"/>
              <a:t>Frontend</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806700"/>
                <a:gridCol w="2298700"/>
              </a:tblGrid>
              <a:tr h="0">
                <a:tc>
                  <a:txBody>
                    <a:bodyPr/>
                    <a:lstStyle/>
                    <a:p>
                      <a:pPr lvl="0" indent="0" marL="0">
                        <a:buNone/>
                      </a:pPr>
                      <a:r>
                        <a:rPr/>
                        <a:t>Technology</a:t>
                      </a:r>
                    </a:p>
                  </a:txBody>
                  <a:tcPr/>
                </a:tc>
                <a:tc>
                  <a:txBody>
                    <a:bodyPr/>
                    <a:lstStyle/>
                    <a:p>
                      <a:pPr lvl="0" indent="0" marL="0">
                        <a:buNone/>
                      </a:pPr>
                      <a:r>
                        <a:rPr/>
                        <a:t>Purpose</a:t>
                      </a:r>
                    </a:p>
                  </a:txBody>
                  <a:tcPr/>
                </a:tc>
              </a:tr>
              <a:tr h="0">
                <a:tc>
                  <a:txBody>
                    <a:bodyPr/>
                    <a:lstStyle/>
                    <a:p>
                      <a:pPr lvl="0" indent="0" marL="0">
                        <a:buNone/>
                      </a:pPr>
                      <a:r>
                        <a:rPr b="1"/>
                        <a:t>Next.js 16.1.6</a:t>
                      </a:r>
                      <a:r>
                        <a:rPr/>
                        <a:t> (App Router)</a:t>
                      </a:r>
                    </a:p>
                  </a:txBody>
                </a:tc>
                <a:tc>
                  <a:txBody>
                    <a:bodyPr/>
                    <a:lstStyle/>
                    <a:p>
                      <a:pPr lvl="0" indent="0" marL="0">
                        <a:buNone/>
                      </a:pPr>
                      <a:r>
                        <a:rPr/>
                        <a:t>Full-stack React framework, server components, API routes</a:t>
                      </a:r>
                    </a:p>
                  </a:txBody>
                </a:tc>
              </a:tr>
              <a:tr h="0">
                <a:tc>
                  <a:txBody>
                    <a:bodyPr/>
                    <a:lstStyle/>
                    <a:p>
                      <a:pPr lvl="0" indent="0" marL="0">
                        <a:buNone/>
                      </a:pPr>
                      <a:r>
                        <a:rPr b="1"/>
                        <a:t>TypeScript</a:t>
                      </a:r>
                    </a:p>
                  </a:txBody>
                </a:tc>
                <a:tc>
                  <a:txBody>
                    <a:bodyPr/>
                    <a:lstStyle/>
                    <a:p>
                      <a:pPr lvl="0" indent="0" marL="0">
                        <a:buNone/>
                      </a:pPr>
                      <a:r>
                        <a:rPr/>
                        <a:t>Type-safe development</a:t>
                      </a:r>
                    </a:p>
                  </a:txBody>
                </a:tc>
              </a:tr>
              <a:tr h="0">
                <a:tc>
                  <a:txBody>
                    <a:bodyPr/>
                    <a:lstStyle/>
                    <a:p>
                      <a:pPr lvl="0" indent="0" marL="0">
                        <a:buNone/>
                      </a:pPr>
                      <a:r>
                        <a:rPr b="1"/>
                        <a:t>Tailwind CSS v4</a:t>
                      </a:r>
                    </a:p>
                  </a:txBody>
                </a:tc>
                <a:tc>
                  <a:txBody>
                    <a:bodyPr/>
                    <a:lstStyle/>
                    <a:p>
                      <a:pPr lvl="0" indent="0" marL="0">
                        <a:buNone/>
                      </a:pPr>
                      <a:r>
                        <a:rPr/>
                        <a:t>Utility-first CSS framework</a:t>
                      </a:r>
                    </a:p>
                  </a:txBody>
                </a:tc>
              </a:tr>
              <a:tr h="0">
                <a:tc>
                  <a:txBody>
                    <a:bodyPr/>
                    <a:lstStyle/>
                    <a:p>
                      <a:pPr lvl="0" indent="0" marL="0">
                        <a:buNone/>
                      </a:pPr>
                      <a:r>
                        <a:rPr b="1"/>
                        <a:t>shadcn/ui</a:t>
                      </a:r>
                    </a:p>
                  </a:txBody>
                </a:tc>
                <a:tc>
                  <a:txBody>
                    <a:bodyPr/>
                    <a:lstStyle/>
                    <a:p>
                      <a:pPr lvl="0" indent="0" marL="0">
                        <a:buNone/>
                      </a:pPr>
                      <a:r>
                        <a:rPr/>
                        <a:t>Accessible component library (Card, Badge, Button, Tabs, etc.)</a:t>
                      </a:r>
                    </a:p>
                  </a:txBody>
                </a:tc>
              </a:tr>
              <a:tr h="0">
                <a:tc>
                  <a:txBody>
                    <a:bodyPr/>
                    <a:lstStyle/>
                    <a:p>
                      <a:pPr lvl="0" indent="0" marL="0">
                        <a:buNone/>
                      </a:pPr>
                      <a:r>
                        <a:rPr b="1"/>
                        <a:t>Framer Motion</a:t>
                      </a:r>
                    </a:p>
                  </a:txBody>
                </a:tc>
                <a:tc>
                  <a:txBody>
                    <a:bodyPr/>
                    <a:lstStyle/>
                    <a:p>
                      <a:pPr lvl="0" indent="0" marL="0">
                        <a:buNone/>
                      </a:pPr>
                      <a:r>
                        <a:rPr/>
                        <a:t>Animations and transitions</a:t>
                      </a:r>
                    </a:p>
                  </a:txBody>
                </a:tc>
              </a:tr>
              <a:tr h="0">
                <a:tc>
                  <a:txBody>
                    <a:bodyPr/>
                    <a:lstStyle/>
                    <a:p>
                      <a:pPr lvl="0" indent="0" marL="0">
                        <a:buNone/>
                      </a:pPr>
                      <a:r>
                        <a:rPr b="1"/>
                        <a:t>lucide-react</a:t>
                      </a:r>
                    </a:p>
                  </a:txBody>
                </a:tc>
                <a:tc>
                  <a:txBody>
                    <a:bodyPr/>
                    <a:lstStyle/>
                    <a:p>
                      <a:pPr lvl="0" indent="0" marL="0">
                        <a:buNone/>
                      </a:pPr>
                      <a:r>
                        <a:rPr/>
                        <a:t>Icon library</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Backend</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806700"/>
                <a:gridCol w="2298700"/>
              </a:tblGrid>
              <a:tr h="0">
                <a:tc>
                  <a:txBody>
                    <a:bodyPr/>
                    <a:lstStyle/>
                    <a:p>
                      <a:pPr lvl="0" indent="0" marL="0">
                        <a:buNone/>
                      </a:pPr>
                      <a:r>
                        <a:rPr/>
                        <a:t>Technology</a:t>
                      </a:r>
                    </a:p>
                  </a:txBody>
                  <a:tcPr/>
                </a:tc>
                <a:tc>
                  <a:txBody>
                    <a:bodyPr/>
                    <a:lstStyle/>
                    <a:p>
                      <a:pPr lvl="0" indent="0" marL="0">
                        <a:buNone/>
                      </a:pPr>
                      <a:r>
                        <a:rPr/>
                        <a:t>Purpose</a:t>
                      </a:r>
                    </a:p>
                  </a:txBody>
                  <a:tcPr/>
                </a:tc>
              </a:tr>
              <a:tr h="0">
                <a:tc>
                  <a:txBody>
                    <a:bodyPr/>
                    <a:lstStyle/>
                    <a:p>
                      <a:pPr lvl="0" indent="0" marL="0">
                        <a:buNone/>
                      </a:pPr>
                      <a:r>
                        <a:rPr b="1"/>
                        <a:t>Next.js API Routes</a:t>
                      </a:r>
                      <a:r>
                        <a:rPr/>
                        <a:t> (Route Handlers)</a:t>
                      </a:r>
                    </a:p>
                  </a:txBody>
                </a:tc>
                <a:tc>
                  <a:txBody>
                    <a:bodyPr/>
                    <a:lstStyle/>
                    <a:p>
                      <a:pPr lvl="0" indent="0" marL="0">
                        <a:buNone/>
                      </a:pPr>
                      <a:r>
                        <a:rPr/>
                        <a:t>REST API endpoints under </a:t>
                      </a:r>
                      <a:r>
                        <a:rPr>
                          <a:latin typeface="Courier"/>
                        </a:rPr>
                        <a:t>/api/shieldx/*</a:t>
                      </a:r>
                    </a:p>
                  </a:txBody>
                </a:tc>
              </a:tr>
              <a:tr h="0">
                <a:tc>
                  <a:txBody>
                    <a:bodyPr/>
                    <a:lstStyle/>
                    <a:p>
                      <a:pPr lvl="0" indent="0" marL="0">
                        <a:buNone/>
                      </a:pPr>
                      <a:r>
                        <a:rPr b="1"/>
                        <a:t>MongoDB / Mongoose</a:t>
                      </a:r>
                    </a:p>
                  </a:txBody>
                </a:tc>
                <a:tc>
                  <a:txBody>
                    <a:bodyPr/>
                    <a:lstStyle/>
                    <a:p>
                      <a:pPr lvl="0" indent="0" marL="0">
                        <a:buNone/>
                      </a:pPr>
                      <a:r>
                        <a:rPr/>
                        <a:t>User data, scan history, billing records, team management</a:t>
                      </a:r>
                    </a:p>
                  </a:txBody>
                </a:tc>
              </a:tr>
              <a:tr h="0">
                <a:tc>
                  <a:txBody>
                    <a:bodyPr/>
                    <a:lstStyle/>
                    <a:p>
                      <a:pPr lvl="0" indent="0" marL="0">
                        <a:buNone/>
                      </a:pPr>
                      <a:r>
                        <a:rPr b="1"/>
                        <a:t>NextAuth.js</a:t>
                      </a:r>
                      <a:r>
                        <a:rPr/>
                        <a:t> (JWT strategy)</a:t>
                      </a:r>
                    </a:p>
                  </a:txBody>
                </a:tc>
                <a:tc>
                  <a:txBody>
                    <a:bodyPr/>
                    <a:lstStyle/>
                    <a:p>
                      <a:pPr lvl="0" indent="0" marL="0">
                        <a:buNone/>
                      </a:pPr>
                      <a:r>
                        <a:rPr/>
                        <a:t>Session-based authentication with CredentialsProvider</a:t>
                      </a:r>
                    </a:p>
                  </a:txBody>
                </a:tc>
              </a:tr>
            </a:tbl>
          </a:graphicData>
        </a:graphic>
      </p:graphicFrame>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External Services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44600"/>
                <a:gridCol w="1244600"/>
                <a:gridCol w="2616200"/>
              </a:tblGrid>
              <a:tr h="0">
                <a:tc>
                  <a:txBody>
                    <a:bodyPr/>
                    <a:lstStyle/>
                    <a:p>
                      <a:pPr lvl="0" indent="0" marL="0">
                        <a:buNone/>
                      </a:pPr>
                      <a:r>
                        <a:rPr/>
                        <a:t>Service</a:t>
                      </a:r>
                    </a:p>
                  </a:txBody>
                  <a:tcPr/>
                </a:tc>
                <a:tc>
                  <a:txBody>
                    <a:bodyPr/>
                    <a:lstStyle/>
                    <a:p>
                      <a:pPr lvl="0" indent="0" marL="0">
                        <a:buNone/>
                      </a:pPr>
                      <a:r>
                        <a:rPr/>
                        <a:t>Purpose</a:t>
                      </a:r>
                    </a:p>
                  </a:txBody>
                  <a:tcPr/>
                </a:tc>
                <a:tc>
                  <a:txBody>
                    <a:bodyPr/>
                    <a:lstStyle/>
                    <a:p>
                      <a:pPr lvl="0" indent="0" marL="0">
                        <a:buNone/>
                      </a:pPr>
                      <a:r>
                        <a:rPr/>
                        <a:t>API Key Required?</a:t>
                      </a:r>
                    </a:p>
                  </a:txBody>
                  <a:tcPr/>
                </a:tc>
              </a:tr>
              <a:tr h="0">
                <a:tc>
                  <a:txBody>
                    <a:bodyPr/>
                    <a:lstStyle/>
                    <a:p>
                      <a:pPr lvl="0" indent="0" marL="0">
                        <a:buNone/>
                      </a:pPr>
                      <a:r>
                        <a:rPr b="1"/>
                        <a:t>OSV.dev API</a:t>
                      </a:r>
                    </a:p>
                  </a:txBody>
                </a:tc>
                <a:tc>
                  <a:txBody>
                    <a:bodyPr/>
                    <a:lstStyle/>
                    <a:p>
                      <a:pPr lvl="0" indent="0" marL="0">
                        <a:buNone/>
                      </a:pPr>
                      <a:r>
                        <a:rPr/>
                        <a:t>Vulnerability database queries (Google)</a:t>
                      </a:r>
                    </a:p>
                  </a:txBody>
                </a:tc>
                <a:tc>
                  <a:txBody>
                    <a:bodyPr/>
                    <a:lstStyle/>
                    <a:p>
                      <a:pPr lvl="0" indent="0" marL="0">
                        <a:buNone/>
                      </a:pPr>
                      <a:r>
                        <a:rPr/>
                        <a:t>No (free, open)</a:t>
                      </a:r>
                    </a:p>
                  </a:txBody>
                </a:tc>
              </a:tr>
              <a:tr h="0">
                <a:tc>
                  <a:txBody>
                    <a:bodyPr/>
                    <a:lstStyle/>
                    <a:p>
                      <a:pPr lvl="0" indent="0" marL="0">
                        <a:buNone/>
                      </a:pPr>
                      <a:r>
                        <a:rPr b="1"/>
                        <a:t>Razorpay</a:t>
                      </a:r>
                    </a:p>
                  </a:txBody>
                </a:tc>
                <a:tc>
                  <a:txBody>
                    <a:bodyPr/>
                    <a:lstStyle/>
                    <a:p>
                      <a:pPr lvl="0" indent="0" marL="0">
                        <a:buNone/>
                      </a:pPr>
                      <a:r>
                        <a:rPr/>
                        <a:t>Payment processing (India/global)</a:t>
                      </a:r>
                    </a:p>
                  </a:txBody>
                </a:tc>
                <a:tc>
                  <a:txBody>
                    <a:bodyPr/>
                    <a:lstStyle/>
                    <a:p>
                      <a:pPr lvl="0" indent="0" marL="0">
                        <a:buNone/>
                      </a:pPr>
                      <a:r>
                        <a:rPr/>
                        <a:t>Yes (server-side)</a:t>
                      </a:r>
                    </a:p>
                  </a:txBody>
                </a:tc>
              </a:tr>
              <a:tr h="0">
                <a:tc>
                  <a:txBody>
                    <a:bodyPr/>
                    <a:lstStyle/>
                    <a:p>
                      <a:pPr lvl="0" indent="0" marL="0">
                        <a:buNone/>
                      </a:pPr>
                      <a:r>
                        <a:rPr b="1"/>
                        <a:t>MongoDB Atlas</a:t>
                      </a:r>
                    </a:p>
                  </a:txBody>
                </a:tc>
                <a:tc>
                  <a:txBody>
                    <a:bodyPr/>
                    <a:lstStyle/>
                    <a:p>
                      <a:pPr lvl="0" indent="0" marL="0">
                        <a:buNone/>
                      </a:pPr>
                      <a:r>
                        <a:rPr/>
                        <a:t>Database hosting</a:t>
                      </a:r>
                    </a:p>
                  </a:txBody>
                </a:tc>
                <a:tc>
                  <a:txBody>
                    <a:bodyPr/>
                    <a:lstStyle/>
                    <a:p>
                      <a:pPr lvl="0" indent="0" marL="0">
                        <a:buNone/>
                      </a:pPr>
                      <a:r>
                        <a:rPr/>
                        <a:t>Yes (connection string)</a:t>
                      </a:r>
                    </a:p>
                  </a:txBody>
                </a:tc>
              </a:tr>
              <a:tr h="0">
                <a:tc>
                  <a:txBody>
                    <a:bodyPr/>
                    <a:lstStyle/>
                    <a:p>
                      <a:pPr lvl="0" indent="0" marL="0">
                        <a:buNone/>
                      </a:pPr>
                      <a:r>
                        <a:rPr b="1"/>
                        <a:t>Vercel</a:t>
                      </a:r>
                    </a:p>
                  </a:txBody>
                </a:tc>
                <a:tc>
                  <a:txBody>
                    <a:bodyPr/>
                    <a:lstStyle/>
                    <a:p>
                      <a:pPr lvl="0" indent="0" marL="0">
                        <a:buNone/>
                      </a:pPr>
                      <a:r>
                        <a:rPr/>
                        <a:t>Hosting &amp; deployment</a:t>
                      </a:r>
                    </a:p>
                  </a:txBody>
                </a:tc>
                <a:tc>
                  <a:txBody>
                    <a:bodyPr/>
                    <a:lstStyle/>
                    <a:p>
                      <a:pPr lvl="0" indent="0" marL="0">
                        <a:buNone/>
                      </a:pPr>
                      <a:r>
                        <a:rPr/>
                        <a:t>Automatic via Git</a:t>
                      </a:r>
                    </a:p>
                  </a:txBody>
                </a:tc>
              </a:tr>
            </a:tbl>
          </a:graphicData>
        </a:graphic>
      </p:graphicFrame>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3. Architecture Diagram</a:t>
            </a:r>
          </a:p>
        </p:txBody>
      </p:sp>
      <p:sp>
        <p:nvSpPr>
          <p:cNvPr id="3" name="Content Placeholder 2"/>
          <p:cNvSpPr>
            <a:spLocks noGrp="1"/>
          </p:cNvSpPr>
          <p:nvPr>
            <p:ph idx="1"/>
          </p:nvPr>
        </p:nvSpPr>
        <p:spPr/>
        <p:txBody>
          <a:bodyPr/>
          <a:lstStyle/>
          <a:p>
            <a:pPr lvl="0" indent="0">
              <a:buNone/>
            </a:pPr>
            <a:r>
              <a:rPr>
                <a:latin typeface="Courier"/>
              </a:rPr>
              <a:t>┌─────────────────────────────────────────────────────────────────┐
│                        CLIENT (Browser)                         │
│                                                                 │
│  ShieldX Workspace (/shieldx)                                   │
│  ├── Module Cards (8 modules)                                   │
│  ├── Scan Input Panel (textarea / URL input)                    │
│  ├── Results Display (findings, scores, charts)                 │
│  ├── History Tab (Pro+)                                         │
│  └── Overview Tab (plan info, stats, admin controls)            │
└─────────────────────┬───────────────────────────────────────────┘
                      │ HTTPS (fetch API)
                      ▼
┌─────────────────────────────────────────────────────────────────┐
│                    NEXT.JS API ROUTES                            │
│                    (Serverless Functions)                        │
│                                                                 │
│  Scan Endpoints:                                                │
│  ├── POST /api/shieldx/scan-secrets    (Secrets Scanner)        │
│  ├── POST /api/shieldx/scan-deps       (Dependency Scanner)     │
│  ├── POST /api/shieldx/scan-api        (API Security Scanner)   │
│  ├── POST /api/shieldx/scan-cloud      (Cloud Security Audit)   │
│  └── POST /api/shieldx/ci-scan         (CI/CD Pipeline Gate)    │
│                                                                 │
│  Management Endpoints:                                          │
│  ├── GET  /api/shieldx/history          (Scan History)          │
│  ├── POST /api/shieldx/api-key          (Generate API Key)      │
│  ├── POST /api/shieldx/alerts           (Alert Config)          │
│  ├── POST /api/shieldx/alerts/test      (Test Alert)            │
│  ├── POST /api/shieldx/team             (Team Management)       │
│  ├── POST /api/shieldx/upgrade-plan     (Admin Plan Change)     │
│  └── POST /api/shieldx/demo-signup      (Demo Registration)     │
│                                                                 │
│  Billing Endpoints:                                             │
│  ├── POST /api/shieldx/billing/checkout     (Create Order)      │
│  ├── GET  /api/shieldx/billing/subscription (Get Plan Status)   │
│  ├── POST /api/shieldx/billing/cancel       (Cancel Sub)        │
│  └── POST /api/shieldx/billing/webhook      (Razorpay Webhook)  │
│                                                                 │
│  Auth Layer:                                                    │
│  ├── lib/shieldx-access.ts      (Session → User + Plan)        │
│  ├── lib/shieldx-route-auth.ts  (Route-level auth + RBAC)      │
│  └── lib/feature-flags.ts       (Plan → Feature mapping)       │
└────────────┬────────────────┬───────────────────────────────────┘
             │                │
     ┌───────▼───────┐  ┌────▼──────────────┐
     │   MongoDB     │  │  External APIs    │
     │   Atlas       │  │                   │
     │               │  │  ├── OSV.dev      │
     │  Collections: │  │  │   (CVE data)   │
     │  ├── users    │  │  │                │
     │  ├── scans    │  │  ├── Target URLs  │
     │  ├── alerts   │  │  │   (API scan)   │
     │  ├── teams    │  │  │                │
     │  └── billing  │  │  └── Razorpay     │
     └───────────────┘  │      (billing)    │
                        └───────────────────┘</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4. Module Architecture</a:t>
            </a:r>
          </a:p>
        </p:txBody>
      </p:sp>
      <p:sp>
        <p:nvSpPr>
          <p:cNvPr id="3" name="Content Placeholder 2"/>
          <p:cNvSpPr>
            <a:spLocks noGrp="1"/>
          </p:cNvSpPr>
          <p:nvPr>
            <p:ph idx="1"/>
          </p:nvPr>
        </p:nvSpPr>
        <p:spPr/>
        <p:txBody>
          <a:bodyPr/>
          <a:lstStyle/>
          <a:p>
            <a:pPr lvl="0" indent="0" marL="0">
              <a:spcBef>
                <a:spcPts val="3000"/>
              </a:spcBef>
              <a:buNone/>
            </a:pPr>
            <a:r>
              <a:rPr b="1"/>
              <a:t>4.1 Secrets Scanner</a:t>
            </a:r>
          </a:p>
          <a:p>
            <a:pPr lvl="0" indent="0" marL="0">
              <a:buNone/>
            </a:pPr>
            <a:r>
              <a:rPr b="1"/>
              <a:t>API Endpoint:</a:t>
            </a:r>
            <a:r>
              <a:rPr/>
              <a:t> </a:t>
            </a:r>
            <a:r>
              <a:rPr>
                <a:latin typeface="Courier"/>
              </a:rPr>
              <a:t>POST /api/shieldx/scan-secrets</a:t>
            </a:r>
            <a:br/>
            <a:r>
              <a:rPr b="1"/>
              <a:t>File:</a:t>
            </a:r>
            <a:r>
              <a:rPr/>
              <a:t> </a:t>
            </a:r>
            <a:r>
              <a:rPr>
                <a:latin typeface="Courier"/>
              </a:rPr>
              <a:t>app/api/shieldx/scan-secrets/route.ts</a:t>
            </a:r>
            <a:br/>
            <a:r>
              <a:rPr b="1"/>
              <a:t>Plan Access:</a:t>
            </a:r>
            <a:r>
              <a:rPr/>
              <a:t> Free (limited), Pro, Enterprise</a:t>
            </a:r>
            <a:br/>
            <a:r>
              <a:rPr b="1"/>
              <a:t>External APIs:</a:t>
            </a:r>
            <a:r>
              <a:rPr/>
              <a:t> None (fully local)</a:t>
            </a:r>
          </a:p>
          <a:p>
            <a:pPr lvl="0" indent="0" marL="0">
              <a:spcBef>
                <a:spcPts val="3000"/>
              </a:spcBef>
              <a:buNone/>
            </a:pPr>
            <a:r>
              <a:rPr b="1"/>
              <a:t>How It Works</a:t>
            </a:r>
          </a:p>
          <a:p>
            <a:pPr lvl="0" indent="-342900" marL="342900">
              <a:buAutoNum type="arabicPeriod"/>
            </a:pPr>
            <a:r>
              <a:rPr b="1"/>
              <a:t>Input:</a:t>
            </a:r>
            <a:r>
              <a:rPr/>
              <a:t> User pastes source code, config files, or .env content into the textarea</a:t>
            </a:r>
          </a:p>
          <a:p>
            <a:pPr lvl="0" indent="-342900" marL="342900">
              <a:buAutoNum type="arabicPeriod"/>
            </a:pPr>
            <a:r>
              <a:rPr b="1"/>
              <a:t>Pattern Matching:</a:t>
            </a:r>
            <a:r>
              <a:rPr/>
              <a:t> Code is scanned against 20+ regex patterns:</a:t>
            </a:r>
          </a:p>
          <a:p>
            <a:pPr lvl="1"/>
            <a:r>
              <a:rPr/>
              <a:t>AWS Access Keys (</a:t>
            </a:r>
            <a:r>
              <a:rPr>
                <a:latin typeface="Courier"/>
              </a:rPr>
              <a:t>AKIA[0-9A-Z]{16}</a:t>
            </a:r>
            <a:r>
              <a:rPr/>
              <a:t>)</a:t>
            </a:r>
          </a:p>
          <a:p>
            <a:pPr lvl="1"/>
            <a:r>
              <a:rPr/>
              <a:t>GitHub Tokens (</a:t>
            </a:r>
            <a:r>
              <a:rPr>
                <a:latin typeface="Courier"/>
              </a:rPr>
              <a:t>ghp_</a:t>
            </a:r>
            <a:r>
              <a:rPr/>
              <a:t>, </a:t>
            </a:r>
            <a:r>
              <a:rPr>
                <a:latin typeface="Courier"/>
              </a:rPr>
              <a:t>gho_</a:t>
            </a:r>
            <a:r>
              <a:rPr/>
              <a:t>, </a:t>
            </a:r>
            <a:r>
              <a:rPr>
                <a:latin typeface="Courier"/>
              </a:rPr>
              <a:t>ghu_</a:t>
            </a:r>
            <a:r>
              <a:rPr/>
              <a:t>, </a:t>
            </a:r>
            <a:r>
              <a:rPr>
                <a:latin typeface="Courier"/>
              </a:rPr>
              <a:t>ghs_</a:t>
            </a:r>
            <a:r>
              <a:rPr/>
              <a:t>, </a:t>
            </a:r>
            <a:r>
              <a:rPr>
                <a:latin typeface="Courier"/>
              </a:rPr>
              <a:t>ghr_</a:t>
            </a:r>
            <a:r>
              <a:rPr/>
              <a:t>, </a:t>
            </a:r>
            <a:r>
              <a:rPr>
                <a:latin typeface="Courier"/>
              </a:rPr>
              <a:t>github_pat_</a:t>
            </a:r>
            <a:r>
              <a:rPr/>
              <a:t>)</a:t>
            </a:r>
          </a:p>
          <a:p>
            <a:pPr lvl="1"/>
            <a:r>
              <a:rPr/>
              <a:t>Stripe Keys (</a:t>
            </a:r>
            <a:r>
              <a:rPr>
                <a:latin typeface="Courier"/>
              </a:rPr>
              <a:t>sk_live_</a:t>
            </a:r>
            <a:r>
              <a:rPr/>
              <a:t>, </a:t>
            </a:r>
            <a:r>
              <a:rPr>
                <a:latin typeface="Courier"/>
              </a:rPr>
              <a:t>pk_live_</a:t>
            </a:r>
            <a:r>
              <a:rPr/>
              <a:t>)</a:t>
            </a:r>
          </a:p>
          <a:p>
            <a:pPr lvl="1"/>
            <a:r>
              <a:rPr/>
              <a:t>Slack Tokens (</a:t>
            </a:r>
            <a:r>
              <a:rPr>
                <a:latin typeface="Courier"/>
              </a:rPr>
              <a:t>xox[bpors]-</a:t>
            </a:r>
            <a:r>
              <a:rPr/>
              <a:t>)</a:t>
            </a:r>
          </a:p>
          <a:p>
            <a:pPr lvl="1"/>
            <a:r>
              <a:rPr/>
              <a:t>Google API Keys (</a:t>
            </a:r>
            <a:r>
              <a:rPr>
                <a:latin typeface="Courier"/>
              </a:rPr>
              <a:t>AIza[A-Za-z0-9_-]{35}</a:t>
            </a:r>
            <a:r>
              <a:rPr/>
              <a:t>)</a:t>
            </a:r>
          </a:p>
          <a:p>
            <a:pPr lvl="1"/>
            <a:r>
              <a:rPr/>
              <a:t>Private Keys (</a:t>
            </a:r>
            <a:r>
              <a:rPr>
                <a:latin typeface="Courier"/>
              </a:rPr>
              <a:t>-----BEGIN ... PRIVATE KEY-----</a:t>
            </a:r>
            <a:r>
              <a:rPr/>
              <a:t>)</a:t>
            </a:r>
          </a:p>
          <a:p>
            <a:pPr lvl="1"/>
            <a:r>
              <a:rPr/>
              <a:t>Database Connection Strings (</a:t>
            </a:r>
            <a:r>
              <a:rPr>
                <a:latin typeface="Courier"/>
              </a:rPr>
              <a:t>mongodb://</a:t>
            </a:r>
            <a:r>
              <a:rPr/>
              <a:t>, </a:t>
            </a:r>
            <a:r>
              <a:rPr>
                <a:latin typeface="Courier"/>
              </a:rPr>
              <a:t>postgres://</a:t>
            </a:r>
            <a:r>
              <a:rPr/>
              <a:t>)</a:t>
            </a:r>
          </a:p>
          <a:p>
            <a:pPr lvl="1"/>
            <a:r>
              <a:rPr/>
              <a:t>JWT/Bearer Tokens</a:t>
            </a:r>
          </a:p>
          <a:p>
            <a:pPr lvl="1"/>
            <a:r>
              <a:rPr/>
              <a:t>SendGrid, Twilio, Mailgun, npm, Docker tokens</a:t>
            </a:r>
          </a:p>
          <a:p>
            <a:pPr lvl="1"/>
            <a:r>
              <a:rPr/>
              <a:t>Generic password/API key patterns</a:t>
            </a:r>
          </a:p>
          <a:p>
            <a:pPr lvl="1"/>
            <a:r>
              <a:rPr/>
              <a:t>Internal IP addresses</a:t>
            </a:r>
          </a:p>
          <a:p>
            <a:pPr lvl="0" indent="-342900" marL="342900">
              <a:buAutoNum type="arabicPeriod"/>
            </a:pPr>
            <a:r>
              <a:rPr b="1"/>
              <a:t>Entropy Analysis:</a:t>
            </a:r>
            <a:r>
              <a:rPr/>
              <a:t> Shannon entropy is calculated for each match. Low-entropy generic patterns (&lt; 3.0 bits) are filtered out to reduce false positives</a:t>
            </a:r>
          </a:p>
          <a:p>
            <a:pPr lvl="0" indent="-342900" marL="342900">
              <a:buAutoNum type="arabicPeriod"/>
            </a:pPr>
            <a:r>
              <a:rPr b="1"/>
              <a:t>Placeholder Filtering:</a:t>
            </a:r>
            <a:r>
              <a:rPr/>
              <a:t> Common test values (</a:t>
            </a:r>
            <a:r>
              <a:rPr>
                <a:latin typeface="Courier"/>
              </a:rPr>
              <a:t>test_</a:t>
            </a:r>
            <a:r>
              <a:rPr/>
              <a:t>, </a:t>
            </a:r>
            <a:r>
              <a:rPr>
                <a:latin typeface="Courier"/>
              </a:rPr>
              <a:t>example_</a:t>
            </a:r>
            <a:r>
              <a:rPr/>
              <a:t>, </a:t>
            </a:r>
            <a:r>
              <a:rPr>
                <a:latin typeface="Courier"/>
              </a:rPr>
              <a:t>changeme</a:t>
            </a:r>
            <a:r>
              <a:rPr/>
              <a:t>, etc.) are auto-excluded</a:t>
            </a:r>
          </a:p>
          <a:p>
            <a:pPr lvl="0" indent="-342900" marL="342900">
              <a:buAutoNum type="arabicPeriod"/>
            </a:pPr>
            <a:r>
              <a:rPr b="1"/>
              <a:t>Output:</a:t>
            </a:r>
            <a:r>
              <a:rPr/>
              <a:t> Findings sorted by confidence (High → Medium → Low) with:</a:t>
            </a:r>
          </a:p>
          <a:p>
            <a:pPr lvl="1"/>
            <a:r>
              <a:rPr/>
              <a:t>Pattern name and matched line/column</a:t>
            </a:r>
          </a:p>
          <a:p>
            <a:pPr lvl="1"/>
            <a:r>
              <a:rPr/>
              <a:t>Masked preview of the secret</a:t>
            </a:r>
          </a:p>
          <a:p>
            <a:pPr lvl="1"/>
            <a:r>
              <a:rPr/>
              <a:t>Entropy score</a:t>
            </a:r>
          </a:p>
          <a:p>
            <a:pPr lvl="1"/>
            <a:r>
              <a:rPr/>
              <a:t>Specific remediation guidance</a:t>
            </a:r>
          </a:p>
          <a:p>
            <a:pPr lvl="0" indent="0" marL="0">
              <a:spcBef>
                <a:spcPts val="3000"/>
              </a:spcBef>
              <a:buNone/>
            </a:pPr>
            <a:r>
              <a:rPr b="1"/>
              <a:t>Request/Response</a:t>
            </a:r>
          </a:p>
          <a:p>
            <a:pPr lvl="0" indent="0">
              <a:buNone/>
            </a:pPr>
            <a:r>
              <a:rPr i="1">
                <a:solidFill>
                  <a:srgbClr val="60A0B0"/>
                </a:solidFill>
                <a:latin typeface="Courier"/>
              </a:rPr>
              <a:t>// Request</a:t>
            </a:r>
            <a:br/>
            <a:r>
              <a:rPr>
                <a:latin typeface="Courier"/>
              </a:rPr>
              <a:t>POST </a:t>
            </a:r>
            <a:r>
              <a:rPr>
                <a:solidFill>
                  <a:srgbClr val="666666"/>
                </a:solidFill>
                <a:latin typeface="Courier"/>
              </a:rPr>
              <a:t>/</a:t>
            </a:r>
            <a:r>
              <a:rPr>
                <a:latin typeface="Courier"/>
              </a:rPr>
              <a:t>api</a:t>
            </a:r>
            <a:r>
              <a:rPr>
                <a:solidFill>
                  <a:srgbClr val="666666"/>
                </a:solidFill>
                <a:latin typeface="Courier"/>
              </a:rPr>
              <a:t>/</a:t>
            </a:r>
            <a:r>
              <a:rPr>
                <a:latin typeface="Courier"/>
              </a:rPr>
              <a:t>shieldx</a:t>
            </a:r>
            <a:r>
              <a:rPr>
                <a:solidFill>
                  <a:srgbClr val="666666"/>
                </a:solidFill>
                <a:latin typeface="Courier"/>
              </a:rPr>
              <a:t>/</a:t>
            </a:r>
            <a:r>
              <a:rPr>
                <a:latin typeface="Courier"/>
              </a:rPr>
              <a:t>scan</a:t>
            </a:r>
            <a:r>
              <a:rPr>
                <a:solidFill>
                  <a:srgbClr val="666666"/>
                </a:solidFill>
                <a:latin typeface="Courier"/>
              </a:rPr>
              <a:t>-</a:t>
            </a:r>
            <a:r>
              <a:rPr>
                <a:latin typeface="Courier"/>
              </a:rPr>
              <a:t>secrets</a:t>
            </a:r>
            <a:br/>
            <a:r>
              <a:rPr>
                <a:latin typeface="Courier"/>
              </a:rPr>
              <a:t>{</a:t>
            </a:r>
            <a:br/>
            <a:r>
              <a:rPr>
                <a:latin typeface="Courier"/>
              </a:rPr>
              <a:t>  </a:t>
            </a:r>
            <a:r>
              <a:rPr>
                <a:solidFill>
                  <a:srgbClr val="4070A0"/>
                </a:solidFill>
                <a:latin typeface="Courier"/>
              </a:rPr>
              <a:t>"code"</a:t>
            </a:r>
            <a:r>
              <a:rPr>
                <a:solidFill>
                  <a:srgbClr val="666666"/>
                </a:solidFill>
                <a:latin typeface="Courier"/>
              </a:rPr>
              <a:t>:</a:t>
            </a:r>
            <a:r>
              <a:rPr>
                <a:latin typeface="Courier"/>
              </a:rPr>
              <a:t> </a:t>
            </a:r>
            <a:r>
              <a:rPr>
                <a:solidFill>
                  <a:srgbClr val="4070A0"/>
                </a:solidFill>
                <a:latin typeface="Courier"/>
              </a:rPr>
              <a:t>"AWS_ACCESS_KEY_ID=AKIAIOSFODNN7EXAMPLE\n..."</a:t>
            </a:r>
            <a:r>
              <a:rPr>
                <a:solidFill>
                  <a:srgbClr val="666666"/>
                </a:solidFill>
                <a:latin typeface="Courier"/>
              </a:rPr>
              <a:t>,</a:t>
            </a:r>
            <a:br/>
            <a:r>
              <a:rPr>
                <a:latin typeface="Courier"/>
              </a:rPr>
              <a:t>  </a:t>
            </a:r>
            <a:r>
              <a:rPr i="1">
                <a:solidFill>
                  <a:srgbClr val="60A0B0"/>
                </a:solidFill>
                <a:latin typeface="Courier"/>
              </a:rPr>
              <a:t>// OR for demo mode:</a:t>
            </a:r>
            <a:br/>
            <a:r>
              <a:rPr>
                <a:latin typeface="Courier"/>
              </a:rPr>
              <a:t>  </a:t>
            </a:r>
            <a:r>
              <a:rPr>
                <a:solidFill>
                  <a:srgbClr val="4070A0"/>
                </a:solidFill>
                <a:latin typeface="Courier"/>
              </a:rPr>
              <a:t>"demo"</a:t>
            </a:r>
            <a:r>
              <a:rPr>
                <a:solidFill>
                  <a:srgbClr val="666666"/>
                </a:solidFill>
                <a:latin typeface="Courier"/>
              </a:rPr>
              <a:t>:</a:t>
            </a:r>
            <a:r>
              <a:rPr>
                <a:latin typeface="Courier"/>
              </a:rPr>
              <a:t> </a:t>
            </a:r>
            <a:r>
              <a:rPr b="1">
                <a:solidFill>
                  <a:srgbClr val="007020"/>
                </a:solidFill>
                <a:latin typeface="Courier"/>
              </a:rPr>
              <a:t>true</a:t>
            </a:r>
            <a:br/>
            <a:r>
              <a:rPr>
                <a:latin typeface="Courier"/>
              </a:rPr>
              <a:t>}</a:t>
            </a:r>
            <a:br/>
            <a:br/>
            <a:r>
              <a:rPr i="1">
                <a:solidFill>
                  <a:srgbClr val="60A0B0"/>
                </a:solidFill>
                <a:latin typeface="Courier"/>
              </a:rPr>
              <a:t>// Response</a:t>
            </a:r>
            <a:br/>
            <a:r>
              <a:rPr>
                <a:latin typeface="Courier"/>
              </a:rPr>
              <a:t>{</a:t>
            </a:r>
            <a:br/>
            <a:r>
              <a:rPr>
                <a:latin typeface="Courier"/>
              </a:rPr>
              <a:t>  </a:t>
            </a:r>
            <a:r>
              <a:rPr>
                <a:solidFill>
                  <a:srgbClr val="4070A0"/>
                </a:solidFill>
                <a:latin typeface="Courier"/>
              </a:rPr>
              <a:t>"mode"</a:t>
            </a:r>
            <a:r>
              <a:rPr>
                <a:solidFill>
                  <a:srgbClr val="666666"/>
                </a:solidFill>
                <a:latin typeface="Courier"/>
              </a:rPr>
              <a:t>:</a:t>
            </a:r>
            <a:r>
              <a:rPr>
                <a:latin typeface="Courier"/>
              </a:rPr>
              <a:t> </a:t>
            </a:r>
            <a:r>
              <a:rPr>
                <a:solidFill>
                  <a:srgbClr val="4070A0"/>
                </a:solidFill>
                <a:latin typeface="Courier"/>
              </a:rPr>
              <a:t>"paid"</a:t>
            </a:r>
            <a:r>
              <a:rPr>
                <a:latin typeface="Courier"/>
              </a:rPr>
              <a:t> </a:t>
            </a:r>
            <a:r>
              <a:rPr>
                <a:solidFill>
                  <a:srgbClr val="666666"/>
                </a:solidFill>
                <a:latin typeface="Courier"/>
              </a:rPr>
              <a:t>|</a:t>
            </a:r>
            <a:r>
              <a:rPr>
                <a:latin typeface="Courier"/>
              </a:rPr>
              <a:t> </a:t>
            </a:r>
            <a:r>
              <a:rPr>
                <a:solidFill>
                  <a:srgbClr val="4070A0"/>
                </a:solidFill>
                <a:latin typeface="Courier"/>
              </a:rPr>
              <a:t>"demo"</a:t>
            </a:r>
            <a:r>
              <a:rPr>
                <a:latin typeface="Courier"/>
              </a:rPr>
              <a:t> </a:t>
            </a:r>
            <a:r>
              <a:rPr>
                <a:solidFill>
                  <a:srgbClr val="666666"/>
                </a:solidFill>
                <a:latin typeface="Courier"/>
              </a:rPr>
              <a:t>|</a:t>
            </a:r>
            <a:r>
              <a:rPr>
                <a:latin typeface="Courier"/>
              </a:rPr>
              <a:t> </a:t>
            </a:r>
            <a:r>
              <a:rPr>
                <a:solidFill>
                  <a:srgbClr val="4070A0"/>
                </a:solidFill>
                <a:latin typeface="Courier"/>
              </a:rPr>
              <a:t>"free"</a:t>
            </a:r>
            <a:r>
              <a:rPr>
                <a:solidFill>
                  <a:srgbClr val="666666"/>
                </a:solidFill>
                <a:latin typeface="Courier"/>
              </a:rPr>
              <a:t>,</a:t>
            </a:r>
            <a:br/>
            <a:r>
              <a:rPr>
                <a:latin typeface="Courier"/>
              </a:rPr>
              <a:t>  </a:t>
            </a:r>
            <a:r>
              <a:rPr>
                <a:solidFill>
                  <a:srgbClr val="4070A0"/>
                </a:solidFill>
                <a:latin typeface="Courier"/>
              </a:rPr>
              <a:t>"totalLines"</a:t>
            </a:r>
            <a:r>
              <a:rPr>
                <a:solidFill>
                  <a:srgbClr val="666666"/>
                </a:solidFill>
                <a:latin typeface="Courier"/>
              </a:rPr>
              <a:t>:</a:t>
            </a:r>
            <a:r>
              <a:rPr>
                <a:latin typeface="Courier"/>
              </a:rPr>
              <a:t> </a:t>
            </a:r>
            <a:r>
              <a:rPr>
                <a:solidFill>
                  <a:srgbClr val="40A070"/>
                </a:solidFill>
                <a:latin typeface="Courier"/>
              </a:rPr>
              <a:t>15</a:t>
            </a:r>
            <a:r>
              <a:rPr>
                <a:solidFill>
                  <a:srgbClr val="666666"/>
                </a:solidFill>
                <a:latin typeface="Courier"/>
              </a:rPr>
              <a:t>,</a:t>
            </a:r>
            <a:br/>
            <a:r>
              <a:rPr>
                <a:latin typeface="Courier"/>
              </a:rPr>
              <a:t>  </a:t>
            </a:r>
            <a:r>
              <a:rPr>
                <a:solidFill>
                  <a:srgbClr val="4070A0"/>
                </a:solidFill>
                <a:latin typeface="Courier"/>
              </a:rPr>
              <a:t>"findings"</a:t>
            </a:r>
            <a:r>
              <a:rPr>
                <a:solidFill>
                  <a:srgbClr val="666666"/>
                </a:solidFill>
                <a:latin typeface="Courier"/>
              </a:rPr>
              <a:t>:</a:t>
            </a:r>
            <a:r>
              <a:rPr>
                <a:latin typeface="Courier"/>
              </a:rPr>
              <a:t> [</a:t>
            </a:r>
            <a:br/>
            <a:r>
              <a:rPr>
                <a:latin typeface="Courier"/>
              </a:rPr>
              <a:t>    {</a:t>
            </a:r>
            <a:br/>
            <a:r>
              <a:rPr>
                <a:latin typeface="Courier"/>
              </a:rPr>
              <a:t>      </a:t>
            </a:r>
            <a:r>
              <a:rPr>
                <a:solidFill>
                  <a:srgbClr val="4070A0"/>
                </a:solidFill>
                <a:latin typeface="Courier"/>
              </a:rPr>
              <a:t>"id"</a:t>
            </a:r>
            <a:r>
              <a:rPr>
                <a:solidFill>
                  <a:srgbClr val="666666"/>
                </a:solidFill>
                <a:latin typeface="Courier"/>
              </a:rPr>
              <a:t>:</a:t>
            </a:r>
            <a:r>
              <a:rPr>
                <a:latin typeface="Courier"/>
              </a:rPr>
              <a:t> </a:t>
            </a:r>
            <a:r>
              <a:rPr>
                <a:solidFill>
                  <a:srgbClr val="4070A0"/>
                </a:solidFill>
                <a:latin typeface="Courier"/>
              </a:rPr>
              <a:t>"aws-access-key"</a:t>
            </a:r>
            <a:r>
              <a:rPr>
                <a:solidFill>
                  <a:srgbClr val="666666"/>
                </a:solidFill>
                <a:latin typeface="Courier"/>
              </a:rPr>
              <a:t>,</a:t>
            </a:r>
            <a:br/>
            <a:r>
              <a:rPr>
                <a:latin typeface="Courier"/>
              </a:rPr>
              <a:t>      </a:t>
            </a:r>
            <a:r>
              <a:rPr>
                <a:solidFill>
                  <a:srgbClr val="4070A0"/>
                </a:solidFill>
                <a:latin typeface="Courier"/>
              </a:rPr>
              <a:t>"name"</a:t>
            </a:r>
            <a:r>
              <a:rPr>
                <a:solidFill>
                  <a:srgbClr val="666666"/>
                </a:solidFill>
                <a:latin typeface="Courier"/>
              </a:rPr>
              <a:t>:</a:t>
            </a:r>
            <a:r>
              <a:rPr>
                <a:latin typeface="Courier"/>
              </a:rPr>
              <a:t> </a:t>
            </a:r>
            <a:r>
              <a:rPr>
                <a:solidFill>
                  <a:srgbClr val="4070A0"/>
                </a:solidFill>
                <a:latin typeface="Courier"/>
              </a:rPr>
              <a:t>"AWS Access Key ID"</a:t>
            </a:r>
            <a:r>
              <a:rPr>
                <a:solidFill>
                  <a:srgbClr val="666666"/>
                </a:solidFill>
                <a:latin typeface="Courier"/>
              </a:rPr>
              <a:t>,</a:t>
            </a:r>
            <a:br/>
            <a:r>
              <a:rPr>
                <a:latin typeface="Courier"/>
              </a:rPr>
              <a:t>      </a:t>
            </a:r>
            <a:r>
              <a:rPr>
                <a:solidFill>
                  <a:srgbClr val="4070A0"/>
                </a:solidFill>
                <a:latin typeface="Courier"/>
              </a:rPr>
              <a:t>"confidence"</a:t>
            </a:r>
            <a:r>
              <a:rPr>
                <a:solidFill>
                  <a:srgbClr val="666666"/>
                </a:solidFill>
                <a:latin typeface="Courier"/>
              </a:rPr>
              <a:t>:</a:t>
            </a:r>
            <a:r>
              <a:rPr>
                <a:latin typeface="Courier"/>
              </a:rPr>
              <a:t> </a:t>
            </a:r>
            <a:r>
              <a:rPr>
                <a:solidFill>
                  <a:srgbClr val="4070A0"/>
                </a:solidFill>
                <a:latin typeface="Courier"/>
              </a:rPr>
              <a:t>"high"</a:t>
            </a:r>
            <a:r>
              <a:rPr>
                <a:solidFill>
                  <a:srgbClr val="666666"/>
                </a:solidFill>
                <a:latin typeface="Courier"/>
              </a:rPr>
              <a:t>,</a:t>
            </a:r>
            <a:br/>
            <a:r>
              <a:rPr>
                <a:latin typeface="Courier"/>
              </a:rPr>
              <a:t>      </a:t>
            </a:r>
            <a:r>
              <a:rPr>
                <a:solidFill>
                  <a:srgbClr val="4070A0"/>
                </a:solidFill>
                <a:latin typeface="Courier"/>
              </a:rPr>
              <a:t>"line"</a:t>
            </a:r>
            <a:r>
              <a:rPr>
                <a:solidFill>
                  <a:srgbClr val="666666"/>
                </a:solidFill>
                <a:latin typeface="Courier"/>
              </a:rPr>
              <a:t>:</a:t>
            </a:r>
            <a:r>
              <a:rPr>
                <a:latin typeface="Courier"/>
              </a:rPr>
              <a:t> </a:t>
            </a:r>
            <a:r>
              <a:rPr>
                <a:solidFill>
                  <a:srgbClr val="40A070"/>
                </a:solidFill>
                <a:latin typeface="Courier"/>
              </a:rPr>
              <a:t>2</a:t>
            </a:r>
            <a:r>
              <a:rPr>
                <a:solidFill>
                  <a:srgbClr val="666666"/>
                </a:solidFill>
                <a:latin typeface="Courier"/>
              </a:rPr>
              <a:t>,</a:t>
            </a:r>
            <a:br/>
            <a:r>
              <a:rPr>
                <a:latin typeface="Courier"/>
              </a:rPr>
              <a:t>      </a:t>
            </a:r>
            <a:r>
              <a:rPr>
                <a:solidFill>
                  <a:srgbClr val="4070A0"/>
                </a:solidFill>
                <a:latin typeface="Courier"/>
              </a:rPr>
              <a:t>"column"</a:t>
            </a:r>
            <a:r>
              <a:rPr>
                <a:solidFill>
                  <a:srgbClr val="666666"/>
                </a:solidFill>
                <a:latin typeface="Courier"/>
              </a:rPr>
              <a:t>:</a:t>
            </a:r>
            <a:r>
              <a:rPr>
                <a:latin typeface="Courier"/>
              </a:rPr>
              <a:t> </a:t>
            </a:r>
            <a:r>
              <a:rPr>
                <a:solidFill>
                  <a:srgbClr val="40A070"/>
                </a:solidFill>
                <a:latin typeface="Courier"/>
              </a:rPr>
              <a:t>19</a:t>
            </a:r>
            <a:r>
              <a:rPr>
                <a:solidFill>
                  <a:srgbClr val="666666"/>
                </a:solidFill>
                <a:latin typeface="Courier"/>
              </a:rPr>
              <a:t>,</a:t>
            </a:r>
            <a:br/>
            <a:r>
              <a:rPr>
                <a:latin typeface="Courier"/>
              </a:rPr>
              <a:t>      </a:t>
            </a:r>
            <a:r>
              <a:rPr>
                <a:solidFill>
                  <a:srgbClr val="4070A0"/>
                </a:solidFill>
                <a:latin typeface="Courier"/>
              </a:rPr>
              <a:t>"matchPreview"</a:t>
            </a:r>
            <a:r>
              <a:rPr>
                <a:solidFill>
                  <a:srgbClr val="666666"/>
                </a:solidFill>
                <a:latin typeface="Courier"/>
              </a:rPr>
              <a:t>:</a:t>
            </a:r>
            <a:r>
              <a:rPr>
                <a:latin typeface="Courier"/>
              </a:rPr>
              <a:t> </a:t>
            </a:r>
            <a:r>
              <a:rPr>
                <a:solidFill>
                  <a:srgbClr val="4070A0"/>
                </a:solidFill>
                <a:latin typeface="Courier"/>
              </a:rPr>
              <a:t>"AKIAIOSFODNN7EXA...MPLE"</a:t>
            </a:r>
            <a:r>
              <a:rPr>
                <a:solidFill>
                  <a:srgbClr val="666666"/>
                </a:solidFill>
                <a:latin typeface="Courier"/>
              </a:rPr>
              <a:t>,</a:t>
            </a:r>
            <a:br/>
            <a:r>
              <a:rPr>
                <a:latin typeface="Courier"/>
              </a:rPr>
              <a:t>      </a:t>
            </a:r>
            <a:r>
              <a:rPr>
                <a:solidFill>
                  <a:srgbClr val="4070A0"/>
                </a:solidFill>
                <a:latin typeface="Courier"/>
              </a:rPr>
              <a:t>"entropy"</a:t>
            </a:r>
            <a:r>
              <a:rPr>
                <a:solidFill>
                  <a:srgbClr val="666666"/>
                </a:solidFill>
                <a:latin typeface="Courier"/>
              </a:rPr>
              <a:t>:</a:t>
            </a:r>
            <a:r>
              <a:rPr>
                <a:latin typeface="Courier"/>
              </a:rPr>
              <a:t> </a:t>
            </a:r>
            <a:r>
              <a:rPr>
                <a:solidFill>
                  <a:srgbClr val="40A070"/>
                </a:solidFill>
                <a:latin typeface="Courier"/>
              </a:rPr>
              <a:t>4.32</a:t>
            </a:r>
            <a:r>
              <a:rPr>
                <a:solidFill>
                  <a:srgbClr val="666666"/>
                </a:solidFill>
                <a:latin typeface="Courier"/>
              </a:rPr>
              <a:t>,</a:t>
            </a:r>
            <a:br/>
            <a:r>
              <a:rPr>
                <a:latin typeface="Courier"/>
              </a:rPr>
              <a:t>      </a:t>
            </a:r>
            <a:r>
              <a:rPr>
                <a:solidFill>
                  <a:srgbClr val="4070A0"/>
                </a:solidFill>
                <a:latin typeface="Courier"/>
              </a:rPr>
              <a:t>"remediation"</a:t>
            </a:r>
            <a:r>
              <a:rPr>
                <a:solidFill>
                  <a:srgbClr val="666666"/>
                </a:solidFill>
                <a:latin typeface="Courier"/>
              </a:rPr>
              <a:t>:</a:t>
            </a:r>
            <a:r>
              <a:rPr>
                <a:latin typeface="Courier"/>
              </a:rPr>
              <a:t> </a:t>
            </a:r>
            <a:r>
              <a:rPr>
                <a:solidFill>
                  <a:srgbClr val="4070A0"/>
                </a:solidFill>
                <a:latin typeface="Courier"/>
              </a:rPr>
              <a:t>"Use AWS IAM roles or environment variables..."</a:t>
            </a:r>
            <a:br/>
            <a:r>
              <a:rPr>
                <a:latin typeface="Courier"/>
              </a:rPr>
              <a:t>    }</a:t>
            </a:r>
            <a:br/>
            <a:r>
              <a:rPr>
                <a:latin typeface="Courier"/>
              </a:rPr>
              <a:t>  ]</a:t>
            </a:r>
            <a:r>
              <a:rPr>
                <a:solidFill>
                  <a:srgbClr val="666666"/>
                </a:solidFill>
                <a:latin typeface="Courier"/>
              </a:rPr>
              <a:t>,</a:t>
            </a:r>
            <a:br/>
            <a:r>
              <a:rPr>
                <a:latin typeface="Courier"/>
              </a:rPr>
              <a:t>  </a:t>
            </a:r>
            <a:r>
              <a:rPr>
                <a:solidFill>
                  <a:srgbClr val="4070A0"/>
                </a:solidFill>
                <a:latin typeface="Courier"/>
              </a:rPr>
              <a:t>"stats"</a:t>
            </a:r>
            <a:r>
              <a:rPr>
                <a:solidFill>
                  <a:srgbClr val="666666"/>
                </a:solidFill>
                <a:latin typeface="Courier"/>
              </a:rPr>
              <a:t>:</a:t>
            </a:r>
            <a:r>
              <a:rPr>
                <a:latin typeface="Courier"/>
              </a:rPr>
              <a:t> { </a:t>
            </a:r>
            <a:r>
              <a:rPr>
                <a:solidFill>
                  <a:srgbClr val="4070A0"/>
                </a:solidFill>
                <a:latin typeface="Courier"/>
              </a:rPr>
              <a:t>"high"</a:t>
            </a:r>
            <a:r>
              <a:rPr>
                <a:solidFill>
                  <a:srgbClr val="666666"/>
                </a:solidFill>
                <a:latin typeface="Courier"/>
              </a:rPr>
              <a:t>:</a:t>
            </a:r>
            <a:r>
              <a:rPr>
                <a:latin typeface="Courier"/>
              </a:rPr>
              <a:t> </a:t>
            </a:r>
            <a:r>
              <a:rPr>
                <a:solidFill>
                  <a:srgbClr val="40A070"/>
                </a:solidFill>
                <a:latin typeface="Courier"/>
              </a:rPr>
              <a:t>3</a:t>
            </a:r>
            <a:r>
              <a:rPr>
                <a:solidFill>
                  <a:srgbClr val="666666"/>
                </a:solidFill>
                <a:latin typeface="Courier"/>
              </a:rPr>
              <a:t>,</a:t>
            </a:r>
            <a:r>
              <a:rPr>
                <a:latin typeface="Courier"/>
              </a:rPr>
              <a:t> </a:t>
            </a:r>
            <a:r>
              <a:rPr>
                <a:solidFill>
                  <a:srgbClr val="4070A0"/>
                </a:solidFill>
                <a:latin typeface="Courier"/>
              </a:rPr>
              <a:t>"medium"</a:t>
            </a:r>
            <a:r>
              <a:rPr>
                <a:solidFill>
                  <a:srgbClr val="666666"/>
                </a:solidFill>
                <a:latin typeface="Courier"/>
              </a:rPr>
              <a:t>:</a:t>
            </a:r>
            <a:r>
              <a:rPr>
                <a:latin typeface="Courier"/>
              </a:rPr>
              <a:t> </a:t>
            </a:r>
            <a:r>
              <a:rPr>
                <a:solidFill>
                  <a:srgbClr val="40A070"/>
                </a:solidFill>
                <a:latin typeface="Courier"/>
              </a:rPr>
              <a:t>1</a:t>
            </a:r>
            <a:r>
              <a:rPr>
                <a:solidFill>
                  <a:srgbClr val="666666"/>
                </a:solidFill>
                <a:latin typeface="Courier"/>
              </a:rPr>
              <a:t>,</a:t>
            </a:r>
            <a:r>
              <a:rPr>
                <a:latin typeface="Courier"/>
              </a:rPr>
              <a:t> </a:t>
            </a:r>
            <a:r>
              <a:rPr>
                <a:solidFill>
                  <a:srgbClr val="4070A0"/>
                </a:solidFill>
                <a:latin typeface="Courier"/>
              </a:rPr>
              <a:t>"low"</a:t>
            </a:r>
            <a:r>
              <a:rPr>
                <a:solidFill>
                  <a:srgbClr val="666666"/>
                </a:solidFill>
                <a:latin typeface="Courier"/>
              </a:rPr>
              <a:t>:</a:t>
            </a:r>
            <a:r>
              <a:rPr>
                <a:latin typeface="Courier"/>
              </a:rPr>
              <a:t> </a:t>
            </a:r>
            <a:r>
              <a:rPr>
                <a:solidFill>
                  <a:srgbClr val="40A070"/>
                </a:solidFill>
                <a:latin typeface="Courier"/>
              </a:rPr>
              <a:t>0</a:t>
            </a:r>
            <a:r>
              <a:rPr>
                <a:solidFill>
                  <a:srgbClr val="666666"/>
                </a:solidFill>
                <a:latin typeface="Courier"/>
              </a:rPr>
              <a:t>,</a:t>
            </a:r>
            <a:r>
              <a:rPr>
                <a:latin typeface="Courier"/>
              </a:rPr>
              <a:t> </a:t>
            </a:r>
            <a:r>
              <a:rPr>
                <a:solidFill>
                  <a:srgbClr val="4070A0"/>
                </a:solidFill>
                <a:latin typeface="Courier"/>
              </a:rPr>
              <a:t>"total"</a:t>
            </a:r>
            <a:r>
              <a:rPr>
                <a:solidFill>
                  <a:srgbClr val="666666"/>
                </a:solidFill>
                <a:latin typeface="Courier"/>
              </a:rPr>
              <a:t>:</a:t>
            </a:r>
            <a:r>
              <a:rPr>
                <a:latin typeface="Courier"/>
              </a:rPr>
              <a:t> </a:t>
            </a:r>
            <a:r>
              <a:rPr>
                <a:solidFill>
                  <a:srgbClr val="40A070"/>
                </a:solidFill>
                <a:latin typeface="Courier"/>
              </a:rPr>
              <a:t>4</a:t>
            </a:r>
            <a:r>
              <a:rPr>
                <a:latin typeface="Courier"/>
              </a:rPr>
              <a:t> }</a:t>
            </a:r>
            <a:r>
              <a:rPr>
                <a:solidFill>
                  <a:srgbClr val="666666"/>
                </a:solidFill>
                <a:latin typeface="Courier"/>
              </a:rPr>
              <a:t>,</a:t>
            </a:r>
            <a:br/>
            <a:r>
              <a:rPr>
                <a:latin typeface="Courier"/>
              </a:rPr>
              <a:t>  </a:t>
            </a:r>
            <a:r>
              <a:rPr>
                <a:solidFill>
                  <a:srgbClr val="4070A0"/>
                </a:solidFill>
                <a:latin typeface="Courier"/>
              </a:rPr>
              <a:t>"patternsChecked"</a:t>
            </a:r>
            <a:r>
              <a:rPr>
                <a:solidFill>
                  <a:srgbClr val="666666"/>
                </a:solidFill>
                <a:latin typeface="Courier"/>
              </a:rPr>
              <a:t>:</a:t>
            </a:r>
            <a:r>
              <a:rPr>
                <a:latin typeface="Courier"/>
              </a:rPr>
              <a:t> </a:t>
            </a:r>
            <a:r>
              <a:rPr>
                <a:solidFill>
                  <a:srgbClr val="40A070"/>
                </a:solidFill>
                <a:latin typeface="Courier"/>
              </a:rPr>
              <a:t>20</a:t>
            </a:r>
            <a:r>
              <a:rPr>
                <a:solidFill>
                  <a:srgbClr val="666666"/>
                </a:solidFill>
                <a:latin typeface="Courier"/>
              </a:rPr>
              <a:t>,</a:t>
            </a:r>
            <a:br/>
            <a:r>
              <a:rPr>
                <a:latin typeface="Courier"/>
              </a:rPr>
              <a:t>  </a:t>
            </a:r>
            <a:r>
              <a:rPr>
                <a:solidFill>
                  <a:srgbClr val="4070A0"/>
                </a:solidFill>
                <a:latin typeface="Courier"/>
              </a:rPr>
              <a:t>"timestamp"</a:t>
            </a:r>
            <a:r>
              <a:rPr>
                <a:solidFill>
                  <a:srgbClr val="666666"/>
                </a:solidFill>
                <a:latin typeface="Courier"/>
              </a:rPr>
              <a:t>:</a:t>
            </a:r>
            <a:r>
              <a:rPr>
                <a:latin typeface="Courier"/>
              </a:rPr>
              <a:t> </a:t>
            </a:r>
            <a:r>
              <a:rPr>
                <a:solidFill>
                  <a:srgbClr val="4070A0"/>
                </a:solidFill>
                <a:latin typeface="Courier"/>
              </a:rPr>
              <a:t>"2026-03-20T10:00:00.000Z"</a:t>
            </a:r>
            <a:br/>
            <a:r>
              <a:rPr>
                <a:latin typeface="Courier"/>
              </a:rPr>
              <a:t>}</a:t>
            </a:r>
          </a:p>
          <a:p>
            <a:pPr lvl="0" indent="0" marL="0">
              <a:spcBef>
                <a:spcPts val="3000"/>
              </a:spcBef>
              <a:buNone/>
            </a:pPr>
            <a:r>
              <a:rPr b="1"/>
              <a:t>Input Size Limits</a:t>
            </a:r>
          </a:p>
          <a:p>
            <a:pPr lvl="0"/>
            <a:r>
              <a:rPr b="1"/>
              <a:t>Free:</a:t>
            </a:r>
            <a:r>
              <a:rPr/>
              <a:t> 50,000 characters max</a:t>
            </a:r>
          </a:p>
          <a:p>
            <a:pPr lvl="0"/>
            <a:r>
              <a:rPr b="1"/>
              <a:t>Pro/Enterprise:</a:t>
            </a:r>
            <a:r>
              <a:rPr/>
              <a:t> 500,000 characters max</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4.2 Dependency Scanner</a:t>
            </a:r>
          </a:p>
          <a:p>
            <a:pPr lvl="0" indent="0" marL="0">
              <a:buNone/>
            </a:pPr>
            <a:r>
              <a:rPr b="1"/>
              <a:t>API Endpoint:</a:t>
            </a:r>
            <a:r>
              <a:rPr/>
              <a:t> </a:t>
            </a:r>
            <a:r>
              <a:rPr>
                <a:latin typeface="Courier"/>
              </a:rPr>
              <a:t>POST /api/shieldx/scan-deps</a:t>
            </a:r>
            <a:br/>
            <a:r>
              <a:rPr b="1"/>
              <a:t>File:</a:t>
            </a:r>
            <a:r>
              <a:rPr/>
              <a:t> </a:t>
            </a:r>
            <a:r>
              <a:rPr>
                <a:latin typeface="Courier"/>
              </a:rPr>
              <a:t>app/api/shieldx/scan-deps/route.ts</a:t>
            </a:r>
            <a:br/>
            <a:r>
              <a:rPr b="1"/>
              <a:t>Plan Access:</a:t>
            </a:r>
            <a:r>
              <a:rPr/>
              <a:t> Demo (sample data), Pro, Enterprise</a:t>
            </a:r>
            <a:br/>
            <a:r>
              <a:rPr b="1"/>
              <a:t>External APIs:</a:t>
            </a:r>
            <a:r>
              <a:rPr/>
              <a:t> </a:t>
            </a:r>
            <a:r>
              <a:rPr>
                <a:hlinkClick r:id="rId2"/>
              </a:rPr>
              <a:t>OSV.dev API</a:t>
            </a:r>
            <a:r>
              <a:rPr/>
              <a:t> (Google Open Source Vulnerabilities)</a:t>
            </a:r>
          </a:p>
          <a:p>
            <a:pPr lvl="0" indent="0" marL="0">
              <a:spcBef>
                <a:spcPts val="3000"/>
              </a:spcBef>
              <a:buNone/>
            </a:pPr>
            <a:r>
              <a:rPr b="1"/>
              <a:t>How It Works</a:t>
            </a:r>
          </a:p>
          <a:p>
            <a:pPr lvl="0" indent="-342900" marL="342900">
              <a:buAutoNum type="arabicPeriod"/>
            </a:pPr>
            <a:r>
              <a:rPr b="1"/>
              <a:t>Input:</a:t>
            </a:r>
            <a:r>
              <a:rPr/>
              <a:t> User pastes dependency manifest content (package.json, requirements.txt, build.gradle, go.mod)</a:t>
            </a:r>
          </a:p>
          <a:p>
            <a:pPr lvl="0" indent="-342900" marL="342900">
              <a:buAutoNum type="arabicPeriod"/>
            </a:pPr>
            <a:r>
              <a:rPr b="1"/>
              <a:t>Ecosystem Detection:</a:t>
            </a:r>
            <a:r>
              <a:rPr/>
              <a:t> Auto-detects the package ecosystem from content format</a:t>
            </a:r>
          </a:p>
          <a:p>
            <a:pPr lvl="0" indent="-342900" marL="342900">
              <a:buAutoNum type="arabicPeriod"/>
            </a:pPr>
            <a:r>
              <a:rPr b="1"/>
              <a:t>Dependency Parsing:</a:t>
            </a:r>
            <a:r>
              <a:rPr/>
              <a:t> Extracts package name + version pairs</a:t>
            </a:r>
          </a:p>
          <a:p>
            <a:pPr lvl="0" indent="-342900" marL="342900">
              <a:buAutoNum type="arabicPeriod"/>
            </a:pPr>
            <a:r>
              <a:rPr b="1"/>
              <a:t>OSV.dev Query:</a:t>
            </a:r>
            <a:r>
              <a:rPr/>
              <a:t> For each dependency, sends a POST request to:</a:t>
            </a:r>
          </a:p>
          <a:p>
            <a:pPr lvl="1" indent="0">
              <a:buNone/>
            </a:pPr>
            <a:r>
              <a:rPr>
                <a:latin typeface="Courier"/>
              </a:rPr>
              <a:t>POST https://api.osv.dev/v1/query
{
  "package": { "name": "express", "ecosystem": "npm" },
  "version": "4.17.1"
}</a:t>
            </a:r>
          </a:p>
          <a:p>
            <a:pPr lvl="0" indent="-342900" marL="342900">
              <a:buAutoNum type="arabicPeriod"/>
            </a:pPr>
            <a:r>
              <a:rPr b="1"/>
              <a:t>Batching:</a:t>
            </a:r>
            <a:r>
              <a:rPr/>
              <a:t> Queries are batched in groups of 5 to respect API limits</a:t>
            </a:r>
          </a:p>
          <a:p>
            <a:pPr lvl="0" indent="-342900" marL="342900">
              <a:buAutoNum type="arabicPeriod"/>
            </a:pPr>
            <a:r>
              <a:rPr b="1"/>
              <a:t>CVSS Mapping:</a:t>
            </a:r>
            <a:r>
              <a:rPr/>
              <a:t> Severity scores mapped to categories:</a:t>
            </a:r>
          </a:p>
          <a:p>
            <a:pPr lvl="1"/>
            <a:r>
              <a:rPr/>
              <a:t>≥ 9.0 → Critical</a:t>
            </a:r>
          </a:p>
          <a:p>
            <a:pPr lvl="1"/>
            <a:r>
              <a:rPr/>
              <a:t>≥ 7.0 → High</a:t>
            </a:r>
          </a:p>
          <a:p>
            <a:pPr lvl="1"/>
            <a:r>
              <a:rPr/>
              <a:t>≥ 4.0 → Medium</a:t>
            </a:r>
          </a:p>
          <a:p>
            <a:pPr lvl="1"/>
            <a:r>
              <a:rPr/>
              <a:t>&lt; 4.0 → Low</a:t>
            </a:r>
          </a:p>
          <a:p>
            <a:pPr lvl="0" indent="-342900" marL="342900">
              <a:buAutoNum type="arabicPeriod"/>
            </a:pPr>
            <a:r>
              <a:rPr b="1"/>
              <a:t>Output:</a:t>
            </a:r>
            <a:r>
              <a:rPr/>
              <a:t> Vulnerability list with CVE IDs, summaries, fixed versions, references</a:t>
            </a:r>
          </a:p>
          <a:p>
            <a:pPr lvl="0" indent="0" marL="0">
              <a:spcBef>
                <a:spcPts val="3000"/>
              </a:spcBef>
              <a:buNone/>
            </a:pPr>
            <a:r>
              <a:rPr b="1"/>
              <a:t>Demo Mode</a:t>
            </a:r>
          </a:p>
          <a:p>
            <a:pPr lvl="0" indent="0" marL="0">
              <a:buNone/>
            </a:pPr>
            <a:r>
              <a:rPr/>
              <a:t>Uses a hardcoded fintech-app </a:t>
            </a:r>
            <a:r>
              <a:rPr>
                <a:latin typeface="Courier"/>
              </a:rPr>
              <a:t>package.json</a:t>
            </a:r>
            <a:r>
              <a:rPr/>
              <a:t> with 7 known-vulnerable packages: - express 4.17.1, lodash 4.17.20, axios 0.21.4, jsonwebtoken 8.5.1, moment 2.29.1, node-fetch 2.6.1, shell-quote 1.7.2</a:t>
            </a:r>
          </a:p>
          <a:p>
            <a:pPr lvl="0" indent="0" marL="0">
              <a:spcBef>
                <a:spcPts val="3000"/>
              </a:spcBef>
              <a:buNone/>
            </a:pPr>
            <a:r>
              <a:rPr b="1"/>
              <a:t>Rate Limiting</a:t>
            </a:r>
          </a:p>
          <a:p>
            <a:pPr lvl="0"/>
            <a:r>
              <a:rPr b="1"/>
              <a:t>Demo:</a:t>
            </a:r>
            <a:r>
              <a:rPr/>
              <a:t> 5 scans per hour per IP address (in-memory rate limiter)</a:t>
            </a:r>
          </a:p>
          <a:p>
            <a:pPr lvl="0"/>
            <a:r>
              <a:rPr b="1"/>
              <a:t>Pro/Enterprise:</a:t>
            </a:r>
            <a:r>
              <a:rPr/>
              <a:t> Enforced via </a:t>
            </a:r>
            <a:r>
              <a:rPr>
                <a:latin typeface="Courier"/>
              </a:rPr>
              <a:t>enforceShieldXScanLimit()</a:t>
            </a:r>
            <a:r>
              <a:rPr/>
              <a:t> against user’s plan limit</a:t>
            </a:r>
          </a:p>
          <a:p>
            <a:pPr lvl="0" indent="0" marL="0">
              <a:spcBef>
                <a:spcPts val="3000"/>
              </a:spcBef>
              <a:buNone/>
            </a:pPr>
            <a:r>
              <a:rPr b="1"/>
              <a:t>OSV.dev API Details</a:t>
            </a:r>
          </a:p>
          <a:p>
            <a:pPr lvl="0"/>
            <a:r>
              <a:rPr b="1"/>
              <a:t>URL:</a:t>
            </a:r>
            <a:r>
              <a:rPr/>
              <a:t> </a:t>
            </a:r>
            <a:r>
              <a:rPr>
                <a:latin typeface="Courier"/>
              </a:rPr>
              <a:t>https://api.osv.dev/v1/query</a:t>
            </a:r>
          </a:p>
          <a:p>
            <a:pPr lvl="0"/>
            <a:r>
              <a:rPr b="1"/>
              <a:t>Method:</a:t>
            </a:r>
            <a:r>
              <a:rPr/>
              <a:t> POST</a:t>
            </a:r>
          </a:p>
          <a:p>
            <a:pPr lvl="0"/>
            <a:r>
              <a:rPr b="1"/>
              <a:t>Rate Limit:</a:t>
            </a:r>
            <a:r>
              <a:rPr/>
              <a:t> None (free API, no authentication required)</a:t>
            </a:r>
          </a:p>
          <a:p>
            <a:pPr lvl="0"/>
            <a:r>
              <a:rPr b="1"/>
              <a:t>Data License:</a:t>
            </a:r>
            <a:r>
              <a:rPr/>
              <a:t> CC-BY 4.0</a:t>
            </a:r>
          </a:p>
          <a:p>
            <a:pPr lvl="0"/>
            <a:r>
              <a:rPr b="1"/>
              <a:t>Response includes:</a:t>
            </a:r>
            <a:r>
              <a:rPr/>
              <a:t> CVE IDs, GHSA IDs, summaries, severity, affected ranges, fixed versions, references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4.3 API Security Scanner</a:t>
            </a:r>
          </a:p>
          <a:p>
            <a:pPr lvl="0" indent="0" marL="0">
              <a:buNone/>
            </a:pPr>
            <a:r>
              <a:rPr b="1"/>
              <a:t>API Endpoint:</a:t>
            </a:r>
            <a:r>
              <a:rPr/>
              <a:t> </a:t>
            </a:r>
            <a:r>
              <a:rPr>
                <a:latin typeface="Courier"/>
              </a:rPr>
              <a:t>POST /api/shieldx/scan-api</a:t>
            </a:r>
            <a:br/>
            <a:r>
              <a:rPr b="1"/>
              <a:t>File:</a:t>
            </a:r>
            <a:r>
              <a:rPr/>
              <a:t> </a:t>
            </a:r>
            <a:r>
              <a:rPr>
                <a:latin typeface="Courier"/>
              </a:rPr>
              <a:t>app/api/shieldx/scan-api/route.ts</a:t>
            </a:r>
            <a:br/>
            <a:r>
              <a:rPr b="1"/>
              <a:t>Plan Access:</a:t>
            </a:r>
            <a:r>
              <a:rPr/>
              <a:t> Demo (scans securecodereviews.com), Pro, Enterprise</a:t>
            </a:r>
            <a:br/>
            <a:r>
              <a:rPr b="1"/>
              <a:t>External APIs:</a:t>
            </a:r>
            <a:r>
              <a:rPr/>
              <a:t> Makes HTTP requests to the target URL</a:t>
            </a:r>
          </a:p>
          <a:p>
            <a:pPr lvl="0" indent="0" marL="0">
              <a:spcBef>
                <a:spcPts val="3000"/>
              </a:spcBef>
              <a:buNone/>
            </a:pPr>
            <a:r>
              <a:rPr b="1"/>
              <a:t>How It Works</a:t>
            </a:r>
          </a:p>
          <a:p>
            <a:pPr lvl="0" indent="-342900" marL="342900">
              <a:buAutoNum type="arabicPeriod"/>
            </a:pPr>
            <a:r>
              <a:rPr b="1"/>
              <a:t>Input:</a:t>
            </a:r>
            <a:r>
              <a:rPr/>
              <a:t> User provides a target URL (e.g., </a:t>
            </a:r>
            <a:r>
              <a:rPr>
                <a:latin typeface="Courier"/>
              </a:rPr>
              <a:t>https://api.example.com/v1/health</a:t>
            </a:r>
            <a:r>
              <a:rPr/>
              <a:t>)</a:t>
            </a:r>
          </a:p>
          <a:p>
            <a:pPr lvl="0" indent="-342900" marL="342900">
              <a:buAutoNum type="arabicPeriod"/>
            </a:pPr>
            <a:r>
              <a:rPr b="1"/>
              <a:t>SSRF Protection:</a:t>
            </a:r>
            <a:r>
              <a:rPr/>
              <a:t> Blocks private/internal URLs:</a:t>
            </a:r>
          </a:p>
          <a:p>
            <a:pPr lvl="1"/>
            <a:r>
              <a:rPr>
                <a:latin typeface="Courier"/>
              </a:rPr>
              <a:t>localhost</a:t>
            </a:r>
            <a:r>
              <a:rPr/>
              <a:t>, </a:t>
            </a:r>
            <a:r>
              <a:rPr>
                <a:latin typeface="Courier"/>
              </a:rPr>
              <a:t>127.0.0.1</a:t>
            </a:r>
            <a:r>
              <a:rPr/>
              <a:t>, </a:t>
            </a:r>
            <a:r>
              <a:rPr>
                <a:latin typeface="Courier"/>
              </a:rPr>
              <a:t>10.*</a:t>
            </a:r>
            <a:r>
              <a:rPr/>
              <a:t>, </a:t>
            </a:r>
            <a:r>
              <a:rPr>
                <a:latin typeface="Courier"/>
              </a:rPr>
              <a:t>172.16-31.*</a:t>
            </a:r>
            <a:r>
              <a:rPr/>
              <a:t>, </a:t>
            </a:r>
            <a:r>
              <a:rPr>
                <a:latin typeface="Courier"/>
              </a:rPr>
              <a:t>192.168.*</a:t>
            </a:r>
          </a:p>
          <a:p>
            <a:pPr lvl="1"/>
            <a:r>
              <a:rPr/>
              <a:t>AWS metadata endpoint (</a:t>
            </a:r>
            <a:r>
              <a:rPr>
                <a:latin typeface="Courier"/>
              </a:rPr>
              <a:t>169.254.169.254</a:t>
            </a:r>
            <a:r>
              <a:rPr/>
              <a:t>)</a:t>
            </a:r>
          </a:p>
          <a:p>
            <a:pPr lvl="1"/>
            <a:r>
              <a:rPr/>
              <a:t>Link-local addresses</a:t>
            </a:r>
          </a:p>
          <a:p>
            <a:pPr lvl="0" indent="-342900" marL="342900">
              <a:buAutoNum type="arabicPeriod"/>
            </a:pPr>
            <a:r>
              <a:rPr b="1"/>
              <a:t>HTTP Requests:</a:t>
            </a:r>
            <a:r>
              <a:rPr/>
              <a:t> Makes two requests to the target:</a:t>
            </a:r>
          </a:p>
          <a:p>
            <a:pPr lvl="1"/>
            <a:r>
              <a:rPr>
                <a:latin typeface="Courier"/>
              </a:rPr>
              <a:t>GET {url}</a:t>
            </a:r>
            <a:r>
              <a:rPr/>
              <a:t> — Main request with 8-second timeout</a:t>
            </a:r>
          </a:p>
          <a:p>
            <a:pPr lvl="1"/>
            <a:r>
              <a:rPr>
                <a:latin typeface="Courier"/>
              </a:rPr>
              <a:t>OPTIONS {url}</a:t>
            </a:r>
            <a:r>
              <a:rPr/>
              <a:t> — CORS preflight to detect allowed methods</a:t>
            </a:r>
          </a:p>
          <a:p>
            <a:pPr lvl="0" indent="-342900" marL="342900">
              <a:buAutoNum type="arabicPeriod"/>
            </a:pPr>
            <a:r>
              <a:rPr b="1"/>
              <a:t>Security Header Analysis:</a:t>
            </a:r>
            <a:r>
              <a:rPr/>
              <a:t> Checks 10+ response headers:</a:t>
            </a:r>
          </a:p>
          <a:p>
            <a:pPr lvl="1"/>
            <a:r>
              <a:rPr>
                <a:latin typeface="Courier"/>
              </a:rPr>
              <a:t>Strict-Transport-Security</a:t>
            </a:r>
            <a:r>
              <a:rPr/>
              <a:t> (HSTS)</a:t>
            </a:r>
          </a:p>
          <a:p>
            <a:pPr lvl="1"/>
            <a:r>
              <a:rPr>
                <a:latin typeface="Courier"/>
              </a:rPr>
              <a:t>Content-Security-Policy</a:t>
            </a:r>
            <a:r>
              <a:rPr/>
              <a:t> (CSP)</a:t>
            </a:r>
          </a:p>
          <a:p>
            <a:pPr lvl="1"/>
            <a:r>
              <a:rPr>
                <a:latin typeface="Courier"/>
              </a:rPr>
              <a:t>X-Content-Type-Options</a:t>
            </a:r>
          </a:p>
          <a:p>
            <a:pPr lvl="1"/>
            <a:r>
              <a:rPr>
                <a:latin typeface="Courier"/>
              </a:rPr>
              <a:t>X-Frame-Options</a:t>
            </a:r>
          </a:p>
          <a:p>
            <a:pPr lvl="1"/>
            <a:r>
              <a:rPr>
                <a:latin typeface="Courier"/>
              </a:rPr>
              <a:t>Referrer-Policy</a:t>
            </a:r>
          </a:p>
          <a:p>
            <a:pPr lvl="1"/>
            <a:r>
              <a:rPr>
                <a:latin typeface="Courier"/>
              </a:rPr>
              <a:t>Permissions-Policy</a:t>
            </a:r>
          </a:p>
          <a:p>
            <a:pPr lvl="1"/>
            <a:r>
              <a:rPr>
                <a:latin typeface="Courier"/>
              </a:rPr>
              <a:t>X-XSS-Protection</a:t>
            </a:r>
          </a:p>
          <a:p>
            <a:pPr lvl="1"/>
            <a:r>
              <a:rPr>
                <a:latin typeface="Courier"/>
              </a:rPr>
              <a:t>Cache-Control</a:t>
            </a:r>
          </a:p>
          <a:p>
            <a:pPr lvl="1"/>
            <a:r>
              <a:rPr>
                <a:latin typeface="Courier"/>
              </a:rPr>
              <a:t>Set-Cookie</a:t>
            </a:r>
            <a:r>
              <a:rPr/>
              <a:t> (Secure/HttpOnly/SameSite flags)</a:t>
            </a:r>
          </a:p>
          <a:p>
            <a:pPr lvl="0" indent="-342900" marL="342900">
              <a:buAutoNum type="arabicPeriod"/>
            </a:pPr>
            <a:r>
              <a:rPr b="1"/>
              <a:t>OWASP API Top 10 2023 Checks:</a:t>
            </a:r>
          </a:p>
          <a:p>
            <a:pPr lvl="1"/>
            <a:r>
              <a:rPr/>
              <a:t>API1: Broken Object Level Authorization (BOLA)</a:t>
            </a:r>
          </a:p>
          <a:p>
            <a:pPr lvl="1"/>
            <a:r>
              <a:rPr/>
              <a:t>API2: Broken Authentication</a:t>
            </a:r>
          </a:p>
          <a:p>
            <a:pPr lvl="1"/>
            <a:r>
              <a:rPr/>
              <a:t>API3: Excessive Data Exposure</a:t>
            </a:r>
          </a:p>
          <a:p>
            <a:pPr lvl="1"/>
            <a:r>
              <a:rPr/>
              <a:t>API4: Rate Limiting</a:t>
            </a:r>
          </a:p>
          <a:p>
            <a:pPr lvl="1"/>
            <a:r>
              <a:rPr/>
              <a:t>API5: Broken Function Level Authorization</a:t>
            </a:r>
          </a:p>
          <a:p>
            <a:pPr lvl="1"/>
            <a:r>
              <a:rPr/>
              <a:t>API6: Mass Assignment</a:t>
            </a:r>
          </a:p>
          <a:p>
            <a:pPr lvl="1"/>
            <a:r>
              <a:rPr/>
              <a:t>API7: Security Misconfiguration</a:t>
            </a:r>
          </a:p>
          <a:p>
            <a:pPr lvl="1"/>
            <a:r>
              <a:rPr/>
              <a:t>API8: Injection</a:t>
            </a:r>
          </a:p>
          <a:p>
            <a:pPr lvl="1"/>
            <a:r>
              <a:rPr/>
              <a:t>API9: Improper Assets Management</a:t>
            </a:r>
          </a:p>
          <a:p>
            <a:pPr lvl="1"/>
            <a:r>
              <a:rPr/>
              <a:t>API10: Insufficient Logging</a:t>
            </a:r>
          </a:p>
          <a:p>
            <a:pPr lvl="0" indent="-342900" marL="342900">
              <a:buAutoNum type="arabicPeriod"/>
            </a:pPr>
            <a:r>
              <a:rPr b="1"/>
              <a:t>Scoring:</a:t>
            </a:r>
            <a:r>
              <a:rPr/>
              <a:t> Weighted security score 0-10 based on severity of failures</a:t>
            </a:r>
          </a:p>
          <a:p>
            <a:pPr lvl="0" indent="0" marL="0">
              <a:spcBef>
                <a:spcPts val="3000"/>
              </a:spcBef>
              <a:buNone/>
            </a:pPr>
            <a:r>
              <a:rPr b="1"/>
              <a:t>SSRF Protection</a:t>
            </a:r>
          </a:p>
          <a:p>
            <a:pPr lvl="0" indent="0" marL="0">
              <a:buNone/>
            </a:pPr>
            <a:r>
              <a:rPr/>
              <a:t>The scanner blocks scanning of internal/private networks to prevent Server-Side Request Forgery:</a:t>
            </a:r>
          </a:p>
          <a:p>
            <a:pPr lvl="0" indent="0">
              <a:buNone/>
            </a:pPr>
            <a:r>
              <a:rPr b="1">
                <a:solidFill>
                  <a:srgbClr val="007020"/>
                </a:solidFill>
                <a:latin typeface="Courier"/>
              </a:rPr>
              <a:t>const</a:t>
            </a:r>
            <a:r>
              <a:rPr>
                <a:latin typeface="Courier"/>
              </a:rPr>
              <a:t> BLOCKED_PATTERNS </a:t>
            </a:r>
            <a:r>
              <a:rPr>
                <a:solidFill>
                  <a:srgbClr val="666666"/>
                </a:solidFill>
                <a:latin typeface="Courier"/>
              </a:rPr>
              <a:t>=</a:t>
            </a:r>
            <a:r>
              <a:rPr>
                <a:latin typeface="Courier"/>
              </a:rPr>
              <a:t> [</a:t>
            </a:r>
            <a:br/>
            <a:r>
              <a:rPr>
                <a:latin typeface="Courier"/>
              </a:rPr>
              <a:t>  </a:t>
            </a:r>
            <a:r>
              <a:rPr>
                <a:solidFill>
                  <a:srgbClr val="BB6688"/>
                </a:solidFill>
                <a:latin typeface="Courier"/>
              </a:rPr>
              <a:t>/</a:t>
            </a:r>
            <a:r>
              <a:rPr>
                <a:solidFill>
                  <a:srgbClr val="4070A0"/>
                </a:solidFill>
                <a:latin typeface="Courier"/>
              </a:rPr>
              <a:t>^</a:t>
            </a:r>
            <a:r>
              <a:rPr>
                <a:solidFill>
                  <a:srgbClr val="BB6688"/>
                </a:solidFill>
                <a:latin typeface="Courier"/>
              </a:rPr>
              <a:t>https</a:t>
            </a:r>
            <a:r>
              <a:rPr>
                <a:solidFill>
                  <a:srgbClr val="4070A0"/>
                </a:solidFill>
                <a:latin typeface="Courier"/>
              </a:rPr>
              <a:t>?</a:t>
            </a:r>
            <a:r>
              <a:rPr>
                <a:solidFill>
                  <a:srgbClr val="BB6688"/>
                </a:solidFill>
                <a:latin typeface="Courier"/>
              </a:rPr>
              <a:t>:</a:t>
            </a:r>
            <a:r>
              <a:rPr>
                <a:solidFill>
                  <a:srgbClr val="4070A0"/>
                </a:solidFill>
                <a:latin typeface="Courier"/>
              </a:rPr>
              <a:t>\/\/</a:t>
            </a:r>
            <a:r>
              <a:rPr>
                <a:solidFill>
                  <a:srgbClr val="BB6688"/>
                </a:solidFill>
                <a:latin typeface="Courier"/>
              </a:rPr>
              <a:t>localhost/i</a:t>
            </a:r>
            <a:r>
              <a:rPr>
                <a:solidFill>
                  <a:srgbClr val="666666"/>
                </a:solidFill>
                <a:latin typeface="Courier"/>
              </a:rPr>
              <a:t>,</a:t>
            </a:r>
            <a:br/>
            <a:r>
              <a:rPr>
                <a:latin typeface="Courier"/>
              </a:rPr>
              <a:t>  </a:t>
            </a:r>
            <a:r>
              <a:rPr>
                <a:solidFill>
                  <a:srgbClr val="BB6688"/>
                </a:solidFill>
                <a:latin typeface="Courier"/>
              </a:rPr>
              <a:t>/</a:t>
            </a:r>
            <a:r>
              <a:rPr>
                <a:solidFill>
                  <a:srgbClr val="4070A0"/>
                </a:solidFill>
                <a:latin typeface="Courier"/>
              </a:rPr>
              <a:t>^</a:t>
            </a:r>
            <a:r>
              <a:rPr>
                <a:solidFill>
                  <a:srgbClr val="BB6688"/>
                </a:solidFill>
                <a:latin typeface="Courier"/>
              </a:rPr>
              <a:t>https</a:t>
            </a:r>
            <a:r>
              <a:rPr>
                <a:solidFill>
                  <a:srgbClr val="4070A0"/>
                </a:solidFill>
                <a:latin typeface="Courier"/>
              </a:rPr>
              <a:t>?</a:t>
            </a:r>
            <a:r>
              <a:rPr>
                <a:solidFill>
                  <a:srgbClr val="BB6688"/>
                </a:solidFill>
                <a:latin typeface="Courier"/>
              </a:rPr>
              <a:t>:</a:t>
            </a:r>
            <a:r>
              <a:rPr>
                <a:solidFill>
                  <a:srgbClr val="4070A0"/>
                </a:solidFill>
                <a:latin typeface="Courier"/>
              </a:rPr>
              <a:t>\/\/</a:t>
            </a:r>
            <a:r>
              <a:rPr>
                <a:solidFill>
                  <a:srgbClr val="BB6688"/>
                </a:solidFill>
                <a:latin typeface="Courier"/>
              </a:rPr>
              <a:t>127</a:t>
            </a:r>
            <a:r>
              <a:rPr>
                <a:solidFill>
                  <a:srgbClr val="4070A0"/>
                </a:solidFill>
                <a:latin typeface="Courier"/>
              </a:rPr>
              <a:t>\.</a:t>
            </a:r>
            <a:r>
              <a:rPr>
                <a:solidFill>
                  <a:srgbClr val="BB6688"/>
                </a:solidFill>
                <a:latin typeface="Courier"/>
              </a:rPr>
              <a:t>/</a:t>
            </a:r>
            <a:r>
              <a:rPr>
                <a:solidFill>
                  <a:srgbClr val="666666"/>
                </a:solidFill>
                <a:latin typeface="Courier"/>
              </a:rPr>
              <a:t>,</a:t>
            </a:r>
            <a:br/>
            <a:r>
              <a:rPr>
                <a:latin typeface="Courier"/>
              </a:rPr>
              <a:t>  </a:t>
            </a:r>
            <a:r>
              <a:rPr>
                <a:solidFill>
                  <a:srgbClr val="BB6688"/>
                </a:solidFill>
                <a:latin typeface="Courier"/>
              </a:rPr>
              <a:t>/</a:t>
            </a:r>
            <a:r>
              <a:rPr>
                <a:solidFill>
                  <a:srgbClr val="4070A0"/>
                </a:solidFill>
                <a:latin typeface="Courier"/>
              </a:rPr>
              <a:t>^</a:t>
            </a:r>
            <a:r>
              <a:rPr>
                <a:solidFill>
                  <a:srgbClr val="BB6688"/>
                </a:solidFill>
                <a:latin typeface="Courier"/>
              </a:rPr>
              <a:t>https</a:t>
            </a:r>
            <a:r>
              <a:rPr>
                <a:solidFill>
                  <a:srgbClr val="4070A0"/>
                </a:solidFill>
                <a:latin typeface="Courier"/>
              </a:rPr>
              <a:t>?</a:t>
            </a:r>
            <a:r>
              <a:rPr>
                <a:solidFill>
                  <a:srgbClr val="BB6688"/>
                </a:solidFill>
                <a:latin typeface="Courier"/>
              </a:rPr>
              <a:t>:</a:t>
            </a:r>
            <a:r>
              <a:rPr>
                <a:solidFill>
                  <a:srgbClr val="4070A0"/>
                </a:solidFill>
                <a:latin typeface="Courier"/>
              </a:rPr>
              <a:t>\/\/</a:t>
            </a:r>
            <a:r>
              <a:rPr>
                <a:solidFill>
                  <a:srgbClr val="BB6688"/>
                </a:solidFill>
                <a:latin typeface="Courier"/>
              </a:rPr>
              <a:t>10</a:t>
            </a:r>
            <a:r>
              <a:rPr>
                <a:solidFill>
                  <a:srgbClr val="4070A0"/>
                </a:solidFill>
                <a:latin typeface="Courier"/>
              </a:rPr>
              <a:t>\.</a:t>
            </a:r>
            <a:r>
              <a:rPr>
                <a:solidFill>
                  <a:srgbClr val="BB6688"/>
                </a:solidFill>
                <a:latin typeface="Courier"/>
              </a:rPr>
              <a:t>/</a:t>
            </a:r>
            <a:r>
              <a:rPr>
                <a:solidFill>
                  <a:srgbClr val="666666"/>
                </a:solidFill>
                <a:latin typeface="Courier"/>
              </a:rPr>
              <a:t>,</a:t>
            </a:r>
            <a:br/>
            <a:r>
              <a:rPr>
                <a:latin typeface="Courier"/>
              </a:rPr>
              <a:t>  </a:t>
            </a:r>
            <a:r>
              <a:rPr>
                <a:solidFill>
                  <a:srgbClr val="BB6688"/>
                </a:solidFill>
                <a:latin typeface="Courier"/>
              </a:rPr>
              <a:t>/</a:t>
            </a:r>
            <a:r>
              <a:rPr>
                <a:solidFill>
                  <a:srgbClr val="4070A0"/>
                </a:solidFill>
                <a:latin typeface="Courier"/>
              </a:rPr>
              <a:t>^</a:t>
            </a:r>
            <a:r>
              <a:rPr>
                <a:solidFill>
                  <a:srgbClr val="BB6688"/>
                </a:solidFill>
                <a:latin typeface="Courier"/>
              </a:rPr>
              <a:t>https</a:t>
            </a:r>
            <a:r>
              <a:rPr>
                <a:solidFill>
                  <a:srgbClr val="4070A0"/>
                </a:solidFill>
                <a:latin typeface="Courier"/>
              </a:rPr>
              <a:t>?</a:t>
            </a:r>
            <a:r>
              <a:rPr>
                <a:solidFill>
                  <a:srgbClr val="BB6688"/>
                </a:solidFill>
                <a:latin typeface="Courier"/>
              </a:rPr>
              <a:t>:</a:t>
            </a:r>
            <a:r>
              <a:rPr>
                <a:solidFill>
                  <a:srgbClr val="4070A0"/>
                </a:solidFill>
                <a:latin typeface="Courier"/>
              </a:rPr>
              <a:t>\/\/</a:t>
            </a:r>
            <a:r>
              <a:rPr>
                <a:solidFill>
                  <a:srgbClr val="BB6688"/>
                </a:solidFill>
                <a:latin typeface="Courier"/>
              </a:rPr>
              <a:t>172</a:t>
            </a:r>
            <a:r>
              <a:rPr>
                <a:solidFill>
                  <a:srgbClr val="4070A0"/>
                </a:solidFill>
                <a:latin typeface="Courier"/>
              </a:rPr>
              <a:t>\.(</a:t>
            </a:r>
            <a:r>
              <a:rPr>
                <a:solidFill>
                  <a:srgbClr val="BB6688"/>
                </a:solidFill>
                <a:latin typeface="Courier"/>
              </a:rPr>
              <a:t>1</a:t>
            </a:r>
            <a:r>
              <a:rPr>
                <a:solidFill>
                  <a:srgbClr val="4070A0"/>
                </a:solidFill>
                <a:latin typeface="Courier"/>
              </a:rPr>
              <a:t>[6-9]|</a:t>
            </a:r>
            <a:r>
              <a:rPr>
                <a:solidFill>
                  <a:srgbClr val="BB6688"/>
                </a:solidFill>
                <a:latin typeface="Courier"/>
              </a:rPr>
              <a:t>2</a:t>
            </a:r>
            <a:r>
              <a:rPr>
                <a:solidFill>
                  <a:srgbClr val="4070A0"/>
                </a:solidFill>
                <a:latin typeface="Courier"/>
              </a:rPr>
              <a:t>\d|</a:t>
            </a:r>
            <a:r>
              <a:rPr>
                <a:solidFill>
                  <a:srgbClr val="BB6688"/>
                </a:solidFill>
                <a:latin typeface="Courier"/>
              </a:rPr>
              <a:t>3</a:t>
            </a:r>
            <a:r>
              <a:rPr>
                <a:solidFill>
                  <a:srgbClr val="4070A0"/>
                </a:solidFill>
                <a:latin typeface="Courier"/>
              </a:rPr>
              <a:t>[01])\.</a:t>
            </a:r>
            <a:r>
              <a:rPr>
                <a:solidFill>
                  <a:srgbClr val="BB6688"/>
                </a:solidFill>
                <a:latin typeface="Courier"/>
              </a:rPr>
              <a:t>/</a:t>
            </a:r>
            <a:r>
              <a:rPr>
                <a:solidFill>
                  <a:srgbClr val="666666"/>
                </a:solidFill>
                <a:latin typeface="Courier"/>
              </a:rPr>
              <a:t>,</a:t>
            </a:r>
            <a:br/>
            <a:r>
              <a:rPr>
                <a:latin typeface="Courier"/>
              </a:rPr>
              <a:t>  </a:t>
            </a:r>
            <a:r>
              <a:rPr>
                <a:solidFill>
                  <a:srgbClr val="BB6688"/>
                </a:solidFill>
                <a:latin typeface="Courier"/>
              </a:rPr>
              <a:t>/</a:t>
            </a:r>
            <a:r>
              <a:rPr>
                <a:solidFill>
                  <a:srgbClr val="4070A0"/>
                </a:solidFill>
                <a:latin typeface="Courier"/>
              </a:rPr>
              <a:t>^</a:t>
            </a:r>
            <a:r>
              <a:rPr>
                <a:solidFill>
                  <a:srgbClr val="BB6688"/>
                </a:solidFill>
                <a:latin typeface="Courier"/>
              </a:rPr>
              <a:t>https</a:t>
            </a:r>
            <a:r>
              <a:rPr>
                <a:solidFill>
                  <a:srgbClr val="4070A0"/>
                </a:solidFill>
                <a:latin typeface="Courier"/>
              </a:rPr>
              <a:t>?</a:t>
            </a:r>
            <a:r>
              <a:rPr>
                <a:solidFill>
                  <a:srgbClr val="BB6688"/>
                </a:solidFill>
                <a:latin typeface="Courier"/>
              </a:rPr>
              <a:t>:</a:t>
            </a:r>
            <a:r>
              <a:rPr>
                <a:solidFill>
                  <a:srgbClr val="4070A0"/>
                </a:solidFill>
                <a:latin typeface="Courier"/>
              </a:rPr>
              <a:t>\/\/</a:t>
            </a:r>
            <a:r>
              <a:rPr>
                <a:solidFill>
                  <a:srgbClr val="BB6688"/>
                </a:solidFill>
                <a:latin typeface="Courier"/>
              </a:rPr>
              <a:t>192</a:t>
            </a:r>
            <a:r>
              <a:rPr>
                <a:solidFill>
                  <a:srgbClr val="4070A0"/>
                </a:solidFill>
                <a:latin typeface="Courier"/>
              </a:rPr>
              <a:t>\.</a:t>
            </a:r>
            <a:r>
              <a:rPr>
                <a:solidFill>
                  <a:srgbClr val="BB6688"/>
                </a:solidFill>
                <a:latin typeface="Courier"/>
              </a:rPr>
              <a:t>168</a:t>
            </a:r>
            <a:r>
              <a:rPr>
                <a:solidFill>
                  <a:srgbClr val="4070A0"/>
                </a:solidFill>
                <a:latin typeface="Courier"/>
              </a:rPr>
              <a:t>\.</a:t>
            </a:r>
            <a:r>
              <a:rPr>
                <a:solidFill>
                  <a:srgbClr val="BB6688"/>
                </a:solidFill>
                <a:latin typeface="Courier"/>
              </a:rPr>
              <a:t>/</a:t>
            </a:r>
            <a:r>
              <a:rPr>
                <a:solidFill>
                  <a:srgbClr val="666666"/>
                </a:solidFill>
                <a:latin typeface="Courier"/>
              </a:rPr>
              <a:t>,</a:t>
            </a:r>
            <a:br/>
            <a:r>
              <a:rPr>
                <a:latin typeface="Courier"/>
              </a:rPr>
              <a:t>  </a:t>
            </a:r>
            <a:r>
              <a:rPr>
                <a:solidFill>
                  <a:srgbClr val="BB6688"/>
                </a:solidFill>
                <a:latin typeface="Courier"/>
              </a:rPr>
              <a:t>/</a:t>
            </a:r>
            <a:r>
              <a:rPr>
                <a:solidFill>
                  <a:srgbClr val="4070A0"/>
                </a:solidFill>
                <a:latin typeface="Courier"/>
              </a:rPr>
              <a:t>^</a:t>
            </a:r>
            <a:r>
              <a:rPr>
                <a:solidFill>
                  <a:srgbClr val="BB6688"/>
                </a:solidFill>
                <a:latin typeface="Courier"/>
              </a:rPr>
              <a:t>https</a:t>
            </a:r>
            <a:r>
              <a:rPr>
                <a:solidFill>
                  <a:srgbClr val="4070A0"/>
                </a:solidFill>
                <a:latin typeface="Courier"/>
              </a:rPr>
              <a:t>?</a:t>
            </a:r>
            <a:r>
              <a:rPr>
                <a:solidFill>
                  <a:srgbClr val="BB6688"/>
                </a:solidFill>
                <a:latin typeface="Courier"/>
              </a:rPr>
              <a:t>:</a:t>
            </a:r>
            <a:r>
              <a:rPr>
                <a:solidFill>
                  <a:srgbClr val="4070A0"/>
                </a:solidFill>
                <a:latin typeface="Courier"/>
              </a:rPr>
              <a:t>\/\/</a:t>
            </a:r>
            <a:r>
              <a:rPr>
                <a:solidFill>
                  <a:srgbClr val="BB6688"/>
                </a:solidFill>
                <a:latin typeface="Courier"/>
              </a:rPr>
              <a:t>169</a:t>
            </a:r>
            <a:r>
              <a:rPr>
                <a:solidFill>
                  <a:srgbClr val="4070A0"/>
                </a:solidFill>
                <a:latin typeface="Courier"/>
              </a:rPr>
              <a:t>\.</a:t>
            </a:r>
            <a:r>
              <a:rPr>
                <a:solidFill>
                  <a:srgbClr val="BB6688"/>
                </a:solidFill>
                <a:latin typeface="Courier"/>
              </a:rPr>
              <a:t>254</a:t>
            </a:r>
            <a:r>
              <a:rPr>
                <a:solidFill>
                  <a:srgbClr val="4070A0"/>
                </a:solidFill>
                <a:latin typeface="Courier"/>
              </a:rPr>
              <a:t>\.</a:t>
            </a:r>
            <a:r>
              <a:rPr>
                <a:solidFill>
                  <a:srgbClr val="BB6688"/>
                </a:solidFill>
                <a:latin typeface="Courier"/>
              </a:rPr>
              <a:t>169</a:t>
            </a:r>
            <a:r>
              <a:rPr>
                <a:solidFill>
                  <a:srgbClr val="4070A0"/>
                </a:solidFill>
                <a:latin typeface="Courier"/>
              </a:rPr>
              <a:t>\.</a:t>
            </a:r>
            <a:r>
              <a:rPr>
                <a:solidFill>
                  <a:srgbClr val="BB6688"/>
                </a:solidFill>
                <a:latin typeface="Courier"/>
              </a:rPr>
              <a:t>254/</a:t>
            </a:r>
            <a:r>
              <a:rPr>
                <a:solidFill>
                  <a:srgbClr val="666666"/>
                </a:solidFill>
                <a:latin typeface="Courier"/>
              </a:rPr>
              <a:t>,</a:t>
            </a:r>
            <a:r>
              <a:rPr>
                <a:latin typeface="Courier"/>
              </a:rPr>
              <a:t>  </a:t>
            </a:r>
            <a:r>
              <a:rPr i="1">
                <a:solidFill>
                  <a:srgbClr val="60A0B0"/>
                </a:solidFill>
                <a:latin typeface="Courier"/>
              </a:rPr>
              <a:t>// AWS metadata</a:t>
            </a:r>
            <a:br/>
            <a:r>
              <a:rPr>
                <a:latin typeface="Courier"/>
              </a:rPr>
              <a:t>]</a:t>
            </a:r>
            <a:r>
              <a:rPr>
                <a:solidFill>
                  <a:srgbClr val="666666"/>
                </a:solidFill>
                <a:latin typeface="Courier"/>
              </a:rPr>
              <a:t>;</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4.4 Cloud Security Audit</a:t>
            </a:r>
          </a:p>
          <a:p>
            <a:pPr lvl="0" indent="0" marL="0">
              <a:buNone/>
            </a:pPr>
            <a:r>
              <a:rPr b="1"/>
              <a:t>API Endpoint:</a:t>
            </a:r>
            <a:r>
              <a:rPr/>
              <a:t> </a:t>
            </a:r>
            <a:r>
              <a:rPr>
                <a:latin typeface="Courier"/>
              </a:rPr>
              <a:t>POST /api/shieldx/scan-cloud</a:t>
            </a:r>
            <a:br/>
            <a:r>
              <a:rPr b="1"/>
              <a:t>File:</a:t>
            </a:r>
            <a:r>
              <a:rPr/>
              <a:t> </a:t>
            </a:r>
            <a:r>
              <a:rPr>
                <a:latin typeface="Courier"/>
              </a:rPr>
              <a:t>app/api/shieldx/scan-cloud/route.ts</a:t>
            </a:r>
            <a:br/>
            <a:r>
              <a:rPr b="1"/>
              <a:t>Plan Access:</a:t>
            </a:r>
            <a:r>
              <a:rPr/>
              <a:t> Demo (sample Terraform), Pro, Enterprise</a:t>
            </a:r>
            <a:br/>
            <a:r>
              <a:rPr b="1"/>
              <a:t>External APIs:</a:t>
            </a:r>
            <a:r>
              <a:rPr/>
              <a:t> None (fully local, pattern-based analysis)</a:t>
            </a:r>
          </a:p>
          <a:p>
            <a:pPr lvl="0" indent="0" marL="0">
              <a:spcBef>
                <a:spcPts val="3000"/>
              </a:spcBef>
              <a:buNone/>
            </a:pPr>
            <a:r>
              <a:rPr b="1"/>
              <a:t>How It Works</a:t>
            </a:r>
          </a:p>
          <a:p>
            <a:pPr lvl="0" indent="-342900" marL="342900">
              <a:buAutoNum type="arabicPeriod"/>
            </a:pPr>
            <a:r>
              <a:rPr b="1"/>
              <a:t>Input:</a:t>
            </a:r>
            <a:r>
              <a:rPr/>
              <a:t> User pastes cloud infrastructure configuration (Terraform, CloudFormation, JSON/YAML/HCL)</a:t>
            </a:r>
          </a:p>
          <a:p>
            <a:pPr lvl="0" indent="-342900" marL="342900">
              <a:buAutoNum type="arabicPeriod"/>
            </a:pPr>
            <a:r>
              <a:rPr b="1"/>
              <a:t>Pattern Analysis:</a:t>
            </a:r>
            <a:r>
              <a:rPr/>
              <a:t> Runs 18 security checks across 6 categories: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828800"/>
                <a:gridCol w="1460500"/>
                <a:gridCol w="1828800"/>
              </a:tblGrid>
              <a:tr h="0">
                <a:tc>
                  <a:txBody>
                    <a:bodyPr/>
                    <a:lstStyle/>
                    <a:p>
                      <a:pPr lvl="0" indent="0" marL="0">
                        <a:buNone/>
                      </a:pPr>
                      <a:r>
                        <a:rPr/>
                        <a:t>Category</a:t>
                      </a:r>
                    </a:p>
                  </a:txBody>
                  <a:tcPr/>
                </a:tc>
                <a:tc>
                  <a:txBody>
                    <a:bodyPr/>
                    <a:lstStyle/>
                    <a:p>
                      <a:pPr lvl="0" indent="0" marL="0">
                        <a:buNone/>
                      </a:pPr>
                      <a:r>
                        <a:rPr/>
                        <a:t>Checks</a:t>
                      </a:r>
                    </a:p>
                  </a:txBody>
                  <a:tcPr/>
                </a:tc>
                <a:tc>
                  <a:txBody>
                    <a:bodyPr/>
                    <a:lstStyle/>
                    <a:p>
                      <a:pPr lvl="0" indent="0" marL="0">
                        <a:buNone/>
                      </a:pPr>
                      <a:r>
                        <a:rPr/>
                        <a:t>Severity</a:t>
                      </a:r>
                    </a:p>
                  </a:txBody>
                  <a:tcPr/>
                </a:tc>
              </a:tr>
              <a:tr h="0">
                <a:tc>
                  <a:txBody>
                    <a:bodyPr/>
                    <a:lstStyle/>
                    <a:p>
                      <a:pPr lvl="0" indent="0" marL="0">
                        <a:buNone/>
                      </a:pPr>
                      <a:r>
                        <a:rPr b="1"/>
                        <a:t>IAM &amp; Access</a:t>
                      </a:r>
                    </a:p>
                  </a:txBody>
                </a:tc>
                <a:tc>
                  <a:txBody>
                    <a:bodyPr/>
                    <a:lstStyle/>
                    <a:p>
                      <a:pPr lvl="0" indent="0" marL="0">
                        <a:buNone/>
                      </a:pPr>
                      <a:r>
                        <a:rPr/>
                        <a:t>Root access keys, Wildcard (*) permissions, MFA enforcement</a:t>
                      </a:r>
                    </a:p>
                  </a:txBody>
                </a:tc>
                <a:tc>
                  <a:txBody>
                    <a:bodyPr/>
                    <a:lstStyle/>
                    <a:p>
                      <a:pPr lvl="0" indent="0" marL="0">
                        <a:buNone/>
                      </a:pPr>
                      <a:r>
                        <a:rPr/>
                        <a:t>Critical, Critical, High</a:t>
                      </a:r>
                    </a:p>
                  </a:txBody>
                </a:tc>
              </a:tr>
              <a:tr h="0">
                <a:tc>
                  <a:txBody>
                    <a:bodyPr/>
                    <a:lstStyle/>
                    <a:p>
                      <a:pPr lvl="0" indent="0" marL="0">
                        <a:buNone/>
                      </a:pPr>
                      <a:r>
                        <a:rPr b="1"/>
                        <a:t>Encryption</a:t>
                      </a:r>
                    </a:p>
                  </a:txBody>
                </a:tc>
                <a:tc>
                  <a:txBody>
                    <a:bodyPr/>
                    <a:lstStyle/>
                    <a:p>
                      <a:pPr lvl="0" indent="0" marL="0">
                        <a:buNone/>
                      </a:pPr>
                      <a:r>
                        <a:rPr/>
                        <a:t>Encryption at rest, Encryption in transit, KMS key management</a:t>
                      </a:r>
                    </a:p>
                  </a:txBody>
                </a:tc>
                <a:tc>
                  <a:txBody>
                    <a:bodyPr/>
                    <a:lstStyle/>
                    <a:p>
                      <a:pPr lvl="0" indent="0" marL="0">
                        <a:buNone/>
                      </a:pPr>
                      <a:r>
                        <a:rPr/>
                        <a:t>High, High, Medium</a:t>
                      </a:r>
                    </a:p>
                  </a:txBody>
                </a:tc>
              </a:tr>
              <a:tr h="0">
                <a:tc>
                  <a:txBody>
                    <a:bodyPr/>
                    <a:lstStyle/>
                    <a:p>
                      <a:pPr lvl="0" indent="0" marL="0">
                        <a:buNone/>
                      </a:pPr>
                      <a:r>
                        <a:rPr b="1"/>
                        <a:t>Network</a:t>
                      </a:r>
                    </a:p>
                  </a:txBody>
                </a:tc>
                <a:tc>
                  <a:txBody>
                    <a:bodyPr/>
                    <a:lstStyle/>
                    <a:p>
                      <a:pPr lvl="0" indent="0" marL="0">
                        <a:buNone/>
                      </a:pPr>
                      <a:r>
                        <a:rPr/>
                        <a:t>Public access controls, Open sensitive ports, VPC flow logs</a:t>
                      </a:r>
                    </a:p>
                  </a:txBody>
                </a:tc>
                <a:tc>
                  <a:txBody>
                    <a:bodyPr/>
                    <a:lstStyle/>
                    <a:p>
                      <a:pPr lvl="0" indent="0" marL="0">
                        <a:buNone/>
                      </a:pPr>
                      <a:r>
                        <a:rPr/>
                        <a:t>Critical, High, Medium</a:t>
                      </a:r>
                    </a:p>
                  </a:txBody>
                </a:tc>
              </a:tr>
              <a:tr h="0">
                <a:tc>
                  <a:txBody>
                    <a:bodyPr/>
                    <a:lstStyle/>
                    <a:p>
                      <a:pPr lvl="0" indent="0" marL="0">
                        <a:buNone/>
                      </a:pPr>
                      <a:r>
                        <a:rPr b="1"/>
                        <a:t>Logging</a:t>
                      </a:r>
                    </a:p>
                  </a:txBody>
                </a:tc>
                <a:tc>
                  <a:txBody>
                    <a:bodyPr/>
                    <a:lstStyle/>
                    <a:p>
                      <a:pPr lvl="0" indent="0" marL="0">
                        <a:buNone/>
                      </a:pPr>
                      <a:r>
                        <a:rPr/>
                        <a:t>Audit logging (CloudTrail), Security alarms</a:t>
                      </a:r>
                    </a:p>
                  </a:txBody>
                </a:tc>
                <a:tc>
                  <a:txBody>
                    <a:bodyPr/>
                    <a:lstStyle/>
                    <a:p>
                      <a:pPr lvl="0" indent="0" marL="0">
                        <a:buNone/>
                      </a:pPr>
                      <a:r>
                        <a:rPr/>
                        <a:t>High, Medium</a:t>
                      </a:r>
                    </a:p>
                  </a:txBody>
                </a:tc>
              </a:tr>
              <a:tr h="0">
                <a:tc>
                  <a:txBody>
                    <a:bodyPr/>
                    <a:lstStyle/>
                    <a:p>
                      <a:pPr lvl="0" indent="0" marL="0">
                        <a:buNone/>
                      </a:pPr>
                      <a:r>
                        <a:rPr b="1"/>
                        <a:t>Storage</a:t>
                      </a:r>
                    </a:p>
                  </a:txBody>
                </a:tc>
                <a:tc>
                  <a:txBody>
                    <a:bodyPr/>
                    <a:lstStyle/>
                    <a:p>
                      <a:pPr lvl="0" indent="0" marL="0">
                        <a:buNone/>
                      </a:pPr>
                      <a:r>
                        <a:rPr/>
                        <a:t>Public S3/Blob buckets, Versioning</a:t>
                      </a:r>
                    </a:p>
                  </a:txBody>
                </a:tc>
                <a:tc>
                  <a:txBody>
                    <a:bodyPr/>
                    <a:lstStyle/>
                    <a:p>
                      <a:pPr lvl="0" indent="0" marL="0">
                        <a:buNone/>
                      </a:pPr>
                      <a:r>
                        <a:rPr/>
                        <a:t>Critical, Medium</a:t>
                      </a:r>
                    </a:p>
                  </a:txBody>
                </a:tc>
              </a:tr>
              <a:tr h="0">
                <a:tc>
                  <a:txBody>
                    <a:bodyPr/>
                    <a:lstStyle/>
                    <a:p>
                      <a:pPr lvl="0" indent="0" marL="0">
                        <a:buNone/>
                      </a:pPr>
                      <a:r>
                        <a:rPr b="1"/>
                        <a:t>Compute</a:t>
                      </a:r>
                    </a:p>
                  </a:txBody>
                </a:tc>
                <a:tc>
                  <a:txBody>
                    <a:bodyPr/>
                    <a:lstStyle/>
                    <a:p>
                      <a:pPr lvl="0" indent="0" marL="0">
                        <a:buNone/>
                      </a:pPr>
                      <a:r>
                        <a:rPr/>
                        <a:t>IMDSv2 enforcement, Auto-patching</a:t>
                      </a:r>
                    </a:p>
                  </a:txBody>
                </a:tc>
                <a:tc>
                  <a:txBody>
                    <a:bodyPr/>
                    <a:lstStyle/>
                    <a:p>
                      <a:pPr lvl="0" indent="0" marL="0">
                        <a:buNone/>
                      </a:pPr>
                      <a:r>
                        <a:rPr/>
                        <a:t>High, Medium</a:t>
                      </a:r>
                    </a:p>
                  </a:txBody>
                </a:tc>
              </a:tr>
              <a:tr h="0">
                <a:tc>
                  <a:txBody>
                    <a:bodyPr/>
                    <a:lstStyle/>
                    <a:p>
                      <a:pPr lvl="0" indent="0" marL="0">
                        <a:buNone/>
                      </a:pPr>
                      <a:r>
                        <a:rPr b="1"/>
                        <a:t>Credentials</a:t>
                      </a:r>
                    </a:p>
                  </a:txBody>
                </a:tc>
                <a:tc>
                  <a:txBody>
                    <a:bodyPr/>
                    <a:lstStyle/>
                    <a:p>
                      <a:pPr lvl="0" indent="0" marL="0">
                        <a:buNone/>
                      </a:pPr>
                      <a:r>
                        <a:rPr/>
                        <a:t>Hardcoded passwords/secrets in config</a:t>
                      </a:r>
                    </a:p>
                  </a:txBody>
                </a:tc>
                <a:tc>
                  <a:txBody>
                    <a:bodyPr/>
                    <a:lstStyle/>
                    <a:p>
                      <a:pPr lvl="0" indent="0" marL="0">
                        <a:buNone/>
                      </a:pPr>
                      <a:r>
                        <a:rPr/>
                        <a:t>Critical</a:t>
                      </a:r>
                    </a:p>
                  </a:txBody>
                </a:tc>
              </a:tr>
              <a:tr h="0">
                <a:tc>
                  <a:txBody>
                    <a:bodyPr/>
                    <a:lstStyle/>
                    <a:p>
                      <a:pPr lvl="0" indent="0" marL="0">
                        <a:buNone/>
                      </a:pPr>
                      <a:r>
                        <a:rPr b="1"/>
                        <a:t>Configuration</a:t>
                      </a:r>
                    </a:p>
                  </a:txBody>
                </a:tc>
                <a:tc>
                  <a:txBody>
                    <a:bodyPr/>
                    <a:lstStyle/>
                    <a:p>
                      <a:pPr lvl="0" indent="0" marL="0">
                        <a:buNone/>
                      </a:pPr>
                      <a:r>
                        <a:rPr/>
                        <a:t>Debug mode enabled</a:t>
                      </a:r>
                    </a:p>
                  </a:txBody>
                </a:tc>
                <a:tc>
                  <a:txBody>
                    <a:bodyPr/>
                    <a:lstStyle/>
                    <a:p>
                      <a:pPr lvl="0" indent="0" marL="0">
                        <a:buNone/>
                      </a:pPr>
                      <a:r>
                        <a:rPr/>
                        <a:t>Medium</a:t>
                      </a:r>
                    </a:p>
                  </a:txBody>
                </a:tc>
              </a:tr>
              <a:tr h="0">
                <a:tc>
                  <a:txBody>
                    <a:bodyPr/>
                    <a:lstStyle/>
                    <a:p>
                      <a:pPr lvl="0" indent="0" marL="0">
                        <a:buNone/>
                      </a:pPr>
                      <a:r>
                        <a:rPr b="1"/>
                        <a:t>Data Protection</a:t>
                      </a:r>
                    </a:p>
                  </a:txBody>
                </a:tc>
                <a:tc>
                  <a:txBody>
                    <a:bodyPr/>
                    <a:lstStyle/>
                    <a:p>
                      <a:pPr lvl="0" indent="0" marL="0">
                        <a:buNone/>
                      </a:pPr>
                      <a:r>
                        <a:rPr/>
                        <a:t>Backup &amp; retention policy</a:t>
                      </a:r>
                    </a:p>
                  </a:txBody>
                </a:tc>
                <a:tc>
                  <a:txBody>
                    <a:bodyPr/>
                    <a:lstStyle/>
                    <a:p>
                      <a:pPr lvl="0" indent="0" marL="0">
                        <a:buNone/>
                      </a:pPr>
                      <a:r>
                        <a:rPr/>
                        <a:t>Medium</a:t>
                      </a:r>
                    </a:p>
                  </a:txBody>
                </a:tc>
              </a:tr>
            </a:tbl>
          </a:graphicData>
        </a:graphic>
      </p:graphicFrame>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342900" marL="342900">
              <a:buAutoNum startAt="3" type="arabicPeriod"/>
            </a:pPr>
            <a:r>
              <a:rPr b="1"/>
              <a:t>Scoring:</a:t>
            </a:r>
            <a:r>
              <a:rPr/>
              <a:t> Starts at 10, deducts based on severity:</a:t>
            </a:r>
          </a:p>
          <a:p>
            <a:pPr lvl="1"/>
            <a:r>
              <a:rPr/>
              <a:t>Critical failure: -2.0 points</a:t>
            </a:r>
          </a:p>
          <a:p>
            <a:pPr lvl="1"/>
            <a:r>
              <a:rPr/>
              <a:t>High failure: -1.5 points</a:t>
            </a:r>
          </a:p>
          <a:p>
            <a:pPr lvl="1"/>
            <a:r>
              <a:rPr/>
              <a:t>Medium failure: -1.0 points</a:t>
            </a:r>
          </a:p>
          <a:p>
            <a:pPr lvl="1"/>
            <a:r>
              <a:rPr/>
              <a:t>Warning: 40% of failure deduction</a:t>
            </a:r>
          </a:p>
          <a:p>
            <a:pPr lvl="0" indent="-342900" marL="342900">
              <a:buAutoNum startAt="3" type="arabicPeriod"/>
            </a:pPr>
            <a:r>
              <a:rPr b="1"/>
              <a:t>Output:</a:t>
            </a:r>
            <a:r>
              <a:rPr/>
              <a:t> Pass/Fail/Warn for each check with specific remediation detail</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4.5 Threat Log Analyzer</a:t>
            </a:r>
          </a:p>
          <a:p>
            <a:pPr lvl="0" indent="0" marL="0">
              <a:buNone/>
            </a:pPr>
            <a:r>
              <a:rPr b="1"/>
              <a:t>API Endpoint:</a:t>
            </a:r>
            <a:r>
              <a:rPr/>
              <a:t> </a:t>
            </a:r>
            <a:r>
              <a:rPr>
                <a:latin typeface="Courier"/>
              </a:rPr>
              <a:t>POST /api/shieldx/scan-logs</a:t>
            </a:r>
            <a:br/>
            <a:r>
              <a:rPr b="1"/>
              <a:t>File:</a:t>
            </a:r>
            <a:r>
              <a:rPr/>
              <a:t> </a:t>
            </a:r>
            <a:r>
              <a:rPr>
                <a:latin typeface="Courier"/>
              </a:rPr>
              <a:t>app/api/shieldx/scan-logs/route.ts</a:t>
            </a:r>
            <a:br/>
            <a:r>
              <a:rPr b="1"/>
              <a:t>Plan Access:</a:t>
            </a:r>
            <a:r>
              <a:rPr/>
              <a:t> Pro, Enterprise</a:t>
            </a:r>
            <a:br/>
            <a:r>
              <a:rPr b="1"/>
              <a:t>Input Limit:</a:t>
            </a:r>
            <a:r>
              <a:rPr/>
              <a:t> 1 MB</a:t>
            </a:r>
            <a:br/>
            <a:r>
              <a:rPr b="1"/>
              <a:t>Demo:</a:t>
            </a:r>
            <a:r>
              <a:rPr/>
              <a:t> Available (pre-loaded security-incident log sample)</a:t>
            </a:r>
          </a:p>
          <a:p>
            <a:pPr lvl="0" indent="0" marL="0">
              <a:spcBef>
                <a:spcPts val="3000"/>
              </a:spcBef>
              <a:buNone/>
            </a:pPr>
            <a:r>
              <a:rPr b="1"/>
              <a:t>How It Works</a:t>
            </a:r>
          </a:p>
          <a:p>
            <a:pPr lvl="0" indent="0" marL="0">
              <a:buNone/>
            </a:pPr>
            <a:r>
              <a:rPr/>
              <a:t>Analyzes pasted server/application/access logs against 11 threat detection patterns: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393700"/>
                <a:gridCol w="1181100"/>
                <a:gridCol w="1308100"/>
                <a:gridCol w="2222500"/>
              </a:tblGrid>
              <a:tr h="0">
                <a:tc>
                  <a:txBody>
                    <a:bodyPr/>
                    <a:lstStyle/>
                    <a:p>
                      <a:pPr lvl="0" indent="0" marL="0">
                        <a:buNone/>
                      </a:pPr>
                      <a:r>
                        <a:rPr/>
                        <a:t>#</a:t>
                      </a:r>
                    </a:p>
                  </a:txBody>
                  <a:tcPr/>
                </a:tc>
                <a:tc>
                  <a:txBody>
                    <a:bodyPr/>
                    <a:lstStyle/>
                    <a:p>
                      <a:pPr lvl="0" indent="0" marL="0">
                        <a:buNone/>
                      </a:pPr>
                      <a:r>
                        <a:rPr/>
                        <a:t>Pattern</a:t>
                      </a:r>
                    </a:p>
                  </a:txBody>
                  <a:tcPr/>
                </a:tc>
                <a:tc>
                  <a:txBody>
                    <a:bodyPr/>
                    <a:lstStyle/>
                    <a:p>
                      <a:pPr lvl="0" indent="0" marL="0">
                        <a:buNone/>
                      </a:pPr>
                      <a:r>
                        <a:rPr/>
                        <a:t>Severity</a:t>
                      </a:r>
                    </a:p>
                  </a:txBody>
                  <a:tcPr/>
                </a:tc>
                <a:tc>
                  <a:txBody>
                    <a:bodyPr/>
                    <a:lstStyle/>
                    <a:p>
                      <a:pPr lvl="0" indent="0" marL="0">
                        <a:buNone/>
                      </a:pPr>
                      <a:r>
                        <a:rPr/>
                        <a:t>Detection Method</a:t>
                      </a:r>
                    </a:p>
                  </a:txBody>
                  <a:tcPr/>
                </a:tc>
              </a:tr>
              <a:tr h="0">
                <a:tc>
                  <a:txBody>
                    <a:bodyPr/>
                    <a:lstStyle/>
                    <a:p>
                      <a:pPr lvl="0" indent="0" marL="0">
                        <a:buNone/>
                      </a:pPr>
                      <a:r>
                        <a:rPr/>
                        <a:t>1</a:t>
                      </a:r>
                    </a:p>
                  </a:txBody>
                </a:tc>
                <a:tc>
                  <a:txBody>
                    <a:bodyPr/>
                    <a:lstStyle/>
                    <a:p>
                      <a:pPr lvl="0" indent="0" marL="0">
                        <a:buNone/>
                      </a:pPr>
                      <a:r>
                        <a:rPr/>
                        <a:t>Brute Force Attack</a:t>
                      </a:r>
                    </a:p>
                  </a:txBody>
                </a:tc>
                <a:tc>
                  <a:txBody>
                    <a:bodyPr/>
                    <a:lstStyle/>
                    <a:p>
                      <a:pPr lvl="0" indent="0" marL="0">
                        <a:buNone/>
                      </a:pPr>
                      <a:r>
                        <a:rPr/>
                        <a:t>Critical</a:t>
                      </a:r>
                    </a:p>
                  </a:txBody>
                </a:tc>
                <a:tc>
                  <a:txBody>
                    <a:bodyPr/>
                    <a:lstStyle/>
                    <a:p>
                      <a:pPr lvl="0" indent="0" marL="0">
                        <a:buNone/>
                      </a:pPr>
                      <a:r>
                        <a:rPr/>
                        <a:t>5+ failed logins, IP clustering</a:t>
                      </a:r>
                    </a:p>
                  </a:txBody>
                </a:tc>
              </a:tr>
              <a:tr h="0">
                <a:tc>
                  <a:txBody>
                    <a:bodyPr/>
                    <a:lstStyle/>
                    <a:p>
                      <a:pPr lvl="0" indent="0" marL="0">
                        <a:buNone/>
                      </a:pPr>
                      <a:r>
                        <a:rPr/>
                        <a:t>2</a:t>
                      </a:r>
                    </a:p>
                  </a:txBody>
                </a:tc>
                <a:tc>
                  <a:txBody>
                    <a:bodyPr/>
                    <a:lstStyle/>
                    <a:p>
                      <a:pPr lvl="0" indent="0" marL="0">
                        <a:buNone/>
                      </a:pPr>
                      <a:r>
                        <a:rPr/>
                        <a:t>SQL Injection Attempt</a:t>
                      </a:r>
                    </a:p>
                  </a:txBody>
                </a:tc>
                <a:tc>
                  <a:txBody>
                    <a:bodyPr/>
                    <a:lstStyle/>
                    <a:p>
                      <a:pPr lvl="0" indent="0" marL="0">
                        <a:buNone/>
                      </a:pPr>
                      <a:r>
                        <a:rPr/>
                        <a:t>Critical</a:t>
                      </a:r>
                    </a:p>
                  </a:txBody>
                </a:tc>
                <a:tc>
                  <a:txBody>
                    <a:bodyPr/>
                    <a:lstStyle/>
                    <a:p>
                      <a:pPr lvl="0" indent="0" marL="0">
                        <a:buNone/>
                      </a:pPr>
                      <a:r>
                        <a:rPr/>
                        <a:t>UNION SELECT, OR 1=1, SLEEP()</a:t>
                      </a:r>
                    </a:p>
                  </a:txBody>
                </a:tc>
              </a:tr>
              <a:tr h="0">
                <a:tc>
                  <a:txBody>
                    <a:bodyPr/>
                    <a:lstStyle/>
                    <a:p>
                      <a:pPr lvl="0" indent="0" marL="0">
                        <a:buNone/>
                      </a:pPr>
                      <a:r>
                        <a:rPr/>
                        <a:t>3</a:t>
                      </a:r>
                    </a:p>
                  </a:txBody>
                </a:tc>
                <a:tc>
                  <a:txBody>
                    <a:bodyPr/>
                    <a:lstStyle/>
                    <a:p>
                      <a:pPr lvl="0" indent="0" marL="0">
                        <a:buNone/>
                      </a:pPr>
                      <a:r>
                        <a:rPr/>
                        <a:t>Command Injection</a:t>
                      </a:r>
                    </a:p>
                  </a:txBody>
                </a:tc>
                <a:tc>
                  <a:txBody>
                    <a:bodyPr/>
                    <a:lstStyle/>
                    <a:p>
                      <a:pPr lvl="0" indent="0" marL="0">
                        <a:buNone/>
                      </a:pPr>
                      <a:r>
                        <a:rPr/>
                        <a:t>Critical</a:t>
                      </a:r>
                    </a:p>
                  </a:txBody>
                </a:tc>
                <a:tc>
                  <a:txBody>
                    <a:bodyPr/>
                    <a:lstStyle/>
                    <a:p>
                      <a:pPr lvl="0" indent="0" marL="0">
                        <a:buNone/>
                      </a:pPr>
                      <a:r>
                        <a:rPr/>
                        <a:t>Shell metacharacters (;cat, |whoami, backtick)</a:t>
                      </a:r>
                    </a:p>
                  </a:txBody>
                </a:tc>
              </a:tr>
              <a:tr h="0">
                <a:tc>
                  <a:txBody>
                    <a:bodyPr/>
                    <a:lstStyle/>
                    <a:p>
                      <a:pPr lvl="0" indent="0" marL="0">
                        <a:buNone/>
                      </a:pPr>
                      <a:r>
                        <a:rPr/>
                        <a:t>4</a:t>
                      </a:r>
                    </a:p>
                  </a:txBody>
                </a:tc>
                <a:tc>
                  <a:txBody>
                    <a:bodyPr/>
                    <a:lstStyle/>
                    <a:p>
                      <a:pPr lvl="0" indent="0" marL="0">
                        <a:buNone/>
                      </a:pPr>
                      <a:r>
                        <a:rPr/>
                        <a:t>Privilege Escalation</a:t>
                      </a:r>
                    </a:p>
                  </a:txBody>
                </a:tc>
                <a:tc>
                  <a:txBody>
                    <a:bodyPr/>
                    <a:lstStyle/>
                    <a:p>
                      <a:pPr lvl="0" indent="0" marL="0">
                        <a:buNone/>
                      </a:pPr>
                      <a:r>
                        <a:rPr/>
                        <a:t>Critical</a:t>
                      </a:r>
                    </a:p>
                  </a:txBody>
                </a:tc>
                <a:tc>
                  <a:txBody>
                    <a:bodyPr/>
                    <a:lstStyle/>
                    <a:p>
                      <a:pPr lvl="0" indent="0" marL="0">
                        <a:buNone/>
                      </a:pPr>
                      <a:r>
                        <a:rPr/>
                        <a:t>sudo, role changes, setuid</a:t>
                      </a:r>
                    </a:p>
                  </a:txBody>
                </a:tc>
              </a:tr>
              <a:tr h="0">
                <a:tc>
                  <a:txBody>
                    <a:bodyPr/>
                    <a:lstStyle/>
                    <a:p>
                      <a:pPr lvl="0" indent="0" marL="0">
                        <a:buNone/>
                      </a:pPr>
                      <a:r>
                        <a:rPr/>
                        <a:t>5</a:t>
                      </a:r>
                    </a:p>
                  </a:txBody>
                </a:tc>
                <a:tc>
                  <a:txBody>
                    <a:bodyPr/>
                    <a:lstStyle/>
                    <a:p>
                      <a:pPr lvl="0" indent="0" marL="0">
                        <a:buNone/>
                      </a:pPr>
                      <a:r>
                        <a:rPr/>
                        <a:t>XSS Attempt</a:t>
                      </a:r>
                    </a:p>
                  </a:txBody>
                </a:tc>
                <a:tc>
                  <a:txBody>
                    <a:bodyPr/>
                    <a:lstStyle/>
                    <a:p>
                      <a:pPr lvl="0" indent="0" marL="0">
                        <a:buNone/>
                      </a:pPr>
                      <a:r>
                        <a:rPr/>
                        <a:t>High</a:t>
                      </a:r>
                    </a:p>
                  </a:txBody>
                </a:tc>
                <a:tc>
                  <a:txBody>
                    <a:bodyPr/>
                    <a:lstStyle/>
                    <a:p>
                      <a:pPr lvl="0" indent="0" marL="0">
                        <a:buNone/>
                      </a:pPr>
                      <a:r>
                        <a:rPr>
                          <a:latin typeface="Courier"/>
                        </a:rPr>
                        <a:t>&lt;script&gt;</a:t>
                      </a:r>
                      <a:r>
                        <a:rPr/>
                        <a:t>, javascript:, onerror=</a:t>
                      </a:r>
                    </a:p>
                  </a:txBody>
                </a:tc>
              </a:tr>
              <a:tr h="0">
                <a:tc>
                  <a:txBody>
                    <a:bodyPr/>
                    <a:lstStyle/>
                    <a:p>
                      <a:pPr lvl="0" indent="0" marL="0">
                        <a:buNone/>
                      </a:pPr>
                      <a:r>
                        <a:rPr/>
                        <a:t>6</a:t>
                      </a:r>
                    </a:p>
                  </a:txBody>
                </a:tc>
                <a:tc>
                  <a:txBody>
                    <a:bodyPr/>
                    <a:lstStyle/>
                    <a:p>
                      <a:pPr lvl="0" indent="0" marL="0">
                        <a:buNone/>
                      </a:pPr>
                      <a:r>
                        <a:rPr/>
                        <a:t>Path Traversal</a:t>
                      </a:r>
                    </a:p>
                  </a:txBody>
                </a:tc>
                <a:tc>
                  <a:txBody>
                    <a:bodyPr/>
                    <a:lstStyle/>
                    <a:p>
                      <a:pPr lvl="0" indent="0" marL="0">
                        <a:buNone/>
                      </a:pPr>
                      <a:r>
                        <a:rPr/>
                        <a:t>High</a:t>
                      </a:r>
                    </a:p>
                  </a:txBody>
                </a:tc>
                <a:tc>
                  <a:txBody>
                    <a:bodyPr/>
                    <a:lstStyle/>
                    <a:p>
                      <a:pPr lvl="0" indent="0" marL="0">
                        <a:buNone/>
                      </a:pPr>
                      <a:r>
                        <a:rPr/>
                        <a:t>../../etc/passwd, directory sequences</a:t>
                      </a:r>
                    </a:p>
                  </a:txBody>
                </a:tc>
              </a:tr>
              <a:tr h="0">
                <a:tc>
                  <a:txBody>
                    <a:bodyPr/>
                    <a:lstStyle/>
                    <a:p>
                      <a:pPr lvl="0" indent="0" marL="0">
                        <a:buNone/>
                      </a:pPr>
                      <a:r>
                        <a:rPr/>
                        <a:t>7</a:t>
                      </a:r>
                    </a:p>
                  </a:txBody>
                </a:tc>
                <a:tc>
                  <a:txBody>
                    <a:bodyPr/>
                    <a:lstStyle/>
                    <a:p>
                      <a:pPr lvl="0" indent="0" marL="0">
                        <a:buNone/>
                      </a:pPr>
                      <a:r>
                        <a:rPr/>
                        <a:t>Data Exfiltration</a:t>
                      </a:r>
                    </a:p>
                  </a:txBody>
                </a:tc>
                <a:tc>
                  <a:txBody>
                    <a:bodyPr/>
                    <a:lstStyle/>
                    <a:p>
                      <a:pPr lvl="0" indent="0" marL="0">
                        <a:buNone/>
                      </a:pPr>
                      <a:r>
                        <a:rPr/>
                        <a:t>High</a:t>
                      </a:r>
                    </a:p>
                  </a:txBody>
                </a:tc>
                <a:tc>
                  <a:txBody>
                    <a:bodyPr/>
                    <a:lstStyle/>
                    <a:p>
                      <a:pPr lvl="0" indent="0" marL="0">
                        <a:buNone/>
                      </a:pPr>
                      <a:r>
                        <a:rPr/>
                        <a:t>mysqldump, curl|sh, cloud uploads</a:t>
                      </a:r>
                    </a:p>
                  </a:txBody>
                </a:tc>
              </a:tr>
              <a:tr h="0">
                <a:tc>
                  <a:txBody>
                    <a:bodyPr/>
                    <a:lstStyle/>
                    <a:p>
                      <a:pPr lvl="0" indent="0" marL="0">
                        <a:buNone/>
                      </a:pPr>
                      <a:r>
                        <a:rPr/>
                        <a:t>8</a:t>
                      </a:r>
                    </a:p>
                  </a:txBody>
                </a:tc>
                <a:tc>
                  <a:txBody>
                    <a:bodyPr/>
                    <a:lstStyle/>
                    <a:p>
                      <a:pPr lvl="0" indent="0" marL="0">
                        <a:buNone/>
                      </a:pPr>
                      <a:r>
                        <a:rPr/>
                        <a:t>Sensitive Data in Logs</a:t>
                      </a:r>
                    </a:p>
                  </a:txBody>
                </a:tc>
                <a:tc>
                  <a:txBody>
                    <a:bodyPr/>
                    <a:lstStyle/>
                    <a:p>
                      <a:pPr lvl="0" indent="0" marL="0">
                        <a:buNone/>
                      </a:pPr>
                      <a:r>
                        <a:rPr/>
                        <a:t>High</a:t>
                      </a:r>
                    </a:p>
                  </a:txBody>
                </a:tc>
                <a:tc>
                  <a:txBody>
                    <a:bodyPr/>
                    <a:lstStyle/>
                    <a:p>
                      <a:pPr lvl="0" indent="0" marL="0">
                        <a:buNone/>
                      </a:pPr>
                      <a:r>
                        <a:rPr/>
                        <a:t>Passwords, credit cards, bearer tokens</a:t>
                      </a:r>
                    </a:p>
                  </a:txBody>
                </a:tc>
              </a:tr>
              <a:tr h="0">
                <a:tc>
                  <a:txBody>
                    <a:bodyPr/>
                    <a:lstStyle/>
                    <a:p>
                      <a:pPr lvl="0" indent="0" marL="0">
                        <a:buNone/>
                      </a:pPr>
                      <a:r>
                        <a:rPr/>
                        <a:t>9</a:t>
                      </a:r>
                    </a:p>
                  </a:txBody>
                </a:tc>
                <a:tc>
                  <a:txBody>
                    <a:bodyPr/>
                    <a:lstStyle/>
                    <a:p>
                      <a:pPr lvl="0" indent="0" marL="0">
                        <a:buNone/>
                      </a:pPr>
                      <a:r>
                        <a:rPr/>
                        <a:t>High-Frequency IP</a:t>
                      </a:r>
                    </a:p>
                  </a:txBody>
                </a:tc>
                <a:tc>
                  <a:txBody>
                    <a:bodyPr/>
                    <a:lstStyle/>
                    <a:p>
                      <a:pPr lvl="0" indent="0" marL="0">
                        <a:buNone/>
                      </a:pPr>
                      <a:r>
                        <a:rPr/>
                        <a:t>Medium</a:t>
                      </a:r>
                    </a:p>
                  </a:txBody>
                </a:tc>
                <a:tc>
                  <a:txBody>
                    <a:bodyPr/>
                    <a:lstStyle/>
                    <a:p>
                      <a:pPr lvl="0" indent="0" marL="0">
                        <a:buNone/>
                      </a:pPr>
                      <a:r>
                        <a:rPr/>
                        <a:t>IPs with &gt;30% of total requests</a:t>
                      </a:r>
                    </a:p>
                  </a:txBody>
                </a:tc>
              </a:tr>
              <a:tr h="0">
                <a:tc>
                  <a:txBody>
                    <a:bodyPr/>
                    <a:lstStyle/>
                    <a:p>
                      <a:pPr lvl="0" indent="0" marL="0">
                        <a:buNone/>
                      </a:pPr>
                      <a:r>
                        <a:rPr/>
                        <a:t>10</a:t>
                      </a:r>
                    </a:p>
                  </a:txBody>
                </a:tc>
                <a:tc>
                  <a:txBody>
                    <a:bodyPr/>
                    <a:lstStyle/>
                    <a:p>
                      <a:pPr lvl="0" indent="0" marL="0">
                        <a:buNone/>
                      </a:pPr>
                      <a:r>
                        <a:rPr/>
                        <a:t>Error Rate Spike</a:t>
                      </a:r>
                    </a:p>
                  </a:txBody>
                </a:tc>
                <a:tc>
                  <a:txBody>
                    <a:bodyPr/>
                    <a:lstStyle/>
                    <a:p>
                      <a:pPr lvl="0" indent="0" marL="0">
                        <a:buNone/>
                      </a:pPr>
                      <a:r>
                        <a:rPr/>
                        <a:t>Medium</a:t>
                      </a:r>
                    </a:p>
                  </a:txBody>
                </a:tc>
                <a:tc>
                  <a:txBody>
                    <a:bodyPr/>
                    <a:lstStyle/>
                    <a:p>
                      <a:pPr lvl="0" indent="0" marL="0">
                        <a:buNone/>
                      </a:pPr>
                      <a:r>
                        <a:rPr/>
                        <a:t>500/502/503/504 errors &gt;20% rate</a:t>
                      </a:r>
                    </a:p>
                  </a:txBody>
                </a:tc>
              </a:tr>
              <a:tr h="0">
                <a:tc>
                  <a:txBody>
                    <a:bodyPr/>
                    <a:lstStyle/>
                    <a:p>
                      <a:pPr lvl="0" indent="0" marL="0">
                        <a:buNone/>
                      </a:pPr>
                      <a:r>
                        <a:rPr/>
                        <a:t>11</a:t>
                      </a:r>
                    </a:p>
                  </a:txBody>
                </a:tc>
                <a:tc>
                  <a:txBody>
                    <a:bodyPr/>
                    <a:lstStyle/>
                    <a:p>
                      <a:pPr lvl="0" indent="0" marL="0">
                        <a:buNone/>
                      </a:pPr>
                      <a:r>
                        <a:rPr/>
                        <a:t>Off-Hours Activity</a:t>
                      </a:r>
                    </a:p>
                  </a:txBody>
                </a:tc>
                <a:tc>
                  <a:txBody>
                    <a:bodyPr/>
                    <a:lstStyle/>
                    <a:p>
                      <a:pPr lvl="0" indent="0" marL="0">
                        <a:buNone/>
                      </a:pPr>
                      <a:r>
                        <a:rPr/>
                        <a:t>Low</a:t>
                      </a:r>
                    </a:p>
                  </a:txBody>
                </a:tc>
                <a:tc>
                  <a:txBody>
                    <a:bodyPr/>
                    <a:lstStyle/>
                    <a:p>
                      <a:pPr lvl="0" indent="0" marL="0">
                        <a:buNone/>
                      </a:pPr>
                      <a:r>
                        <a:rPr/>
                        <a:t>Activity between 00:00–05:59</a:t>
                      </a:r>
                    </a:p>
                  </a:txBody>
                </a:tc>
              </a:tr>
            </a:tbl>
          </a:graphicData>
        </a:graphic>
      </p:graphicFrame>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Request / Response</a:t>
            </a:r>
          </a:p>
          <a:p>
            <a:pPr lvl="0" indent="0">
              <a:buNone/>
            </a:pPr>
            <a:r>
              <a:rPr b="1">
                <a:solidFill>
                  <a:srgbClr val="FF0000"/>
                </a:solidFill>
                <a:latin typeface="Courier"/>
              </a:rPr>
              <a:t>//</a:t>
            </a:r>
            <a:r>
              <a:rPr>
                <a:latin typeface="Courier"/>
              </a:rPr>
              <a:t> </a:t>
            </a:r>
            <a:r>
              <a:rPr b="1">
                <a:solidFill>
                  <a:srgbClr val="FF0000"/>
                </a:solidFill>
                <a:latin typeface="Courier"/>
              </a:rPr>
              <a:t>Request</a:t>
            </a:r>
            <a:br/>
            <a:r>
              <a:rPr>
                <a:solidFill>
                  <a:srgbClr val="06287E"/>
                </a:solidFill>
                <a:latin typeface="Courier"/>
              </a:rPr>
              <a:t>{</a:t>
            </a:r>
            <a:r>
              <a:rPr>
                <a:latin typeface="Courier"/>
              </a:rPr>
              <a:t> </a:t>
            </a:r>
            <a:r>
              <a:rPr>
                <a:solidFill>
                  <a:srgbClr val="902000"/>
                </a:solidFill>
                <a:latin typeface="Courier"/>
              </a:rPr>
              <a:t>"logs"</a:t>
            </a:r>
            <a:r>
              <a:rPr>
                <a:solidFill>
                  <a:srgbClr val="06287E"/>
                </a:solidFill>
                <a:latin typeface="Courier"/>
              </a:rPr>
              <a:t>:</a:t>
            </a:r>
            <a:r>
              <a:rPr>
                <a:latin typeface="Courier"/>
              </a:rPr>
              <a:t> </a:t>
            </a:r>
            <a:r>
              <a:rPr>
                <a:solidFill>
                  <a:srgbClr val="4070A0"/>
                </a:solidFill>
                <a:latin typeface="Courier"/>
              </a:rPr>
              <a:t>"2026-03-20 02:14:33 [INFO] ... POST /api/login - 401 Unauthorized ..."</a:t>
            </a:r>
            <a:r>
              <a:rPr>
                <a:latin typeface="Courier"/>
              </a:rPr>
              <a:t> </a:t>
            </a:r>
            <a:r>
              <a:rPr>
                <a:solidFill>
                  <a:srgbClr val="06287E"/>
                </a:solidFill>
                <a:latin typeface="Courier"/>
              </a:rPr>
              <a:t>}</a:t>
            </a:r>
            <a:br/>
            <a:br/>
            <a:r>
              <a:rPr b="1">
                <a:solidFill>
                  <a:srgbClr val="FF0000"/>
                </a:solidFill>
                <a:latin typeface="Courier"/>
              </a:rPr>
              <a:t>//</a:t>
            </a:r>
            <a:r>
              <a:rPr>
                <a:latin typeface="Courier"/>
              </a:rPr>
              <a:t> </a:t>
            </a:r>
            <a:r>
              <a:rPr b="1">
                <a:solidFill>
                  <a:srgbClr val="FF0000"/>
                </a:solidFill>
                <a:latin typeface="Courier"/>
              </a:rPr>
              <a:t>Response</a:t>
            </a:r>
            <a:br/>
            <a:r>
              <a:rPr>
                <a:solidFill>
                  <a:srgbClr val="06287E"/>
                </a:solidFill>
                <a:latin typeface="Courier"/>
              </a:rPr>
              <a:t>{</a:t>
            </a:r>
            <a:br/>
            <a:r>
              <a:rPr>
                <a:latin typeface="Courier"/>
              </a:rPr>
              <a:t>  </a:t>
            </a:r>
            <a:r>
              <a:rPr>
                <a:solidFill>
                  <a:srgbClr val="902000"/>
                </a:solidFill>
                <a:latin typeface="Courier"/>
              </a:rPr>
              <a:t>"mode"</a:t>
            </a:r>
            <a:r>
              <a:rPr>
                <a:solidFill>
                  <a:srgbClr val="06287E"/>
                </a:solidFill>
                <a:latin typeface="Courier"/>
              </a:rPr>
              <a:t>:</a:t>
            </a:r>
            <a:r>
              <a:rPr>
                <a:latin typeface="Courier"/>
              </a:rPr>
              <a:t> </a:t>
            </a:r>
            <a:r>
              <a:rPr>
                <a:solidFill>
                  <a:srgbClr val="4070A0"/>
                </a:solidFill>
                <a:latin typeface="Courier"/>
              </a:rPr>
              <a:t>"paid"</a:t>
            </a:r>
            <a:r>
              <a:rPr>
                <a:solidFill>
                  <a:srgbClr val="06287E"/>
                </a:solidFill>
                <a:latin typeface="Courier"/>
              </a:rPr>
              <a:t>,</a:t>
            </a:r>
            <a:br/>
            <a:r>
              <a:rPr>
                <a:latin typeface="Courier"/>
              </a:rPr>
              <a:t>  </a:t>
            </a:r>
            <a:r>
              <a:rPr>
                <a:solidFill>
                  <a:srgbClr val="902000"/>
                </a:solidFill>
                <a:latin typeface="Courier"/>
              </a:rPr>
              <a:t>"findings"</a:t>
            </a:r>
            <a:r>
              <a:rPr>
                <a:solidFill>
                  <a:srgbClr val="06287E"/>
                </a:solidFill>
                <a:latin typeface="Courier"/>
              </a:rPr>
              <a:t>:</a:t>
            </a:r>
            <a:r>
              <a:rPr>
                <a:latin typeface="Courier"/>
              </a:rPr>
              <a:t> </a:t>
            </a:r>
            <a:r>
              <a:rPr>
                <a:solidFill>
                  <a:srgbClr val="007020"/>
                </a:solidFill>
                <a:latin typeface="Courier"/>
              </a:rPr>
              <a:t>[</a:t>
            </a:r>
            <a:br/>
            <a:r>
              <a:rPr>
                <a:latin typeface="Courier"/>
              </a:rPr>
              <a:t>    </a:t>
            </a:r>
            <a:r>
              <a:rPr>
                <a:solidFill>
                  <a:srgbClr val="06287E"/>
                </a:solidFill>
                <a:latin typeface="Courier"/>
              </a:rPr>
              <a:t>{</a:t>
            </a:r>
            <a:br/>
            <a:r>
              <a:rPr>
                <a:latin typeface="Courier"/>
              </a:rPr>
              <a:t>      </a:t>
            </a:r>
            <a:r>
              <a:rPr>
                <a:solidFill>
                  <a:srgbClr val="902000"/>
                </a:solidFill>
                <a:latin typeface="Courier"/>
              </a:rPr>
              <a:t>"patternId"</a:t>
            </a:r>
            <a:r>
              <a:rPr>
                <a:solidFill>
                  <a:srgbClr val="06287E"/>
                </a:solidFill>
                <a:latin typeface="Courier"/>
              </a:rPr>
              <a:t>:</a:t>
            </a:r>
            <a:r>
              <a:rPr>
                <a:latin typeface="Courier"/>
              </a:rPr>
              <a:t> </a:t>
            </a:r>
            <a:r>
              <a:rPr>
                <a:solidFill>
                  <a:srgbClr val="4070A0"/>
                </a:solidFill>
                <a:latin typeface="Courier"/>
              </a:rPr>
              <a:t>"brute-force"</a:t>
            </a:r>
            <a:r>
              <a:rPr>
                <a:solidFill>
                  <a:srgbClr val="06287E"/>
                </a:solidFill>
                <a:latin typeface="Courier"/>
              </a:rPr>
              <a:t>,</a:t>
            </a:r>
            <a:br/>
            <a:r>
              <a:rPr>
                <a:latin typeface="Courier"/>
              </a:rPr>
              <a:t>      </a:t>
            </a:r>
            <a:r>
              <a:rPr>
                <a:solidFill>
                  <a:srgbClr val="902000"/>
                </a:solidFill>
                <a:latin typeface="Courier"/>
              </a:rPr>
              <a:t>"name"</a:t>
            </a:r>
            <a:r>
              <a:rPr>
                <a:solidFill>
                  <a:srgbClr val="06287E"/>
                </a:solidFill>
                <a:latin typeface="Courier"/>
              </a:rPr>
              <a:t>:</a:t>
            </a:r>
            <a:r>
              <a:rPr>
                <a:latin typeface="Courier"/>
              </a:rPr>
              <a:t> </a:t>
            </a:r>
            <a:r>
              <a:rPr>
                <a:solidFill>
                  <a:srgbClr val="4070A0"/>
                </a:solidFill>
                <a:latin typeface="Courier"/>
              </a:rPr>
              <a:t>"Brute Force Attack"</a:t>
            </a:r>
            <a:r>
              <a:rPr>
                <a:solidFill>
                  <a:srgbClr val="06287E"/>
                </a:solidFill>
                <a:latin typeface="Courier"/>
              </a:rPr>
              <a:t>,</a:t>
            </a:r>
            <a:br/>
            <a:r>
              <a:rPr>
                <a:latin typeface="Courier"/>
              </a:rPr>
              <a:t>      </a:t>
            </a:r>
            <a:r>
              <a:rPr>
                <a:solidFill>
                  <a:srgbClr val="902000"/>
                </a:solidFill>
                <a:latin typeface="Courier"/>
              </a:rPr>
              <a:t>"category"</a:t>
            </a:r>
            <a:r>
              <a:rPr>
                <a:solidFill>
                  <a:srgbClr val="06287E"/>
                </a:solidFill>
                <a:latin typeface="Courier"/>
              </a:rPr>
              <a:t>:</a:t>
            </a:r>
            <a:r>
              <a:rPr>
                <a:latin typeface="Courier"/>
              </a:rPr>
              <a:t> </a:t>
            </a:r>
            <a:r>
              <a:rPr>
                <a:solidFill>
                  <a:srgbClr val="4070A0"/>
                </a:solidFill>
                <a:latin typeface="Courier"/>
              </a:rPr>
              <a:t>"Authentication"</a:t>
            </a:r>
            <a:r>
              <a:rPr>
                <a:solidFill>
                  <a:srgbClr val="06287E"/>
                </a:solidFill>
                <a:latin typeface="Courier"/>
              </a:rPr>
              <a:t>,</a:t>
            </a:r>
            <a:br/>
            <a:r>
              <a:rPr>
                <a:latin typeface="Courier"/>
              </a:rPr>
              <a:t>      </a:t>
            </a:r>
            <a:r>
              <a:rPr>
                <a:solidFill>
                  <a:srgbClr val="902000"/>
                </a:solidFill>
                <a:latin typeface="Courier"/>
              </a:rPr>
              <a:t>"severity"</a:t>
            </a:r>
            <a:r>
              <a:rPr>
                <a:solidFill>
                  <a:srgbClr val="06287E"/>
                </a:solidFill>
                <a:latin typeface="Courier"/>
              </a:rPr>
              <a:t>:</a:t>
            </a:r>
            <a:r>
              <a:rPr>
                <a:latin typeface="Courier"/>
              </a:rPr>
              <a:t> </a:t>
            </a:r>
            <a:r>
              <a:rPr>
                <a:solidFill>
                  <a:srgbClr val="4070A0"/>
                </a:solidFill>
                <a:latin typeface="Courier"/>
              </a:rPr>
              <a:t>"critical"</a:t>
            </a:r>
            <a:r>
              <a:rPr>
                <a:solidFill>
                  <a:srgbClr val="06287E"/>
                </a:solidFill>
                <a:latin typeface="Courier"/>
              </a:rPr>
              <a:t>,</a:t>
            </a:r>
            <a:br/>
            <a:r>
              <a:rPr>
                <a:latin typeface="Courier"/>
              </a:rPr>
              <a:t>      </a:t>
            </a:r>
            <a:r>
              <a:rPr>
                <a:solidFill>
                  <a:srgbClr val="902000"/>
                </a:solidFill>
                <a:latin typeface="Courier"/>
              </a:rPr>
              <a:t>"evidence"</a:t>
            </a:r>
            <a:r>
              <a:rPr>
                <a:solidFill>
                  <a:srgbClr val="06287E"/>
                </a:solidFill>
                <a:latin typeface="Courier"/>
              </a:rPr>
              <a:t>:</a:t>
            </a:r>
            <a:r>
              <a:rPr>
                <a:latin typeface="Courier"/>
              </a:rPr>
              <a:t> </a:t>
            </a:r>
            <a:r>
              <a:rPr>
                <a:solidFill>
                  <a:srgbClr val="007020"/>
                </a:solidFill>
                <a:latin typeface="Courier"/>
              </a:rPr>
              <a:t>[</a:t>
            </a:r>
            <a:r>
              <a:rPr>
                <a:solidFill>
                  <a:srgbClr val="4070A0"/>
                </a:solidFill>
                <a:latin typeface="Courier"/>
              </a:rPr>
              <a:t>"192.168.1.105 - POST /api/login - 401 Unauthorized ..."</a:t>
            </a:r>
            <a:r>
              <a:rPr>
                <a:solidFill>
                  <a:srgbClr val="007020"/>
                </a:solidFill>
                <a:latin typeface="Courier"/>
              </a:rPr>
              <a:t>]</a:t>
            </a:r>
            <a:r>
              <a:rPr>
                <a:solidFill>
                  <a:srgbClr val="06287E"/>
                </a:solidFill>
                <a:latin typeface="Courier"/>
              </a:rPr>
              <a:t>,</a:t>
            </a:r>
            <a:br/>
            <a:r>
              <a:rPr>
                <a:latin typeface="Courier"/>
              </a:rPr>
              <a:t>      </a:t>
            </a:r>
            <a:r>
              <a:rPr>
                <a:solidFill>
                  <a:srgbClr val="902000"/>
                </a:solidFill>
                <a:latin typeface="Courier"/>
              </a:rPr>
              <a:t>"count"</a:t>
            </a:r>
            <a:r>
              <a:rPr>
                <a:solidFill>
                  <a:srgbClr val="06287E"/>
                </a:solidFill>
                <a:latin typeface="Courier"/>
              </a:rPr>
              <a:t>:</a:t>
            </a:r>
            <a:r>
              <a:rPr>
                <a:latin typeface="Courier"/>
              </a:rPr>
              <a:t> </a:t>
            </a:r>
            <a:r>
              <a:rPr>
                <a:solidFill>
                  <a:srgbClr val="40A070"/>
                </a:solidFill>
                <a:latin typeface="Courier"/>
              </a:rPr>
              <a:t>6</a:t>
            </a:r>
            <a:r>
              <a:rPr>
                <a:solidFill>
                  <a:srgbClr val="06287E"/>
                </a:solidFill>
                <a:latin typeface="Courier"/>
              </a:rPr>
              <a:t>,</a:t>
            </a:r>
            <a:br/>
            <a:r>
              <a:rPr>
                <a:latin typeface="Courier"/>
              </a:rPr>
              <a:t>      </a:t>
            </a:r>
            <a:r>
              <a:rPr>
                <a:solidFill>
                  <a:srgbClr val="902000"/>
                </a:solidFill>
                <a:latin typeface="Courier"/>
              </a:rPr>
              <a:t>"detail"</a:t>
            </a:r>
            <a:r>
              <a:rPr>
                <a:solidFill>
                  <a:srgbClr val="06287E"/>
                </a:solidFill>
                <a:latin typeface="Courier"/>
              </a:rPr>
              <a:t>:</a:t>
            </a:r>
            <a:r>
              <a:rPr>
                <a:latin typeface="Courier"/>
              </a:rPr>
              <a:t> </a:t>
            </a:r>
            <a:r>
              <a:rPr>
                <a:solidFill>
                  <a:srgbClr val="4070A0"/>
                </a:solidFill>
                <a:latin typeface="Courier"/>
              </a:rPr>
              <a:t>"6 failed login attempts from IP 192.168.1.105"</a:t>
            </a:r>
            <a:r>
              <a:rPr>
                <a:solidFill>
                  <a:srgbClr val="06287E"/>
                </a:solidFill>
                <a:latin typeface="Courier"/>
              </a:rPr>
              <a:t>,</a:t>
            </a:r>
            <a:br/>
            <a:r>
              <a:rPr>
                <a:latin typeface="Courier"/>
              </a:rPr>
              <a:t>      </a:t>
            </a:r>
            <a:r>
              <a:rPr>
                <a:solidFill>
                  <a:srgbClr val="902000"/>
                </a:solidFill>
                <a:latin typeface="Courier"/>
              </a:rPr>
              <a:t>"remediation"</a:t>
            </a:r>
            <a:r>
              <a:rPr>
                <a:solidFill>
                  <a:srgbClr val="06287E"/>
                </a:solidFill>
                <a:latin typeface="Courier"/>
              </a:rPr>
              <a:t>:</a:t>
            </a:r>
            <a:r>
              <a:rPr>
                <a:latin typeface="Courier"/>
              </a:rPr>
              <a:t> </a:t>
            </a:r>
            <a:r>
              <a:rPr>
                <a:solidFill>
                  <a:srgbClr val="4070A0"/>
                </a:solidFill>
                <a:latin typeface="Courier"/>
              </a:rPr>
              <a:t>"Implement account lockout after 5 failed attempts..."</a:t>
            </a:r>
            <a:br/>
            <a:r>
              <a:rPr>
                <a:latin typeface="Courier"/>
              </a:rPr>
              <a:t>    </a:t>
            </a:r>
            <a:r>
              <a:rPr>
                <a:solidFill>
                  <a:srgbClr val="06287E"/>
                </a:solidFill>
                <a:latin typeface="Courier"/>
              </a:rPr>
              <a:t>}</a:t>
            </a:r>
            <a:br/>
            <a:r>
              <a:rPr>
                <a:latin typeface="Courier"/>
              </a:rPr>
              <a:t>  </a:t>
            </a:r>
            <a:r>
              <a:rPr>
                <a:solidFill>
                  <a:srgbClr val="007020"/>
                </a:solidFill>
                <a:latin typeface="Courier"/>
              </a:rPr>
              <a:t>]</a:t>
            </a:r>
            <a:r>
              <a:rPr>
                <a:solidFill>
                  <a:srgbClr val="06287E"/>
                </a:solidFill>
                <a:latin typeface="Courier"/>
              </a:rPr>
              <a:t>,</a:t>
            </a:r>
            <a:br/>
            <a:r>
              <a:rPr>
                <a:latin typeface="Courier"/>
              </a:rPr>
              <a:t>  </a:t>
            </a:r>
            <a:r>
              <a:rPr>
                <a:solidFill>
                  <a:srgbClr val="902000"/>
                </a:solidFill>
                <a:latin typeface="Courier"/>
              </a:rPr>
              <a:t>"stats"</a:t>
            </a:r>
            <a:r>
              <a:rPr>
                <a:solidFill>
                  <a:srgbClr val="06287E"/>
                </a:solidFill>
                <a:latin typeface="Courier"/>
              </a:rPr>
              <a:t>:</a:t>
            </a:r>
            <a:r>
              <a:rPr>
                <a:latin typeface="Courier"/>
              </a:rPr>
              <a:t> </a:t>
            </a:r>
            <a:r>
              <a:rPr>
                <a:solidFill>
                  <a:srgbClr val="06287E"/>
                </a:solidFill>
                <a:latin typeface="Courier"/>
              </a:rPr>
              <a:t>{</a:t>
            </a:r>
            <a:r>
              <a:rPr>
                <a:latin typeface="Courier"/>
              </a:rPr>
              <a:t> </a:t>
            </a:r>
            <a:r>
              <a:rPr>
                <a:solidFill>
                  <a:srgbClr val="902000"/>
                </a:solidFill>
                <a:latin typeface="Courier"/>
              </a:rPr>
              <a:t>"critical"</a:t>
            </a:r>
            <a:r>
              <a:rPr>
                <a:solidFill>
                  <a:srgbClr val="06287E"/>
                </a:solidFill>
                <a:latin typeface="Courier"/>
              </a:rPr>
              <a:t>:</a:t>
            </a:r>
            <a:r>
              <a:rPr>
                <a:latin typeface="Courier"/>
              </a:rPr>
              <a:t> </a:t>
            </a:r>
            <a:r>
              <a:rPr>
                <a:solidFill>
                  <a:srgbClr val="40A070"/>
                </a:solidFill>
                <a:latin typeface="Courier"/>
              </a:rPr>
              <a:t>2</a:t>
            </a:r>
            <a:r>
              <a:rPr>
                <a:solidFill>
                  <a:srgbClr val="06287E"/>
                </a:solidFill>
                <a:latin typeface="Courier"/>
              </a:rPr>
              <a:t>,</a:t>
            </a:r>
            <a:r>
              <a:rPr>
                <a:latin typeface="Courier"/>
              </a:rPr>
              <a:t> </a:t>
            </a:r>
            <a:r>
              <a:rPr>
                <a:solidFill>
                  <a:srgbClr val="902000"/>
                </a:solidFill>
                <a:latin typeface="Courier"/>
              </a:rPr>
              <a:t>"high"</a:t>
            </a:r>
            <a:r>
              <a:rPr>
                <a:solidFill>
                  <a:srgbClr val="06287E"/>
                </a:solidFill>
                <a:latin typeface="Courier"/>
              </a:rPr>
              <a:t>:</a:t>
            </a:r>
            <a:r>
              <a:rPr>
                <a:latin typeface="Courier"/>
              </a:rPr>
              <a:t> </a:t>
            </a:r>
            <a:r>
              <a:rPr>
                <a:solidFill>
                  <a:srgbClr val="40A070"/>
                </a:solidFill>
                <a:latin typeface="Courier"/>
              </a:rPr>
              <a:t>3</a:t>
            </a:r>
            <a:r>
              <a:rPr>
                <a:solidFill>
                  <a:srgbClr val="06287E"/>
                </a:solidFill>
                <a:latin typeface="Courier"/>
              </a:rPr>
              <a:t>,</a:t>
            </a:r>
            <a:r>
              <a:rPr>
                <a:latin typeface="Courier"/>
              </a:rPr>
              <a:t> </a:t>
            </a:r>
            <a:r>
              <a:rPr>
                <a:solidFill>
                  <a:srgbClr val="902000"/>
                </a:solidFill>
                <a:latin typeface="Courier"/>
              </a:rPr>
              <a:t>"medium"</a:t>
            </a:r>
            <a:r>
              <a:rPr>
                <a:solidFill>
                  <a:srgbClr val="06287E"/>
                </a:solidFill>
                <a:latin typeface="Courier"/>
              </a:rPr>
              <a:t>:</a:t>
            </a:r>
            <a:r>
              <a:rPr>
                <a:latin typeface="Courier"/>
              </a:rPr>
              <a:t> </a:t>
            </a:r>
            <a:r>
              <a:rPr>
                <a:solidFill>
                  <a:srgbClr val="40A070"/>
                </a:solidFill>
                <a:latin typeface="Courier"/>
              </a:rPr>
              <a:t>1</a:t>
            </a:r>
            <a:r>
              <a:rPr>
                <a:solidFill>
                  <a:srgbClr val="06287E"/>
                </a:solidFill>
                <a:latin typeface="Courier"/>
              </a:rPr>
              <a:t>,</a:t>
            </a:r>
            <a:r>
              <a:rPr>
                <a:latin typeface="Courier"/>
              </a:rPr>
              <a:t> </a:t>
            </a:r>
            <a:r>
              <a:rPr>
                <a:solidFill>
                  <a:srgbClr val="902000"/>
                </a:solidFill>
                <a:latin typeface="Courier"/>
              </a:rPr>
              <a:t>"low"</a:t>
            </a:r>
            <a:r>
              <a:rPr>
                <a:solidFill>
                  <a:srgbClr val="06287E"/>
                </a:solidFill>
                <a:latin typeface="Courier"/>
              </a:rPr>
              <a:t>:</a:t>
            </a:r>
            <a:r>
              <a:rPr>
                <a:latin typeface="Courier"/>
              </a:rPr>
              <a:t> </a:t>
            </a:r>
            <a:r>
              <a:rPr>
                <a:solidFill>
                  <a:srgbClr val="40A070"/>
                </a:solidFill>
                <a:latin typeface="Courier"/>
              </a:rPr>
              <a:t>0</a:t>
            </a:r>
            <a:r>
              <a:rPr>
                <a:solidFill>
                  <a:srgbClr val="06287E"/>
                </a:solidFill>
                <a:latin typeface="Courier"/>
              </a:rPr>
              <a:t>,</a:t>
            </a:r>
            <a:r>
              <a:rPr>
                <a:latin typeface="Courier"/>
              </a:rPr>
              <a:t> </a:t>
            </a:r>
            <a:r>
              <a:rPr>
                <a:solidFill>
                  <a:srgbClr val="902000"/>
                </a:solidFill>
                <a:latin typeface="Courier"/>
              </a:rPr>
              <a:t>"total"</a:t>
            </a:r>
            <a:r>
              <a:rPr>
                <a:solidFill>
                  <a:srgbClr val="06287E"/>
                </a:solidFill>
                <a:latin typeface="Courier"/>
              </a:rPr>
              <a:t>:</a:t>
            </a:r>
            <a:r>
              <a:rPr>
                <a:latin typeface="Courier"/>
              </a:rPr>
              <a:t> </a:t>
            </a:r>
            <a:r>
              <a:rPr>
                <a:solidFill>
                  <a:srgbClr val="40A070"/>
                </a:solidFill>
                <a:latin typeface="Courier"/>
              </a:rPr>
              <a:t>6</a:t>
            </a:r>
            <a:r>
              <a:rPr>
                <a:latin typeface="Courier"/>
              </a:rPr>
              <a:t> </a:t>
            </a:r>
            <a:r>
              <a:rPr>
                <a:solidFill>
                  <a:srgbClr val="06287E"/>
                </a:solidFill>
                <a:latin typeface="Courier"/>
              </a:rPr>
              <a:t>},</a:t>
            </a:r>
            <a:br/>
            <a:r>
              <a:rPr>
                <a:latin typeface="Courier"/>
              </a:rPr>
              <a:t>  </a:t>
            </a:r>
            <a:r>
              <a:rPr>
                <a:solidFill>
                  <a:srgbClr val="902000"/>
                </a:solidFill>
                <a:latin typeface="Courier"/>
              </a:rPr>
              <a:t>"totalLines"</a:t>
            </a:r>
            <a:r>
              <a:rPr>
                <a:solidFill>
                  <a:srgbClr val="06287E"/>
                </a:solidFill>
                <a:latin typeface="Courier"/>
              </a:rPr>
              <a:t>:</a:t>
            </a:r>
            <a:r>
              <a:rPr>
                <a:latin typeface="Courier"/>
              </a:rPr>
              <a:t> </a:t>
            </a:r>
            <a:r>
              <a:rPr>
                <a:solidFill>
                  <a:srgbClr val="40A070"/>
                </a:solidFill>
                <a:latin typeface="Courier"/>
              </a:rPr>
              <a:t>35</a:t>
            </a:r>
            <a:r>
              <a:rPr>
                <a:solidFill>
                  <a:srgbClr val="06287E"/>
                </a:solidFill>
                <a:latin typeface="Courier"/>
              </a:rPr>
              <a:t>,</a:t>
            </a:r>
            <a:br/>
            <a:r>
              <a:rPr>
                <a:latin typeface="Courier"/>
              </a:rPr>
              <a:t>  </a:t>
            </a:r>
            <a:r>
              <a:rPr>
                <a:solidFill>
                  <a:srgbClr val="902000"/>
                </a:solidFill>
                <a:latin typeface="Courier"/>
              </a:rPr>
              <a:t>"patternsChecked"</a:t>
            </a:r>
            <a:r>
              <a:rPr>
                <a:solidFill>
                  <a:srgbClr val="06287E"/>
                </a:solidFill>
                <a:latin typeface="Courier"/>
              </a:rPr>
              <a:t>:</a:t>
            </a:r>
            <a:r>
              <a:rPr>
                <a:latin typeface="Courier"/>
              </a:rPr>
              <a:t> </a:t>
            </a:r>
            <a:r>
              <a:rPr>
                <a:solidFill>
                  <a:srgbClr val="40A070"/>
                </a:solidFill>
                <a:latin typeface="Courier"/>
              </a:rPr>
              <a:t>11</a:t>
            </a:r>
            <a:br/>
            <a:r>
              <a:rPr>
                <a:solidFill>
                  <a:srgbClr val="06287E"/>
                </a:solidFill>
                <a:latin typeface="Courier"/>
              </a:rPr>
              <a:t>}</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4.6 CI/CD Pipeline Gate</a:t>
            </a:r>
          </a:p>
          <a:p>
            <a:pPr lvl="0" indent="0" marL="0">
              <a:buNone/>
            </a:pPr>
            <a:r>
              <a:rPr b="1"/>
              <a:t>API Endpoint:</a:t>
            </a:r>
            <a:r>
              <a:rPr/>
              <a:t> </a:t>
            </a:r>
            <a:r>
              <a:rPr>
                <a:latin typeface="Courier"/>
              </a:rPr>
              <a:t>POST /api/shieldx/ci-scan</a:t>
            </a:r>
            <a:br/>
            <a:r>
              <a:rPr b="1"/>
              <a:t>File:</a:t>
            </a:r>
            <a:r>
              <a:rPr/>
              <a:t> </a:t>
            </a:r>
            <a:r>
              <a:rPr>
                <a:latin typeface="Courier"/>
              </a:rPr>
              <a:t>app/api/shieldx/ci-scan/route.ts</a:t>
            </a:r>
            <a:br/>
            <a:r>
              <a:rPr b="1"/>
              <a:t>Plan Access:</a:t>
            </a:r>
            <a:r>
              <a:rPr/>
              <a:t> Enterprise</a:t>
            </a:r>
            <a:br/>
            <a:r>
              <a:rPr b="1"/>
              <a:t>Authentication:</a:t>
            </a:r>
            <a:r>
              <a:rPr/>
              <a:t> API Key (header: </a:t>
            </a:r>
            <a:r>
              <a:rPr>
                <a:latin typeface="Courier"/>
              </a:rPr>
              <a:t>x-shieldx-api-key</a:t>
            </a:r>
            <a:r>
              <a:rPr/>
              <a:t>)</a:t>
            </a:r>
          </a:p>
          <a:p>
            <a:pPr lvl="0" indent="0" marL="0">
              <a:spcBef>
                <a:spcPts val="3000"/>
              </a:spcBef>
              <a:buNone/>
            </a:pPr>
            <a:r>
              <a:rPr b="1"/>
              <a:t>How It Works</a:t>
            </a:r>
          </a:p>
          <a:p>
            <a:pPr lvl="0" indent="0" marL="0">
              <a:buNone/>
            </a:pPr>
            <a:r>
              <a:rPr/>
              <a:t>Designed for automated pipeline integration. Accepts code via API key authentication and runs secrets + dependency scans in a single call.</a:t>
            </a:r>
          </a:p>
          <a:p>
            <a:pPr lvl="0" indent="0">
              <a:buNone/>
            </a:pPr>
            <a:r>
              <a:rPr i="1">
                <a:solidFill>
                  <a:srgbClr val="60A0B0"/>
                </a:solidFill>
                <a:latin typeface="Courier"/>
              </a:rPr>
              <a:t># GitHub Actions Example</a:t>
            </a:r>
            <a:br/>
            <a:r>
              <a:rPr>
                <a:solidFill>
                  <a:srgbClr val="06287E"/>
                </a:solidFill>
                <a:latin typeface="Courier"/>
              </a:rPr>
              <a:t>name</a:t>
            </a:r>
            <a:r>
              <a:rPr b="1">
                <a:solidFill>
                  <a:srgbClr val="007020"/>
                </a:solidFill>
                <a:latin typeface="Courier"/>
              </a:rPr>
              <a:t>:</a:t>
            </a:r>
            <a:r>
              <a:rPr>
                <a:solidFill>
                  <a:srgbClr val="7D9029"/>
                </a:solidFill>
                <a:latin typeface="Courier"/>
              </a:rPr>
              <a:t> ShieldX Security Gate</a:t>
            </a:r>
            <a:br/>
            <a:r>
              <a:rPr>
                <a:solidFill>
                  <a:srgbClr val="06287E"/>
                </a:solidFill>
                <a:latin typeface="Courier"/>
              </a:rPr>
              <a:t>on</a:t>
            </a:r>
            <a:r>
              <a:rPr b="1">
                <a:solidFill>
                  <a:srgbClr val="007020"/>
                </a:solidFill>
                <a:latin typeface="Courier"/>
              </a:rPr>
              <a:t>:</a:t>
            </a:r>
            <a:r>
              <a:rPr>
                <a:solidFill>
                  <a:srgbClr val="7D9029"/>
                </a:solidFill>
                <a:latin typeface="Courier"/>
              </a:rPr>
              <a:t> </a:t>
            </a:r>
            <a:r>
              <a:rPr b="1">
                <a:solidFill>
                  <a:srgbClr val="007020"/>
                </a:solidFill>
                <a:latin typeface="Courier"/>
              </a:rPr>
              <a:t>[</a:t>
            </a:r>
            <a:r>
              <a:rPr>
                <a:solidFill>
                  <a:srgbClr val="7D9029"/>
                </a:solidFill>
                <a:latin typeface="Courier"/>
              </a:rPr>
              <a:t>push</a:t>
            </a:r>
            <a:r>
              <a:rPr b="1">
                <a:solidFill>
                  <a:srgbClr val="007020"/>
                </a:solidFill>
                <a:latin typeface="Courier"/>
              </a:rPr>
              <a:t>,</a:t>
            </a:r>
            <a:r>
              <a:rPr>
                <a:solidFill>
                  <a:srgbClr val="7D9029"/>
                </a:solidFill>
                <a:latin typeface="Courier"/>
              </a:rPr>
              <a:t> pull_request</a:t>
            </a:r>
            <a:r>
              <a:rPr b="1">
                <a:solidFill>
                  <a:srgbClr val="007020"/>
                </a:solidFill>
                <a:latin typeface="Courier"/>
              </a:rPr>
              <a:t>]</a:t>
            </a:r>
            <a:br/>
            <a:r>
              <a:rPr>
                <a:solidFill>
                  <a:srgbClr val="06287E"/>
                </a:solidFill>
                <a:latin typeface="Courier"/>
              </a:rPr>
              <a:t>jobs</a:t>
            </a:r>
            <a:r>
              <a:rPr b="1">
                <a:solidFill>
                  <a:srgbClr val="007020"/>
                </a:solidFill>
                <a:latin typeface="Courier"/>
              </a:rPr>
              <a:t>:</a:t>
            </a:r>
            <a:br/>
            <a:r>
              <a:rPr>
                <a:solidFill>
                  <a:srgbClr val="7D9029"/>
                </a:solidFill>
                <a:latin typeface="Courier"/>
              </a:rPr>
              <a:t>  </a:t>
            </a:r>
            <a:r>
              <a:rPr>
                <a:solidFill>
                  <a:srgbClr val="06287E"/>
                </a:solidFill>
                <a:latin typeface="Courier"/>
              </a:rPr>
              <a:t>security</a:t>
            </a:r>
            <a:r>
              <a:rPr b="1">
                <a:solidFill>
                  <a:srgbClr val="007020"/>
                </a:solidFill>
                <a:latin typeface="Courier"/>
              </a:rPr>
              <a:t>:</a:t>
            </a:r>
            <a:br/>
            <a:r>
              <a:rPr>
                <a:solidFill>
                  <a:srgbClr val="7D9029"/>
                </a:solidFill>
                <a:latin typeface="Courier"/>
              </a:rPr>
              <a:t>    </a:t>
            </a:r>
            <a:r>
              <a:rPr>
                <a:solidFill>
                  <a:srgbClr val="06287E"/>
                </a:solidFill>
                <a:latin typeface="Courier"/>
              </a:rPr>
              <a:t>runs-on</a:t>
            </a:r>
            <a:r>
              <a:rPr b="1">
                <a:solidFill>
                  <a:srgbClr val="007020"/>
                </a:solidFill>
                <a:latin typeface="Courier"/>
              </a:rPr>
              <a:t>:</a:t>
            </a:r>
            <a:r>
              <a:rPr>
                <a:solidFill>
                  <a:srgbClr val="7D9029"/>
                </a:solidFill>
                <a:latin typeface="Courier"/>
              </a:rPr>
              <a:t> ubuntu-latest</a:t>
            </a:r>
            <a:br/>
            <a:r>
              <a:rPr>
                <a:solidFill>
                  <a:srgbClr val="7D9029"/>
                </a:solidFill>
                <a:latin typeface="Courier"/>
              </a:rPr>
              <a:t>    </a:t>
            </a:r>
            <a:r>
              <a:rPr>
                <a:solidFill>
                  <a:srgbClr val="06287E"/>
                </a:solidFill>
                <a:latin typeface="Courier"/>
              </a:rPr>
              <a:t>steps</a:t>
            </a:r>
            <a:r>
              <a:rPr b="1">
                <a:solidFill>
                  <a:srgbClr val="007020"/>
                </a:solidFill>
                <a:latin typeface="Courier"/>
              </a:rPr>
              <a:t>:</a:t>
            </a:r>
            <a:br/>
            <a:r>
              <a:rPr>
                <a:solidFill>
                  <a:srgbClr val="7D9029"/>
                </a:solidFill>
                <a:latin typeface="Courier"/>
              </a:rPr>
              <a:t>      </a:t>
            </a:r>
            <a:r>
              <a:rPr b="1">
                <a:solidFill>
                  <a:srgbClr val="007020"/>
                </a:solidFill>
                <a:latin typeface="Courier"/>
              </a:rPr>
              <a:t>-</a:t>
            </a:r>
            <a:r>
              <a:rPr>
                <a:solidFill>
                  <a:srgbClr val="7D9029"/>
                </a:solidFill>
                <a:latin typeface="Courier"/>
              </a:rPr>
              <a:t> </a:t>
            </a:r>
            <a:r>
              <a:rPr>
                <a:solidFill>
                  <a:srgbClr val="06287E"/>
                </a:solidFill>
                <a:latin typeface="Courier"/>
              </a:rPr>
              <a:t>uses</a:t>
            </a:r>
            <a:r>
              <a:rPr b="1">
                <a:solidFill>
                  <a:srgbClr val="007020"/>
                </a:solidFill>
                <a:latin typeface="Courier"/>
              </a:rPr>
              <a:t>:</a:t>
            </a:r>
            <a:r>
              <a:rPr>
                <a:solidFill>
                  <a:srgbClr val="7D9029"/>
                </a:solidFill>
                <a:latin typeface="Courier"/>
              </a:rPr>
              <a:t> actions/checkout@v4</a:t>
            </a:r>
            <a:br/>
            <a:r>
              <a:rPr>
                <a:solidFill>
                  <a:srgbClr val="7D9029"/>
                </a:solidFill>
                <a:latin typeface="Courier"/>
              </a:rPr>
              <a:t>      </a:t>
            </a:r>
            <a:r>
              <a:rPr b="1">
                <a:solidFill>
                  <a:srgbClr val="007020"/>
                </a:solidFill>
                <a:latin typeface="Courier"/>
              </a:rPr>
              <a:t>-</a:t>
            </a:r>
            <a:r>
              <a:rPr>
                <a:solidFill>
                  <a:srgbClr val="7D9029"/>
                </a:solidFill>
                <a:latin typeface="Courier"/>
              </a:rPr>
              <a:t> </a:t>
            </a:r>
            <a:r>
              <a:rPr>
                <a:solidFill>
                  <a:srgbClr val="06287E"/>
                </a:solidFill>
                <a:latin typeface="Courier"/>
              </a:rPr>
              <a:t>name</a:t>
            </a:r>
            <a:r>
              <a:rPr b="1">
                <a:solidFill>
                  <a:srgbClr val="007020"/>
                </a:solidFill>
                <a:latin typeface="Courier"/>
              </a:rPr>
              <a:t>:</a:t>
            </a:r>
            <a:r>
              <a:rPr>
                <a:solidFill>
                  <a:srgbClr val="7D9029"/>
                </a:solidFill>
                <a:latin typeface="Courier"/>
              </a:rPr>
              <a:t> Run ShieldX Scan</a:t>
            </a:r>
            <a:br/>
            <a:r>
              <a:rPr>
                <a:solidFill>
                  <a:srgbClr val="06287E"/>
                </a:solidFill>
                <a:latin typeface="Courier"/>
              </a:rPr>
              <a:t>        run</a:t>
            </a:r>
            <a:r>
              <a:rPr b="1">
                <a:solidFill>
                  <a:srgbClr val="007020"/>
                </a:solidFill>
                <a:latin typeface="Courier"/>
              </a:rPr>
              <a:t>: </a:t>
            </a:r>
            <a:r>
              <a:rPr>
                <a:solidFill>
                  <a:srgbClr val="4070A0"/>
                </a:solidFill>
                <a:latin typeface="Courier"/>
              </a:rPr>
              <a:t>|</a:t>
            </a:r>
            <a:br/>
            <a:r>
              <a:rPr>
                <a:latin typeface="Courier"/>
              </a:rPr>
              <a:t>          RESULT=$(curl -s -X POST https://securecodereviews.com/api/shieldx/ci-scan \</a:t>
            </a:r>
            <a:br/>
            <a:r>
              <a:rPr>
                <a:latin typeface="Courier"/>
              </a:rPr>
              <a:t>            -H "Content-Type: application/json" \</a:t>
            </a:r>
            <a:br/>
            <a:r>
              <a:rPr>
                <a:latin typeface="Courier"/>
              </a:rPr>
              <a:t>            -H "x-shieldx-api-key: ${{ secrets.SHIELDX_API_KEY }}" \</a:t>
            </a:r>
            <a:br/>
            <a:r>
              <a:rPr>
                <a:latin typeface="Courier"/>
              </a:rPr>
              <a:t>            -d "{\"code\": \"$(cat package.json)\"}")</a:t>
            </a:r>
            <a:br/>
            <a:r>
              <a:rPr>
                <a:latin typeface="Courier"/>
              </a:rPr>
              <a:t>          SCORE=$(echo $RESULT | jq -r '.score // 0')</a:t>
            </a:r>
            <a:br/>
            <a:r>
              <a:rPr>
                <a:latin typeface="Courier"/>
              </a:rPr>
              <a:t>          if (( $(echo "$SCORE &lt; 5" | bc -l) )); then</a:t>
            </a:r>
            <a:br/>
            <a:r>
              <a:rPr>
                <a:latin typeface="Courier"/>
              </a:rPr>
              <a:t>            echo "Security score too low: $SCORE"</a:t>
            </a:r>
            <a:br/>
            <a:r>
              <a:rPr>
                <a:latin typeface="Courier"/>
              </a:rPr>
              <a:t>            exit 1</a:t>
            </a:r>
            <a:br/>
            <a:r>
              <a:rPr>
                <a:latin typeface="Courier"/>
              </a:rPr>
              <a:t>          fi</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4.7 Alert System</a:t>
            </a:r>
          </a:p>
          <a:p>
            <a:pPr lvl="0" indent="0" marL="0">
              <a:buNone/>
            </a:pPr>
            <a:r>
              <a:rPr b="1"/>
              <a:t>API Endpoint:</a:t>
            </a:r>
            <a:r>
              <a:rPr/>
              <a:t> </a:t>
            </a:r>
            <a:r>
              <a:rPr>
                <a:latin typeface="Courier"/>
              </a:rPr>
              <a:t>POST /api/shieldx/alerts</a:t>
            </a:r>
            <a:br/>
            <a:r>
              <a:rPr b="1"/>
              <a:t>File:</a:t>
            </a:r>
            <a:r>
              <a:rPr/>
              <a:t> </a:t>
            </a:r>
            <a:r>
              <a:rPr>
                <a:latin typeface="Courier"/>
              </a:rPr>
              <a:t>app/api/shieldx/alerts/route.ts</a:t>
            </a:r>
            <a:br/>
            <a:r>
              <a:rPr b="1"/>
              <a:t>Plan Access:</a:t>
            </a:r>
            <a:r>
              <a:rPr/>
              <a:t> Pro, Enterprise</a:t>
            </a:r>
          </a:p>
          <a:p>
            <a:pPr lvl="0" indent="0" marL="0">
              <a:buNone/>
            </a:pPr>
            <a:r>
              <a:rPr/>
              <a:t>Supports three notification channels: - </a:t>
            </a:r>
            <a:r>
              <a:rPr b="1"/>
              <a:t>Email:</a:t>
            </a:r>
            <a:r>
              <a:rPr/>
              <a:t> Sends to user’s registered email - </a:t>
            </a:r>
            <a:r>
              <a:rPr b="1"/>
              <a:t>Slack:</a:t>
            </a:r>
            <a:r>
              <a:rPr/>
              <a:t> Webhook URL integration - </a:t>
            </a:r>
            <a:r>
              <a:rPr b="1"/>
              <a:t>Custom Webhook:</a:t>
            </a:r>
            <a:r>
              <a:rPr/>
              <a:t> POST to any HTTPS endpoint</a:t>
            </a:r>
          </a:p>
          <a:p>
            <a:pPr lvl="0" indent="0" marL="0">
              <a:buNone/>
            </a:pPr>
            <a:r>
              <a:rPr/>
              <a:t>6 pre-configured alert rules: 1. Critical secrets detected 2. Critical CVEs in dependencies 3. Cloud security audit failures 4. Low API security score (&lt; 5.0) 5. Injection attack patterns in logs 6. Brute force activity detected</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4.8 Security Score</a:t>
            </a:r>
          </a:p>
          <a:p>
            <a:pPr lvl="0" indent="0" marL="0">
              <a:buNone/>
            </a:pPr>
            <a:r>
              <a:rPr b="1"/>
              <a:t>Location:</a:t>
            </a:r>
            <a:r>
              <a:rPr/>
              <a:t> Workspace tab (client-side calculation)</a:t>
            </a:r>
            <a:br/>
            <a:r>
              <a:rPr b="1"/>
              <a:t>Plan Access:</a:t>
            </a:r>
            <a:r>
              <a:rPr/>
              <a:t> Free (demo), Pro, Enterprise</a:t>
            </a:r>
          </a:p>
          <a:p>
            <a:pPr lvl="0" indent="0" marL="0">
              <a:buNone/>
            </a:pPr>
            <a:r>
              <a:rPr/>
              <a:t>Composite 0-10 score calculated from scan results across 5 dimensions: - Secrets posture - Dependency security - Cloud compliance - API hardening - Log threat level</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5. API Reference</a:t>
            </a:r>
          </a:p>
        </p:txBody>
      </p:sp>
      <p:sp>
        <p:nvSpPr>
          <p:cNvPr id="4" name="Text Placeholder 3"/>
          <p:cNvSpPr>
            <a:spLocks noGrp="1"/>
          </p:cNvSpPr>
          <p:nvPr>
            <p:ph idx="2" sz="half" type="body"/>
          </p:nvPr>
        </p:nvSpPr>
        <p:spPr/>
        <p:txBody>
          <a:bodyPr/>
          <a:lstStyle/>
          <a:p>
            <a:pPr lvl="0" indent="0" marL="0">
              <a:spcBef>
                <a:spcPts val="3000"/>
              </a:spcBef>
              <a:buNone/>
            </a:pPr>
            <a:r>
              <a:rPr b="1"/>
              <a:t>Authentication Methods</a:t>
            </a:r>
          </a:p>
          <a:p>
            <a:pPr lvl="0" indent="0" marL="0">
              <a:buNone/>
            </a:pPr>
            <a:r>
              <a:rPr/>
              <a:t>All scan APIs support two authentication methods:</a:t>
            </a:r>
          </a:p>
          <a:p>
            <a:pPr lvl="0" indent="-342900" marL="342900">
              <a:buAutoNum type="arabicPeriod"/>
            </a:pPr>
            <a:r>
              <a:rPr b="1"/>
              <a:t>Session Token</a:t>
            </a:r>
            <a:r>
              <a:rPr/>
              <a:t> (browser-based): Automatic via NextAuth.js JWT cookie</a:t>
            </a:r>
          </a:p>
          <a:p>
            <a:pPr lvl="0" indent="-342900" marL="342900">
              <a:buAutoNum type="arabicPeriod"/>
            </a:pPr>
            <a:r>
              <a:rPr b="1"/>
              <a:t>API Key</a:t>
            </a:r>
            <a:r>
              <a:rPr/>
              <a:t> (programmatic): Pass in request header </a:t>
            </a:r>
            <a:r>
              <a:rPr>
                <a:latin typeface="Courier"/>
              </a:rPr>
              <a:t>x-shieldx-api-key: &lt;key&gt;</a:t>
            </a:r>
          </a:p>
          <a:p>
            <a:pPr lvl="0" indent="0" marL="0">
              <a:spcBef>
                <a:spcPts val="3000"/>
              </a:spcBef>
              <a:buNone/>
            </a:pPr>
            <a:r>
              <a:rPr b="1"/>
              <a:t>Endpoints Summary</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041400"/>
                <a:gridCol w="1308100"/>
                <a:gridCol w="787400"/>
                <a:gridCol w="787400"/>
                <a:gridCol w="1181100"/>
              </a:tblGrid>
              <a:tr h="0">
                <a:tc>
                  <a:txBody>
                    <a:bodyPr/>
                    <a:lstStyle/>
                    <a:p>
                      <a:pPr lvl="0" indent="0" marL="0">
                        <a:buNone/>
                      </a:pPr>
                      <a:r>
                        <a:rPr/>
                        <a:t>Method</a:t>
                      </a:r>
                    </a:p>
                  </a:txBody>
                  <a:tcPr/>
                </a:tc>
                <a:tc>
                  <a:txBody>
                    <a:bodyPr/>
                    <a:lstStyle/>
                    <a:p>
                      <a:pPr lvl="0" indent="0" marL="0">
                        <a:buNone/>
                      </a:pPr>
                      <a:r>
                        <a:rPr/>
                        <a:t>Endpoint</a:t>
                      </a:r>
                    </a:p>
                  </a:txBody>
                  <a:tcPr/>
                </a:tc>
                <a:tc>
                  <a:txBody>
                    <a:bodyPr/>
                    <a:lstStyle/>
                    <a:p>
                      <a:pPr lvl="0" indent="0" marL="0">
                        <a:buNone/>
                      </a:pPr>
                      <a:r>
                        <a:rPr/>
                        <a:t>Auth</a:t>
                      </a:r>
                    </a:p>
                  </a:txBody>
                  <a:tcPr/>
                </a:tc>
                <a:tc>
                  <a:txBody>
                    <a:bodyPr/>
                    <a:lstStyle/>
                    <a:p>
                      <a:pPr lvl="0" indent="0" marL="0">
                        <a:buNone/>
                      </a:pPr>
                      <a:r>
                        <a:rPr/>
                        <a:t>Plan</a:t>
                      </a:r>
                    </a:p>
                  </a:txBody>
                  <a:tcPr/>
                </a:tc>
                <a:tc>
                  <a:txBody>
                    <a:bodyPr/>
                    <a:lstStyle/>
                    <a:p>
                      <a:pPr lvl="0" indent="0" marL="0">
                        <a:buNone/>
                      </a:pPr>
                      <a:r>
                        <a:rPr/>
                        <a:t>Purpose</a:t>
                      </a:r>
                    </a:p>
                  </a:txBody>
                  <a:tcPr/>
                </a:tc>
              </a:tr>
              <a:tr h="0">
                <a:tc>
                  <a:txBody>
                    <a:bodyPr/>
                    <a:lstStyle/>
                    <a:p>
                      <a:pPr lvl="0" indent="0" marL="0">
                        <a:buNone/>
                      </a:pPr>
                      <a:r>
                        <a:rPr>
                          <a:latin typeface="Courier"/>
                        </a:rPr>
                        <a:t>POST</a:t>
                      </a:r>
                    </a:p>
                  </a:txBody>
                </a:tc>
                <a:tc>
                  <a:txBody>
                    <a:bodyPr/>
                    <a:lstStyle/>
                    <a:p>
                      <a:pPr lvl="0" indent="0" marL="0">
                        <a:buNone/>
                      </a:pPr>
                      <a:r>
                        <a:rPr>
                          <a:latin typeface="Courier"/>
                        </a:rPr>
                        <a:t>/api/shieldx/scan-secrets</a:t>
                      </a:r>
                    </a:p>
                  </a:txBody>
                </a:tc>
                <a:tc>
                  <a:txBody>
                    <a:bodyPr/>
                    <a:lstStyle/>
                    <a:p>
                      <a:pPr lvl="0" indent="0" marL="0">
                        <a:buNone/>
                      </a:pPr>
                      <a:r>
                        <a:rPr/>
                        <a:t>Session/Demo</a:t>
                      </a:r>
                    </a:p>
                  </a:txBody>
                </a:tc>
                <a:tc>
                  <a:txBody>
                    <a:bodyPr/>
                    <a:lstStyle/>
                    <a:p>
                      <a:pPr lvl="0" indent="0" marL="0">
                        <a:buNone/>
                      </a:pPr>
                      <a:r>
                        <a:rPr/>
                        <a:t>Free+</a:t>
                      </a:r>
                    </a:p>
                  </a:txBody>
                </a:tc>
                <a:tc>
                  <a:txBody>
                    <a:bodyPr/>
                    <a:lstStyle/>
                    <a:p>
                      <a:pPr lvl="0" indent="0" marL="0">
                        <a:buNone/>
                      </a:pPr>
                      <a:r>
                        <a:rPr/>
                        <a:t>Secrets detection</a:t>
                      </a:r>
                    </a:p>
                  </a:txBody>
                </a:tc>
              </a:tr>
              <a:tr h="0">
                <a:tc>
                  <a:txBody>
                    <a:bodyPr/>
                    <a:lstStyle/>
                    <a:p>
                      <a:pPr lvl="0" indent="0" marL="0">
                        <a:buNone/>
                      </a:pPr>
                      <a:r>
                        <a:rPr>
                          <a:latin typeface="Courier"/>
                        </a:rPr>
                        <a:t>POST</a:t>
                      </a:r>
                    </a:p>
                  </a:txBody>
                </a:tc>
                <a:tc>
                  <a:txBody>
                    <a:bodyPr/>
                    <a:lstStyle/>
                    <a:p>
                      <a:pPr lvl="0" indent="0" marL="0">
                        <a:buNone/>
                      </a:pPr>
                      <a:r>
                        <a:rPr>
                          <a:latin typeface="Courier"/>
                        </a:rPr>
                        <a:t>/api/shieldx/scan-deps</a:t>
                      </a:r>
                    </a:p>
                  </a:txBody>
                </a:tc>
                <a:tc>
                  <a:txBody>
                    <a:bodyPr/>
                    <a:lstStyle/>
                    <a:p>
                      <a:pPr lvl="0" indent="0" marL="0">
                        <a:buNone/>
                      </a:pPr>
                      <a:r>
                        <a:rPr/>
                        <a:t>Session/API/Demo</a:t>
                      </a:r>
                    </a:p>
                  </a:txBody>
                </a:tc>
                <a:tc>
                  <a:txBody>
                    <a:bodyPr/>
                    <a:lstStyle/>
                    <a:p>
                      <a:pPr lvl="0" indent="0" marL="0">
                        <a:buNone/>
                      </a:pPr>
                      <a:r>
                        <a:rPr/>
                        <a:t>Pro+</a:t>
                      </a:r>
                    </a:p>
                  </a:txBody>
                </a:tc>
                <a:tc>
                  <a:txBody>
                    <a:bodyPr/>
                    <a:lstStyle/>
                    <a:p>
                      <a:pPr lvl="0" indent="0" marL="0">
                        <a:buNone/>
                      </a:pPr>
                      <a:r>
                        <a:rPr/>
                        <a:t>Dependency CVE scan</a:t>
                      </a:r>
                    </a:p>
                  </a:txBody>
                </a:tc>
              </a:tr>
              <a:tr h="0">
                <a:tc>
                  <a:txBody>
                    <a:bodyPr/>
                    <a:lstStyle/>
                    <a:p>
                      <a:pPr lvl="0" indent="0" marL="0">
                        <a:buNone/>
                      </a:pPr>
                      <a:r>
                        <a:rPr>
                          <a:latin typeface="Courier"/>
                        </a:rPr>
                        <a:t>POST</a:t>
                      </a:r>
                    </a:p>
                  </a:txBody>
                </a:tc>
                <a:tc>
                  <a:txBody>
                    <a:bodyPr/>
                    <a:lstStyle/>
                    <a:p>
                      <a:pPr lvl="0" indent="0" marL="0">
                        <a:buNone/>
                      </a:pPr>
                      <a:r>
                        <a:rPr>
                          <a:latin typeface="Courier"/>
                        </a:rPr>
                        <a:t>/api/shieldx/scan-api</a:t>
                      </a:r>
                    </a:p>
                  </a:txBody>
                </a:tc>
                <a:tc>
                  <a:txBody>
                    <a:bodyPr/>
                    <a:lstStyle/>
                    <a:p>
                      <a:pPr lvl="0" indent="0" marL="0">
                        <a:buNone/>
                      </a:pPr>
                      <a:r>
                        <a:rPr/>
                        <a:t>Session/API/Demo</a:t>
                      </a:r>
                    </a:p>
                  </a:txBody>
                </a:tc>
                <a:tc>
                  <a:txBody>
                    <a:bodyPr/>
                    <a:lstStyle/>
                    <a:p>
                      <a:pPr lvl="0" indent="0" marL="0">
                        <a:buNone/>
                      </a:pPr>
                      <a:r>
                        <a:rPr/>
                        <a:t>Pro+</a:t>
                      </a:r>
                    </a:p>
                  </a:txBody>
                </a:tc>
                <a:tc>
                  <a:txBody>
                    <a:bodyPr/>
                    <a:lstStyle/>
                    <a:p>
                      <a:pPr lvl="0" indent="0" marL="0">
                        <a:buNone/>
                      </a:pPr>
                      <a:r>
                        <a:rPr/>
                        <a:t>API security scan</a:t>
                      </a:r>
                    </a:p>
                  </a:txBody>
                </a:tc>
              </a:tr>
              <a:tr h="0">
                <a:tc>
                  <a:txBody>
                    <a:bodyPr/>
                    <a:lstStyle/>
                    <a:p>
                      <a:pPr lvl="0" indent="0" marL="0">
                        <a:buNone/>
                      </a:pPr>
                      <a:r>
                        <a:rPr>
                          <a:latin typeface="Courier"/>
                        </a:rPr>
                        <a:t>POST</a:t>
                      </a:r>
                    </a:p>
                  </a:txBody>
                </a:tc>
                <a:tc>
                  <a:txBody>
                    <a:bodyPr/>
                    <a:lstStyle/>
                    <a:p>
                      <a:pPr lvl="0" indent="0" marL="0">
                        <a:buNone/>
                      </a:pPr>
                      <a:r>
                        <a:rPr>
                          <a:latin typeface="Courier"/>
                        </a:rPr>
                        <a:t>/api/shieldx/scan-cloud</a:t>
                      </a:r>
                    </a:p>
                  </a:txBody>
                </a:tc>
                <a:tc>
                  <a:txBody>
                    <a:bodyPr/>
                    <a:lstStyle/>
                    <a:p>
                      <a:pPr lvl="0" indent="0" marL="0">
                        <a:buNone/>
                      </a:pPr>
                      <a:r>
                        <a:rPr/>
                        <a:t>Session/API/Demo</a:t>
                      </a:r>
                    </a:p>
                  </a:txBody>
                </a:tc>
                <a:tc>
                  <a:txBody>
                    <a:bodyPr/>
                    <a:lstStyle/>
                    <a:p>
                      <a:pPr lvl="0" indent="0" marL="0">
                        <a:buNone/>
                      </a:pPr>
                      <a:r>
                        <a:rPr/>
                        <a:t>Pro+</a:t>
                      </a:r>
                    </a:p>
                  </a:txBody>
                </a:tc>
                <a:tc>
                  <a:txBody>
                    <a:bodyPr/>
                    <a:lstStyle/>
                    <a:p>
                      <a:pPr lvl="0" indent="0" marL="0">
                        <a:buNone/>
                      </a:pPr>
                      <a:r>
                        <a:rPr/>
                        <a:t>Cloud config audit</a:t>
                      </a:r>
                    </a:p>
                  </a:txBody>
                </a:tc>
              </a:tr>
              <a:tr h="0">
                <a:tc>
                  <a:txBody>
                    <a:bodyPr/>
                    <a:lstStyle/>
                    <a:p>
                      <a:pPr lvl="0" indent="0" marL="0">
                        <a:buNone/>
                      </a:pPr>
                      <a:r>
                        <a:rPr>
                          <a:latin typeface="Courier"/>
                        </a:rPr>
                        <a:t>POST</a:t>
                      </a:r>
                    </a:p>
                  </a:txBody>
                </a:tc>
                <a:tc>
                  <a:txBody>
                    <a:bodyPr/>
                    <a:lstStyle/>
                    <a:p>
                      <a:pPr lvl="0" indent="0" marL="0">
                        <a:buNone/>
                      </a:pPr>
                      <a:r>
                        <a:rPr>
                          <a:latin typeface="Courier"/>
                        </a:rPr>
                        <a:t>/api/shieldx/ci-scan</a:t>
                      </a:r>
                    </a:p>
                  </a:txBody>
                </a:tc>
                <a:tc>
                  <a:txBody>
                    <a:bodyPr/>
                    <a:lstStyle/>
                    <a:p>
                      <a:pPr lvl="0" indent="0" marL="0">
                        <a:buNone/>
                      </a:pPr>
                      <a:r>
                        <a:rPr/>
                        <a:t>API Key only</a:t>
                      </a:r>
                    </a:p>
                  </a:txBody>
                </a:tc>
                <a:tc>
                  <a:txBody>
                    <a:bodyPr/>
                    <a:lstStyle/>
                    <a:p>
                      <a:pPr lvl="0" indent="0" marL="0">
                        <a:buNone/>
                      </a:pPr>
                      <a:r>
                        <a:rPr/>
                        <a:t>Enterprise</a:t>
                      </a:r>
                    </a:p>
                  </a:txBody>
                </a:tc>
                <a:tc>
                  <a:txBody>
                    <a:bodyPr/>
                    <a:lstStyle/>
                    <a:p>
                      <a:pPr lvl="0" indent="0" marL="0">
                        <a:buNone/>
                      </a:pPr>
                      <a:r>
                        <a:rPr/>
                        <a:t>CI/CD pipeline scan</a:t>
                      </a:r>
                    </a:p>
                  </a:txBody>
                </a:tc>
              </a:tr>
              <a:tr h="0">
                <a:tc>
                  <a:txBody>
                    <a:bodyPr/>
                    <a:lstStyle/>
                    <a:p>
                      <a:pPr lvl="0" indent="0" marL="0">
                        <a:buNone/>
                      </a:pPr>
                      <a:r>
                        <a:rPr>
                          <a:latin typeface="Courier"/>
                        </a:rPr>
                        <a:t>GET</a:t>
                      </a:r>
                    </a:p>
                  </a:txBody>
                </a:tc>
                <a:tc>
                  <a:txBody>
                    <a:bodyPr/>
                    <a:lstStyle/>
                    <a:p>
                      <a:pPr lvl="0" indent="0" marL="0">
                        <a:buNone/>
                      </a:pPr>
                      <a:r>
                        <a:rPr>
                          <a:latin typeface="Courier"/>
                        </a:rPr>
                        <a:t>/api/shieldx/history</a:t>
                      </a:r>
                    </a:p>
                  </a:txBody>
                </a:tc>
                <a:tc>
                  <a:txBody>
                    <a:bodyPr/>
                    <a:lstStyle/>
                    <a:p>
                      <a:pPr lvl="0" indent="0" marL="0">
                        <a:buNone/>
                      </a:pPr>
                      <a:r>
                        <a:rPr/>
                        <a:t>Session</a:t>
                      </a:r>
                    </a:p>
                  </a:txBody>
                </a:tc>
                <a:tc>
                  <a:txBody>
                    <a:bodyPr/>
                    <a:lstStyle/>
                    <a:p>
                      <a:pPr lvl="0" indent="0" marL="0">
                        <a:buNone/>
                      </a:pPr>
                      <a:r>
                        <a:rPr/>
                        <a:t>Pro+</a:t>
                      </a:r>
                    </a:p>
                  </a:txBody>
                </a:tc>
                <a:tc>
                  <a:txBody>
                    <a:bodyPr/>
                    <a:lstStyle/>
                    <a:p>
                      <a:pPr lvl="0" indent="0" marL="0">
                        <a:buNone/>
                      </a:pPr>
                      <a:r>
                        <a:rPr/>
                        <a:t>Scan history</a:t>
                      </a:r>
                    </a:p>
                  </a:txBody>
                </a:tc>
              </a:tr>
              <a:tr h="0">
                <a:tc>
                  <a:txBody>
                    <a:bodyPr/>
                    <a:lstStyle/>
                    <a:p>
                      <a:pPr lvl="0" indent="0" marL="0">
                        <a:buNone/>
                      </a:pPr>
                      <a:r>
                        <a:rPr>
                          <a:latin typeface="Courier"/>
                        </a:rPr>
                        <a:t>POST</a:t>
                      </a:r>
                    </a:p>
                  </a:txBody>
                </a:tc>
                <a:tc>
                  <a:txBody>
                    <a:bodyPr/>
                    <a:lstStyle/>
                    <a:p>
                      <a:pPr lvl="0" indent="0" marL="0">
                        <a:buNone/>
                      </a:pPr>
                      <a:r>
                        <a:rPr>
                          <a:latin typeface="Courier"/>
                        </a:rPr>
                        <a:t>/api/shieldx/api-key</a:t>
                      </a:r>
                    </a:p>
                  </a:txBody>
                </a:tc>
                <a:tc>
                  <a:txBody>
                    <a:bodyPr/>
                    <a:lstStyle/>
                    <a:p>
                      <a:pPr lvl="0" indent="0" marL="0">
                        <a:buNone/>
                      </a:pPr>
                      <a:r>
                        <a:rPr/>
                        <a:t>Session</a:t>
                      </a:r>
                    </a:p>
                  </a:txBody>
                </a:tc>
                <a:tc>
                  <a:txBody>
                    <a:bodyPr/>
                    <a:lstStyle/>
                    <a:p>
                      <a:pPr lvl="0" indent="0" marL="0">
                        <a:buNone/>
                      </a:pPr>
                      <a:r>
                        <a:rPr/>
                        <a:t>Pro+</a:t>
                      </a:r>
                    </a:p>
                  </a:txBody>
                </a:tc>
                <a:tc>
                  <a:txBody>
                    <a:bodyPr/>
                    <a:lstStyle/>
                    <a:p>
                      <a:pPr lvl="0" indent="0" marL="0">
                        <a:buNone/>
                      </a:pPr>
                      <a:r>
                        <a:rPr/>
                        <a:t>Generate API key</a:t>
                      </a:r>
                    </a:p>
                  </a:txBody>
                </a:tc>
              </a:tr>
              <a:tr h="0">
                <a:tc>
                  <a:txBody>
                    <a:bodyPr/>
                    <a:lstStyle/>
                    <a:p>
                      <a:pPr lvl="0" indent="0" marL="0">
                        <a:buNone/>
                      </a:pPr>
                      <a:r>
                        <a:rPr>
                          <a:latin typeface="Courier"/>
                        </a:rPr>
                        <a:t>POST</a:t>
                      </a:r>
                    </a:p>
                  </a:txBody>
                </a:tc>
                <a:tc>
                  <a:txBody>
                    <a:bodyPr/>
                    <a:lstStyle/>
                    <a:p>
                      <a:pPr lvl="0" indent="0" marL="0">
                        <a:buNone/>
                      </a:pPr>
                      <a:r>
                        <a:rPr>
                          <a:latin typeface="Courier"/>
                        </a:rPr>
                        <a:t>/api/shieldx/alerts</a:t>
                      </a:r>
                    </a:p>
                  </a:txBody>
                </a:tc>
                <a:tc>
                  <a:txBody>
                    <a:bodyPr/>
                    <a:lstStyle/>
                    <a:p>
                      <a:pPr lvl="0" indent="0" marL="0">
                        <a:buNone/>
                      </a:pPr>
                      <a:r>
                        <a:rPr/>
                        <a:t>Session</a:t>
                      </a:r>
                    </a:p>
                  </a:txBody>
                </a:tc>
                <a:tc>
                  <a:txBody>
                    <a:bodyPr/>
                    <a:lstStyle/>
                    <a:p>
                      <a:pPr lvl="0" indent="0" marL="0">
                        <a:buNone/>
                      </a:pPr>
                      <a:r>
                        <a:rPr/>
                        <a:t>Pro+</a:t>
                      </a:r>
                    </a:p>
                  </a:txBody>
                </a:tc>
                <a:tc>
                  <a:txBody>
                    <a:bodyPr/>
                    <a:lstStyle/>
                    <a:p>
                      <a:pPr lvl="0" indent="0" marL="0">
                        <a:buNone/>
                      </a:pPr>
                      <a:r>
                        <a:rPr/>
                        <a:t>Alert configuration</a:t>
                      </a:r>
                    </a:p>
                  </a:txBody>
                </a:tc>
              </a:tr>
              <a:tr h="0">
                <a:tc>
                  <a:txBody>
                    <a:bodyPr/>
                    <a:lstStyle/>
                    <a:p>
                      <a:pPr lvl="0" indent="0" marL="0">
                        <a:buNone/>
                      </a:pPr>
                      <a:r>
                        <a:rPr>
                          <a:latin typeface="Courier"/>
                        </a:rPr>
                        <a:t>POST</a:t>
                      </a:r>
                    </a:p>
                  </a:txBody>
                </a:tc>
                <a:tc>
                  <a:txBody>
                    <a:bodyPr/>
                    <a:lstStyle/>
                    <a:p>
                      <a:pPr lvl="0" indent="0" marL="0">
                        <a:buNone/>
                      </a:pPr>
                      <a:r>
                        <a:rPr>
                          <a:latin typeface="Courier"/>
                        </a:rPr>
                        <a:t>/api/shieldx/alerts/test</a:t>
                      </a:r>
                    </a:p>
                  </a:txBody>
                </a:tc>
                <a:tc>
                  <a:txBody>
                    <a:bodyPr/>
                    <a:lstStyle/>
                    <a:p>
                      <a:pPr lvl="0" indent="0" marL="0">
                        <a:buNone/>
                      </a:pPr>
                      <a:r>
                        <a:rPr/>
                        <a:t>Session</a:t>
                      </a:r>
                    </a:p>
                  </a:txBody>
                </a:tc>
                <a:tc>
                  <a:txBody>
                    <a:bodyPr/>
                    <a:lstStyle/>
                    <a:p>
                      <a:pPr lvl="0" indent="0" marL="0">
                        <a:buNone/>
                      </a:pPr>
                      <a:r>
                        <a:rPr/>
                        <a:t>Pro+</a:t>
                      </a:r>
                    </a:p>
                  </a:txBody>
                </a:tc>
                <a:tc>
                  <a:txBody>
                    <a:bodyPr/>
                    <a:lstStyle/>
                    <a:p>
                      <a:pPr lvl="0" indent="0" marL="0">
                        <a:buNone/>
                      </a:pPr>
                      <a:r>
                        <a:rPr/>
                        <a:t>Test alert delivery</a:t>
                      </a:r>
                    </a:p>
                  </a:txBody>
                </a:tc>
              </a:tr>
              <a:tr h="0">
                <a:tc>
                  <a:txBody>
                    <a:bodyPr/>
                    <a:lstStyle/>
                    <a:p>
                      <a:pPr lvl="0" indent="0" marL="0">
                        <a:buNone/>
                      </a:pPr>
                      <a:r>
                        <a:rPr>
                          <a:latin typeface="Courier"/>
                        </a:rPr>
                        <a:t>POST</a:t>
                      </a:r>
                    </a:p>
                  </a:txBody>
                </a:tc>
                <a:tc>
                  <a:txBody>
                    <a:bodyPr/>
                    <a:lstStyle/>
                    <a:p>
                      <a:pPr lvl="0" indent="0" marL="0">
                        <a:buNone/>
                      </a:pPr>
                      <a:r>
                        <a:rPr>
                          <a:latin typeface="Courier"/>
                        </a:rPr>
                        <a:t>/api/shieldx/team</a:t>
                      </a:r>
                    </a:p>
                  </a:txBody>
                </a:tc>
                <a:tc>
                  <a:txBody>
                    <a:bodyPr/>
                    <a:lstStyle/>
                    <a:p>
                      <a:pPr lvl="0" indent="0" marL="0">
                        <a:buNone/>
                      </a:pPr>
                      <a:r>
                        <a:rPr/>
                        <a:t>Session</a:t>
                      </a:r>
                    </a:p>
                  </a:txBody>
                </a:tc>
                <a:tc>
                  <a:txBody>
                    <a:bodyPr/>
                    <a:lstStyle/>
                    <a:p>
                      <a:pPr lvl="0" indent="0" marL="0">
                        <a:buNone/>
                      </a:pPr>
                      <a:r>
                        <a:rPr/>
                        <a:t>Enterprise</a:t>
                      </a:r>
                    </a:p>
                  </a:txBody>
                </a:tc>
                <a:tc>
                  <a:txBody>
                    <a:bodyPr/>
                    <a:lstStyle/>
                    <a:p>
                      <a:pPr lvl="0" indent="0" marL="0">
                        <a:buNone/>
                      </a:pPr>
                      <a:r>
                        <a:rPr/>
                        <a:t>Team management</a:t>
                      </a:r>
                    </a:p>
                  </a:txBody>
                </a:tc>
              </a:tr>
              <a:tr h="0">
                <a:tc>
                  <a:txBody>
                    <a:bodyPr/>
                    <a:lstStyle/>
                    <a:p>
                      <a:pPr lvl="0" indent="0" marL="0">
                        <a:buNone/>
                      </a:pPr>
                      <a:r>
                        <a:rPr>
                          <a:latin typeface="Courier"/>
                        </a:rPr>
                        <a:t>POST</a:t>
                      </a:r>
                    </a:p>
                  </a:txBody>
                </a:tc>
                <a:tc>
                  <a:txBody>
                    <a:bodyPr/>
                    <a:lstStyle/>
                    <a:p>
                      <a:pPr lvl="0" indent="0" marL="0">
                        <a:buNone/>
                      </a:pPr>
                      <a:r>
                        <a:rPr>
                          <a:latin typeface="Courier"/>
                        </a:rPr>
                        <a:t>/api/shieldx/upgrade-plan</a:t>
                      </a:r>
                    </a:p>
                  </a:txBody>
                </a:tc>
                <a:tc>
                  <a:txBody>
                    <a:bodyPr/>
                    <a:lstStyle/>
                    <a:p>
                      <a:pPr lvl="0" indent="0" marL="0">
                        <a:buNone/>
                      </a:pPr>
                      <a:r>
                        <a:rPr/>
                        <a:t>Session (Admin)</a:t>
                      </a:r>
                    </a:p>
                  </a:txBody>
                </a:tc>
                <a:tc>
                  <a:txBody>
                    <a:bodyPr/>
                    <a:lstStyle/>
                    <a:p>
                      <a:pPr lvl="0" indent="0" marL="0">
                        <a:buNone/>
                      </a:pPr>
                      <a:r>
                        <a:rPr/>
                        <a:t>Admin</a:t>
                      </a:r>
                    </a:p>
                  </a:txBody>
                </a:tc>
                <a:tc>
                  <a:txBody>
                    <a:bodyPr/>
                    <a:lstStyle/>
                    <a:p>
                      <a:pPr lvl="0" indent="0" marL="0">
                        <a:buNone/>
                      </a:pPr>
                      <a:r>
                        <a:rPr/>
                        <a:t>Manual plan change</a:t>
                      </a:r>
                    </a:p>
                  </a:txBody>
                </a:tc>
              </a:tr>
              <a:tr h="0">
                <a:tc>
                  <a:txBody>
                    <a:bodyPr/>
                    <a:lstStyle/>
                    <a:p>
                      <a:pPr lvl="0" indent="0" marL="0">
                        <a:buNone/>
                      </a:pPr>
                      <a:r>
                        <a:rPr>
                          <a:latin typeface="Courier"/>
                        </a:rPr>
                        <a:t>POST</a:t>
                      </a:r>
                    </a:p>
                  </a:txBody>
                </a:tc>
                <a:tc>
                  <a:txBody>
                    <a:bodyPr/>
                    <a:lstStyle/>
                    <a:p>
                      <a:pPr lvl="0" indent="0" marL="0">
                        <a:buNone/>
                      </a:pPr>
                      <a:r>
                        <a:rPr>
                          <a:latin typeface="Courier"/>
                        </a:rPr>
                        <a:t>/api/shieldx/billing/checkout</a:t>
                      </a:r>
                    </a:p>
                  </a:txBody>
                </a:tc>
                <a:tc>
                  <a:txBody>
                    <a:bodyPr/>
                    <a:lstStyle/>
                    <a:p>
                      <a:pPr lvl="0" indent="0" marL="0">
                        <a:buNone/>
                      </a:pPr>
                      <a:r>
                        <a:rPr/>
                        <a:t>Session</a:t>
                      </a:r>
                    </a:p>
                  </a:txBody>
                </a:tc>
                <a:tc>
                  <a:txBody>
                    <a:bodyPr/>
                    <a:lstStyle/>
                    <a:p>
                      <a:pPr lvl="0" indent="0" marL="0">
                        <a:buNone/>
                      </a:pPr>
                      <a:r>
                        <a:rPr/>
                        <a:t>Any</a:t>
                      </a:r>
                    </a:p>
                  </a:txBody>
                </a:tc>
                <a:tc>
                  <a:txBody>
                    <a:bodyPr/>
                    <a:lstStyle/>
                    <a:p>
                      <a:pPr lvl="0" indent="0" marL="0">
                        <a:buNone/>
                      </a:pPr>
                      <a:r>
                        <a:rPr/>
                        <a:t>Create payment order</a:t>
                      </a:r>
                    </a:p>
                  </a:txBody>
                </a:tc>
              </a:tr>
              <a:tr h="0">
                <a:tc>
                  <a:txBody>
                    <a:bodyPr/>
                    <a:lstStyle/>
                    <a:p>
                      <a:pPr lvl="0" indent="0" marL="0">
                        <a:buNone/>
                      </a:pPr>
                      <a:r>
                        <a:rPr>
                          <a:latin typeface="Courier"/>
                        </a:rPr>
                        <a:t>GET</a:t>
                      </a:r>
                    </a:p>
                  </a:txBody>
                </a:tc>
                <a:tc>
                  <a:txBody>
                    <a:bodyPr/>
                    <a:lstStyle/>
                    <a:p>
                      <a:pPr lvl="0" indent="0" marL="0">
                        <a:buNone/>
                      </a:pPr>
                      <a:r>
                        <a:rPr>
                          <a:latin typeface="Courier"/>
                        </a:rPr>
                        <a:t>/api/shieldx/billing/subscription</a:t>
                      </a:r>
                    </a:p>
                  </a:txBody>
                </a:tc>
                <a:tc>
                  <a:txBody>
                    <a:bodyPr/>
                    <a:lstStyle/>
                    <a:p>
                      <a:pPr lvl="0" indent="0" marL="0">
                        <a:buNone/>
                      </a:pPr>
                      <a:r>
                        <a:rPr/>
                        <a:t>Session</a:t>
                      </a:r>
                    </a:p>
                  </a:txBody>
                </a:tc>
                <a:tc>
                  <a:txBody>
                    <a:bodyPr/>
                    <a:lstStyle/>
                    <a:p>
                      <a:pPr lvl="0" indent="0" marL="0">
                        <a:buNone/>
                      </a:pPr>
                      <a:r>
                        <a:rPr/>
                        <a:t>Any</a:t>
                      </a:r>
                    </a:p>
                  </a:txBody>
                </a:tc>
                <a:tc>
                  <a:txBody>
                    <a:bodyPr/>
                    <a:lstStyle/>
                    <a:p>
                      <a:pPr lvl="0" indent="0" marL="0">
                        <a:buNone/>
                      </a:pPr>
                      <a:r>
                        <a:rPr/>
                        <a:t>Get plan status</a:t>
                      </a:r>
                    </a:p>
                  </a:txBody>
                </a:tc>
              </a:tr>
              <a:tr h="0">
                <a:tc>
                  <a:txBody>
                    <a:bodyPr/>
                    <a:lstStyle/>
                    <a:p>
                      <a:pPr lvl="0" indent="0" marL="0">
                        <a:buNone/>
                      </a:pPr>
                      <a:r>
                        <a:rPr>
                          <a:latin typeface="Courier"/>
                        </a:rPr>
                        <a:t>POST</a:t>
                      </a:r>
                    </a:p>
                  </a:txBody>
                </a:tc>
                <a:tc>
                  <a:txBody>
                    <a:bodyPr/>
                    <a:lstStyle/>
                    <a:p>
                      <a:pPr lvl="0" indent="0" marL="0">
                        <a:buNone/>
                      </a:pPr>
                      <a:r>
                        <a:rPr>
                          <a:latin typeface="Courier"/>
                        </a:rPr>
                        <a:t>/api/shieldx/billing/cancel</a:t>
                      </a:r>
                    </a:p>
                  </a:txBody>
                </a:tc>
                <a:tc>
                  <a:txBody>
                    <a:bodyPr/>
                    <a:lstStyle/>
                    <a:p>
                      <a:pPr lvl="0" indent="0" marL="0">
                        <a:buNone/>
                      </a:pPr>
                      <a:r>
                        <a:rPr/>
                        <a:t>Session</a:t>
                      </a:r>
                    </a:p>
                  </a:txBody>
                </a:tc>
                <a:tc>
                  <a:txBody>
                    <a:bodyPr/>
                    <a:lstStyle/>
                    <a:p>
                      <a:pPr lvl="0" indent="0" marL="0">
                        <a:buNone/>
                      </a:pPr>
                      <a:r>
                        <a:rPr/>
                        <a:t>Paid</a:t>
                      </a:r>
                    </a:p>
                  </a:txBody>
                </a:tc>
                <a:tc>
                  <a:txBody>
                    <a:bodyPr/>
                    <a:lstStyle/>
                    <a:p>
                      <a:pPr lvl="0" indent="0" marL="0">
                        <a:buNone/>
                      </a:pPr>
                      <a:r>
                        <a:rPr/>
                        <a:t>Cancel subscription</a:t>
                      </a:r>
                    </a:p>
                  </a:txBody>
                </a:tc>
              </a:tr>
              <a:tr h="0">
                <a:tc>
                  <a:txBody>
                    <a:bodyPr/>
                    <a:lstStyle/>
                    <a:p>
                      <a:pPr lvl="0" indent="0" marL="0">
                        <a:buNone/>
                      </a:pPr>
                      <a:r>
                        <a:rPr>
                          <a:latin typeface="Courier"/>
                        </a:rPr>
                        <a:t>POST</a:t>
                      </a:r>
                    </a:p>
                  </a:txBody>
                </a:tc>
                <a:tc>
                  <a:txBody>
                    <a:bodyPr/>
                    <a:lstStyle/>
                    <a:p>
                      <a:pPr lvl="0" indent="0" marL="0">
                        <a:buNone/>
                      </a:pPr>
                      <a:r>
                        <a:rPr>
                          <a:latin typeface="Courier"/>
                        </a:rPr>
                        <a:t>/api/shieldx/billing/webhook</a:t>
                      </a:r>
                    </a:p>
                  </a:txBody>
                </a:tc>
                <a:tc>
                  <a:txBody>
                    <a:bodyPr/>
                    <a:lstStyle/>
                    <a:p>
                      <a:pPr lvl="0" indent="0" marL="0">
                        <a:buNone/>
                      </a:pPr>
                      <a:r>
                        <a:rPr/>
                        <a:t>Razorpay signature</a:t>
                      </a:r>
                    </a:p>
                  </a:txBody>
                </a:tc>
                <a:tc>
                  <a:txBody>
                    <a:bodyPr/>
                    <a:lstStyle/>
                    <a:p>
                      <a:pPr lvl="0" indent="0" marL="0">
                        <a:buNone/>
                      </a:pPr>
                      <a:r>
                        <a:rPr/>
                        <a:t>N/A</a:t>
                      </a:r>
                    </a:p>
                  </a:txBody>
                </a:tc>
                <a:tc>
                  <a:txBody>
                    <a:bodyPr/>
                    <a:lstStyle/>
                    <a:p>
                      <a:pPr lvl="0" indent="0" marL="0">
                        <a:buNone/>
                      </a:pPr>
                      <a:r>
                        <a:rPr/>
                        <a:t>Payment webhook</a:t>
                      </a:r>
                    </a:p>
                  </a:txBody>
                </a:tc>
              </a:tr>
            </a:tbl>
          </a:graphicData>
        </a:graphic>
      </p:graphicFrame>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Error Response Format</a:t>
            </a:r>
          </a:p>
          <a:p>
            <a:pPr lvl="0" indent="0">
              <a:buNone/>
            </a:pPr>
            <a:r>
              <a:rPr>
                <a:solidFill>
                  <a:srgbClr val="06287E"/>
                </a:solidFill>
                <a:latin typeface="Courier"/>
              </a:rPr>
              <a:t>{</a:t>
            </a:r>
            <a:br/>
            <a:r>
              <a:rPr>
                <a:latin typeface="Courier"/>
              </a:rPr>
              <a:t>  </a:t>
            </a:r>
            <a:r>
              <a:rPr>
                <a:solidFill>
                  <a:srgbClr val="902000"/>
                </a:solidFill>
                <a:latin typeface="Courier"/>
              </a:rPr>
              <a:t>"error"</a:t>
            </a:r>
            <a:r>
              <a:rPr>
                <a:solidFill>
                  <a:srgbClr val="06287E"/>
                </a:solidFill>
                <a:latin typeface="Courier"/>
              </a:rPr>
              <a:t>:</a:t>
            </a:r>
            <a:r>
              <a:rPr>
                <a:latin typeface="Courier"/>
              </a:rPr>
              <a:t> </a:t>
            </a:r>
            <a:r>
              <a:rPr>
                <a:solidFill>
                  <a:srgbClr val="4070A0"/>
                </a:solidFill>
                <a:latin typeface="Courier"/>
              </a:rPr>
              <a:t>"Description of the error"</a:t>
            </a:r>
            <a:br/>
            <a:r>
              <a:rPr>
                <a:solidFill>
                  <a:srgbClr val="06287E"/>
                </a:solidFill>
                <a:latin typeface="Courier"/>
              </a:rPr>
              <a:t>}</a:t>
            </a:r>
          </a:p>
          <a:p>
            <a:pPr lvl="0" indent="0" marL="0">
              <a:buNone/>
            </a:pPr>
            <a:r>
              <a:rPr/>
              <a:t>Common HTTP status codes: - </a:t>
            </a:r>
            <a:r>
              <a:rPr>
                <a:latin typeface="Courier"/>
              </a:rPr>
              <a:t>400</a:t>
            </a:r>
            <a:r>
              <a:rPr/>
              <a:t> — Invalid input - </a:t>
            </a:r>
            <a:r>
              <a:rPr>
                <a:latin typeface="Courier"/>
              </a:rPr>
              <a:t>401</a:t>
            </a:r>
            <a:r>
              <a:rPr/>
              <a:t> — Not authenticated - </a:t>
            </a:r>
            <a:r>
              <a:rPr>
                <a:latin typeface="Courier"/>
              </a:rPr>
              <a:t>403</a:t>
            </a:r>
            <a:r>
              <a:rPr/>
              <a:t> — Plan/feature access denied, scan limit exceeded - </a:t>
            </a:r>
            <a:r>
              <a:rPr>
                <a:latin typeface="Courier"/>
              </a:rPr>
              <a:t>429</a:t>
            </a:r>
            <a:r>
              <a:rPr/>
              <a:t> — Rate limit (demo mode) - </a:t>
            </a:r>
            <a:r>
              <a:rPr>
                <a:latin typeface="Courier"/>
              </a:rPr>
              <a:t>500</a:t>
            </a:r>
            <a:r>
              <a:rPr/>
              <a:t> — Server error</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6. Authentication &amp; Authorization</a:t>
            </a:r>
          </a:p>
        </p:txBody>
      </p:sp>
      <p:sp>
        <p:nvSpPr>
          <p:cNvPr id="4" name="Text Placeholder 3"/>
          <p:cNvSpPr>
            <a:spLocks noGrp="1"/>
          </p:cNvSpPr>
          <p:nvPr>
            <p:ph idx="2" sz="half" type="body"/>
          </p:nvPr>
        </p:nvSpPr>
        <p:spPr/>
        <p:txBody>
          <a:bodyPr/>
          <a:lstStyle/>
          <a:p>
            <a:pPr lvl="0" indent="0" marL="0">
              <a:spcBef>
                <a:spcPts val="3000"/>
              </a:spcBef>
              <a:buNone/>
            </a:pPr>
            <a:r>
              <a:rPr b="1"/>
              <a:t>Auth Flow</a:t>
            </a:r>
          </a:p>
          <a:p>
            <a:pPr lvl="0" indent="0">
              <a:buNone/>
            </a:pPr>
            <a:r>
              <a:rPr>
                <a:latin typeface="Courier"/>
              </a:rPr>
              <a:t>User Login → NextAuth.js → JWT Token (cookie) → API Route → Session Extraction → Plan Check → Scan</a:t>
            </a:r>
          </a:p>
          <a:p>
            <a:pPr lvl="0" indent="0" marL="0">
              <a:spcBef>
                <a:spcPts val="3000"/>
              </a:spcBef>
              <a:buNone/>
            </a:pPr>
            <a:r>
              <a:rPr b="1"/>
              <a:t>Key Files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044700"/>
                <a:gridCol w="3060700"/>
              </a:tblGrid>
              <a:tr h="0">
                <a:tc>
                  <a:txBody>
                    <a:bodyPr/>
                    <a:lstStyle/>
                    <a:p>
                      <a:pPr lvl="0" indent="0" marL="0">
                        <a:buNone/>
                      </a:pPr>
                      <a:r>
                        <a:rPr/>
                        <a:t>File</a:t>
                      </a:r>
                    </a:p>
                  </a:txBody>
                  <a:tcPr/>
                </a:tc>
                <a:tc>
                  <a:txBody>
                    <a:bodyPr/>
                    <a:lstStyle/>
                    <a:p>
                      <a:pPr lvl="0" indent="0" marL="0">
                        <a:buNone/>
                      </a:pPr>
                      <a:r>
                        <a:rPr/>
                        <a:t>Purpose</a:t>
                      </a:r>
                    </a:p>
                  </a:txBody>
                  <a:tcPr/>
                </a:tc>
              </a:tr>
              <a:tr h="0">
                <a:tc>
                  <a:txBody>
                    <a:bodyPr/>
                    <a:lstStyle/>
                    <a:p>
                      <a:pPr lvl="0" indent="0" marL="0">
                        <a:buNone/>
                      </a:pPr>
                      <a:r>
                        <a:rPr>
                          <a:latin typeface="Courier"/>
                        </a:rPr>
                        <a:t>lib/auth.ts</a:t>
                      </a:r>
                    </a:p>
                  </a:txBody>
                </a:tc>
                <a:tc>
                  <a:txBody>
                    <a:bodyPr/>
                    <a:lstStyle/>
                    <a:p>
                      <a:pPr lvl="0" indent="0" marL="0">
                        <a:buNone/>
                      </a:pPr>
                      <a:r>
                        <a:rPr/>
                        <a:t>NextAuth configuration, JWT callbacks, session strategy</a:t>
                      </a:r>
                    </a:p>
                  </a:txBody>
                </a:tc>
              </a:tr>
              <a:tr h="0">
                <a:tc>
                  <a:txBody>
                    <a:bodyPr/>
                    <a:lstStyle/>
                    <a:p>
                      <a:pPr lvl="0" indent="0" marL="0">
                        <a:buNone/>
                      </a:pPr>
                      <a:r>
                        <a:rPr>
                          <a:latin typeface="Courier"/>
                        </a:rPr>
                        <a:t>lib/shieldx-access.ts</a:t>
                      </a:r>
                    </a:p>
                  </a:txBody>
                </a:tc>
                <a:tc>
                  <a:txBody>
                    <a:bodyPr/>
                    <a:lstStyle/>
                    <a:p>
                      <a:pPr lvl="0" indent="0" marL="0">
                        <a:buNone/>
                      </a:pPr>
                      <a:r>
                        <a:rPr/>
                        <a:t>Extract session user, plan checking, admin detection</a:t>
                      </a:r>
                    </a:p>
                  </a:txBody>
                </a:tc>
              </a:tr>
              <a:tr h="0">
                <a:tc>
                  <a:txBody>
                    <a:bodyPr/>
                    <a:lstStyle/>
                    <a:p>
                      <a:pPr lvl="0" indent="0" marL="0">
                        <a:buNone/>
                      </a:pPr>
                      <a:r>
                        <a:rPr>
                          <a:latin typeface="Courier"/>
                        </a:rPr>
                        <a:t>lib/shieldx-route-auth.ts</a:t>
                      </a:r>
                    </a:p>
                  </a:txBody>
                </a:tc>
                <a:tc>
                  <a:txBody>
                    <a:bodyPr/>
                    <a:lstStyle/>
                    <a:p>
                      <a:pPr lvl="0" indent="0" marL="0">
                        <a:buNone/>
                      </a:pPr>
                      <a:r>
                        <a:rPr/>
                        <a:t>Route-level authorization, feature gating, scan limits</a:t>
                      </a:r>
                    </a:p>
                  </a:txBody>
                </a:tc>
              </a:tr>
              <a:tr h="0">
                <a:tc>
                  <a:txBody>
                    <a:bodyPr/>
                    <a:lstStyle/>
                    <a:p>
                      <a:pPr lvl="0" indent="0" marL="0">
                        <a:buNone/>
                      </a:pPr>
                      <a:r>
                        <a:rPr>
                          <a:latin typeface="Courier"/>
                        </a:rPr>
                        <a:t>lib/feature-flags.ts</a:t>
                      </a:r>
                    </a:p>
                  </a:txBody>
                </a:tc>
                <a:tc>
                  <a:txBody>
                    <a:bodyPr/>
                    <a:lstStyle/>
                    <a:p>
                      <a:pPr lvl="0" indent="0" marL="0">
                        <a:buNone/>
                      </a:pPr>
                      <a:r>
                        <a:rPr/>
                        <a:t>Plan → feature mapping, scan limit lookup</a:t>
                      </a:r>
                    </a:p>
                  </a:txBody>
                </a:tc>
              </a:tr>
              <a:tr h="0">
                <a:tc>
                  <a:txBody>
                    <a:bodyPr/>
                    <a:lstStyle/>
                    <a:p>
                      <a:pPr lvl="0" indent="0" marL="0">
                        <a:buNone/>
                      </a:pPr>
                      <a:r>
                        <a:rPr>
                          <a:latin typeface="Courier"/>
                        </a:rPr>
                        <a:t>lib/shieldx-api-key.ts</a:t>
                      </a:r>
                    </a:p>
                  </a:txBody>
                </a:tc>
                <a:tc>
                  <a:txBody>
                    <a:bodyPr/>
                    <a:lstStyle/>
                    <a:p>
                      <a:pPr lvl="0" indent="0" marL="0">
                        <a:buNone/>
                      </a:pPr>
                      <a:r>
                        <a:rPr/>
                        <a:t>API key validation for programmatic access</a:t>
                      </a:r>
                    </a:p>
                  </a:txBody>
                </a:tc>
              </a:tr>
            </a:tbl>
          </a:graphicData>
        </a:graphic>
      </p:graphicFrame>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Authorization Chain</a:t>
            </a:r>
          </a:p>
          <a:p>
            <a:pPr lvl="0" indent="0">
              <a:buNone/>
            </a:pPr>
            <a:r>
              <a:rPr i="1">
                <a:solidFill>
                  <a:srgbClr val="60A0B0"/>
                </a:solidFill>
                <a:latin typeface="Courier"/>
              </a:rPr>
              <a:t>// 1. Extract session user from JWT</a:t>
            </a:r>
            <a:br/>
            <a:r>
              <a:rPr b="1">
                <a:solidFill>
                  <a:srgbClr val="007020"/>
                </a:solidFill>
                <a:latin typeface="Courier"/>
              </a:rPr>
              <a:t>const</a:t>
            </a:r>
            <a:r>
              <a:rPr>
                <a:latin typeface="Courier"/>
              </a:rPr>
              <a:t> sessionUser </a:t>
            </a:r>
            <a:r>
              <a:rPr>
                <a:solidFill>
                  <a:srgbClr val="666666"/>
                </a:solidFill>
                <a:latin typeface="Courier"/>
              </a:rPr>
              <a:t>=</a:t>
            </a:r>
            <a:r>
              <a:rPr>
                <a:latin typeface="Courier"/>
              </a:rPr>
              <a:t> </a:t>
            </a:r>
            <a:r>
              <a:rPr b="1">
                <a:solidFill>
                  <a:srgbClr val="007020"/>
                </a:solidFill>
                <a:latin typeface="Courier"/>
              </a:rPr>
              <a:t>await</a:t>
            </a:r>
            <a:r>
              <a:rPr>
                <a:latin typeface="Courier"/>
              </a:rPr>
              <a:t> </a:t>
            </a:r>
            <a:r>
              <a:rPr>
                <a:solidFill>
                  <a:srgbClr val="06287E"/>
                </a:solidFill>
                <a:latin typeface="Courier"/>
              </a:rPr>
              <a:t>getShieldXSessionUser</a:t>
            </a:r>
            <a:r>
              <a:rPr>
                <a:latin typeface="Courier"/>
              </a:rPr>
              <a:t>()</a:t>
            </a:r>
            <a:r>
              <a:rPr>
                <a:solidFill>
                  <a:srgbClr val="666666"/>
                </a:solidFill>
                <a:latin typeface="Courier"/>
              </a:rPr>
              <a:t>;</a:t>
            </a:r>
            <a:br/>
            <a:br/>
            <a:r>
              <a:rPr i="1">
                <a:solidFill>
                  <a:srgbClr val="60A0B0"/>
                </a:solidFill>
                <a:latin typeface="Courier"/>
              </a:rPr>
              <a:t>// 2. Check plan level (free=0, pro=1, enterprise=2)</a:t>
            </a:r>
            <a:br/>
            <a:r>
              <a:rPr>
                <a:solidFill>
                  <a:srgbClr val="06287E"/>
                </a:solidFill>
                <a:latin typeface="Courier"/>
              </a:rPr>
              <a:t>hasShieldXAccess</a:t>
            </a:r>
            <a:r>
              <a:rPr>
                <a:latin typeface="Courier"/>
              </a:rPr>
              <a:t>(user</a:t>
            </a:r>
            <a:r>
              <a:rPr>
                <a:solidFill>
                  <a:srgbClr val="666666"/>
                </a:solidFill>
                <a:latin typeface="Courier"/>
              </a:rPr>
              <a:t>,</a:t>
            </a:r>
            <a:r>
              <a:rPr>
                <a:latin typeface="Courier"/>
              </a:rPr>
              <a:t> </a:t>
            </a:r>
            <a:r>
              <a:rPr>
                <a:solidFill>
                  <a:srgbClr val="4070A0"/>
                </a:solidFill>
                <a:latin typeface="Courier"/>
              </a:rPr>
              <a:t>"pro"</a:t>
            </a:r>
            <a:r>
              <a:rPr>
                <a:latin typeface="Courier"/>
              </a:rPr>
              <a:t>)</a:t>
            </a:r>
            <a:r>
              <a:rPr>
                <a:solidFill>
                  <a:srgbClr val="666666"/>
                </a:solidFill>
                <a:latin typeface="Courier"/>
              </a:rPr>
              <a:t>;</a:t>
            </a:r>
            <a:r>
              <a:rPr>
                <a:latin typeface="Courier"/>
              </a:rPr>
              <a:t> </a:t>
            </a:r>
            <a:r>
              <a:rPr i="1">
                <a:solidFill>
                  <a:srgbClr val="60A0B0"/>
                </a:solidFill>
                <a:latin typeface="Courier"/>
              </a:rPr>
              <a:t>// returns true if user plan &gt;= "pro"</a:t>
            </a:r>
            <a:br/>
            <a:br/>
            <a:r>
              <a:rPr i="1">
                <a:solidFill>
                  <a:srgbClr val="60A0B0"/>
                </a:solidFill>
                <a:latin typeface="Courier"/>
              </a:rPr>
              <a:t>// 3. Check specific feature access</a:t>
            </a:r>
            <a:br/>
            <a:r>
              <a:rPr>
                <a:solidFill>
                  <a:srgbClr val="06287E"/>
                </a:solidFill>
                <a:latin typeface="Courier"/>
              </a:rPr>
              <a:t>enforceShieldXFeatureAccess</a:t>
            </a:r>
            <a:r>
              <a:rPr>
                <a:latin typeface="Courier"/>
              </a:rPr>
              <a:t>(user</a:t>
            </a:r>
            <a:r>
              <a:rPr>
                <a:solidFill>
                  <a:srgbClr val="666666"/>
                </a:solidFill>
                <a:latin typeface="Courier"/>
              </a:rPr>
              <a:t>,</a:t>
            </a:r>
            <a:r>
              <a:rPr>
                <a:latin typeface="Courier"/>
              </a:rPr>
              <a:t> </a:t>
            </a:r>
            <a:r>
              <a:rPr>
                <a:solidFill>
                  <a:srgbClr val="4070A0"/>
                </a:solidFill>
                <a:latin typeface="Courier"/>
              </a:rPr>
              <a:t>"dependency-audit"</a:t>
            </a:r>
            <a:r>
              <a:rPr>
                <a:latin typeface="Courier"/>
              </a:rPr>
              <a:t>)</a:t>
            </a:r>
            <a:r>
              <a:rPr>
                <a:solidFill>
                  <a:srgbClr val="666666"/>
                </a:solidFill>
                <a:latin typeface="Courier"/>
              </a:rPr>
              <a:t>;</a:t>
            </a:r>
            <a:r>
              <a:rPr>
                <a:latin typeface="Courier"/>
              </a:rPr>
              <a:t> </a:t>
            </a:r>
            <a:r>
              <a:rPr i="1">
                <a:solidFill>
                  <a:srgbClr val="60A0B0"/>
                </a:solidFill>
                <a:latin typeface="Courier"/>
              </a:rPr>
              <a:t>// throws if not enabled</a:t>
            </a:r>
            <a:br/>
            <a:br/>
            <a:r>
              <a:rPr i="1">
                <a:solidFill>
                  <a:srgbClr val="60A0B0"/>
                </a:solidFill>
                <a:latin typeface="Courier"/>
              </a:rPr>
              <a:t>// 4. Enforce scan limits</a:t>
            </a:r>
            <a:br/>
            <a:r>
              <a:rPr>
                <a:solidFill>
                  <a:srgbClr val="06287E"/>
                </a:solidFill>
                <a:latin typeface="Courier"/>
              </a:rPr>
              <a:t>enforceShieldXScanLimit</a:t>
            </a:r>
            <a:r>
              <a:rPr>
                <a:latin typeface="Courier"/>
              </a:rPr>
              <a:t>(user</a:t>
            </a:r>
            <a:r>
              <a:rPr>
                <a:solidFill>
                  <a:srgbClr val="666666"/>
                </a:solidFill>
                <a:latin typeface="Courier"/>
              </a:rPr>
              <a:t>,</a:t>
            </a:r>
            <a:r>
              <a:rPr>
                <a:latin typeface="Courier"/>
              </a:rPr>
              <a:t> </a:t>
            </a:r>
            <a:r>
              <a:rPr>
                <a:solidFill>
                  <a:srgbClr val="40A070"/>
                </a:solidFill>
                <a:latin typeface="Courier"/>
              </a:rPr>
              <a:t>1</a:t>
            </a:r>
            <a:r>
              <a:rPr>
                <a:latin typeface="Courier"/>
              </a:rPr>
              <a:t>)</a:t>
            </a:r>
            <a:r>
              <a:rPr>
                <a:solidFill>
                  <a:srgbClr val="666666"/>
                </a:solidFill>
                <a:latin typeface="Courier"/>
              </a:rPr>
              <a:t>;</a:t>
            </a:r>
            <a:r>
              <a:rPr>
                <a:latin typeface="Courier"/>
              </a:rPr>
              <a:t> </a:t>
            </a:r>
            <a:r>
              <a:rPr i="1">
                <a:solidFill>
                  <a:srgbClr val="60A0B0"/>
                </a:solidFill>
                <a:latin typeface="Courier"/>
              </a:rPr>
              <a:t>// throws if limit exceeded</a:t>
            </a:r>
          </a:p>
          <a:p>
            <a:pPr lvl="0" indent="0" marL="0">
              <a:spcBef>
                <a:spcPts val="3000"/>
              </a:spcBef>
              <a:buNone/>
            </a:pPr>
            <a:r>
              <a:rPr b="1"/>
              <a:t>Plan Feature Matrix</a:t>
            </a:r>
          </a:p>
          <a:p>
            <a:pPr lvl="0" indent="0">
              <a:buNone/>
            </a:pPr>
            <a:r>
              <a:rPr b="1">
                <a:solidFill>
                  <a:srgbClr val="007020"/>
                </a:solidFill>
                <a:latin typeface="Courier"/>
              </a:rPr>
              <a:t>const</a:t>
            </a:r>
            <a:r>
              <a:rPr>
                <a:latin typeface="Courier"/>
              </a:rPr>
              <a:t> planFeatures </a:t>
            </a:r>
            <a:r>
              <a:rPr>
                <a:solidFill>
                  <a:srgbClr val="666666"/>
                </a:solidFill>
                <a:latin typeface="Courier"/>
              </a:rPr>
              <a:t>=</a:t>
            </a:r>
            <a:r>
              <a:rPr>
                <a:latin typeface="Courier"/>
              </a:rPr>
              <a:t> {</a:t>
            </a:r>
            <a:br/>
            <a:r>
              <a:rPr>
                <a:latin typeface="Courier"/>
              </a:rPr>
              <a:t>  free</a:t>
            </a:r>
            <a:r>
              <a:rPr>
                <a:solidFill>
                  <a:srgbClr val="666666"/>
                </a:solidFill>
                <a:latin typeface="Courier"/>
              </a:rPr>
              <a:t>:</a:t>
            </a:r>
            <a:r>
              <a:rPr>
                <a:latin typeface="Courier"/>
              </a:rPr>
              <a:t> [</a:t>
            </a:r>
            <a:r>
              <a:rPr>
                <a:solidFill>
                  <a:srgbClr val="4070A0"/>
                </a:solidFill>
                <a:latin typeface="Courier"/>
              </a:rPr>
              <a:t>"basic-modules"</a:t>
            </a:r>
            <a:r>
              <a:rPr>
                <a:solidFill>
                  <a:srgbClr val="666666"/>
                </a:solidFill>
                <a:latin typeface="Courier"/>
              </a:rPr>
              <a:t>,</a:t>
            </a:r>
            <a:r>
              <a:rPr>
                <a:latin typeface="Courier"/>
              </a:rPr>
              <a:t> </a:t>
            </a:r>
            <a:r>
              <a:rPr>
                <a:solidFill>
                  <a:srgbClr val="4070A0"/>
                </a:solidFill>
                <a:latin typeface="Courier"/>
              </a:rPr>
              <a:t>"limited-scans"</a:t>
            </a:r>
            <a:r>
              <a:rPr>
                <a:solidFill>
                  <a:srgbClr val="666666"/>
                </a:solidFill>
                <a:latin typeface="Courier"/>
              </a:rPr>
              <a:t>,</a:t>
            </a:r>
            <a:r>
              <a:rPr>
                <a:latin typeface="Courier"/>
              </a:rPr>
              <a:t> </a:t>
            </a:r>
            <a:r>
              <a:rPr>
                <a:solidFill>
                  <a:srgbClr val="4070A0"/>
                </a:solidFill>
                <a:latin typeface="Courier"/>
              </a:rPr>
              <a:t>"demo"</a:t>
            </a:r>
            <a:r>
              <a:rPr>
                <a:solidFill>
                  <a:srgbClr val="666666"/>
                </a:solidFill>
                <a:latin typeface="Courier"/>
              </a:rPr>
              <a:t>,</a:t>
            </a:r>
            <a:r>
              <a:rPr>
                <a:latin typeface="Courier"/>
              </a:rPr>
              <a:t> </a:t>
            </a:r>
            <a:r>
              <a:rPr>
                <a:solidFill>
                  <a:srgbClr val="4070A0"/>
                </a:solidFill>
                <a:latin typeface="Courier"/>
              </a:rPr>
              <a:t>"secrets-scan"</a:t>
            </a:r>
            <a:r>
              <a:rPr>
                <a:latin typeface="Courier"/>
              </a:rPr>
              <a:t>]</a:t>
            </a:r>
            <a:r>
              <a:rPr>
                <a:solidFill>
                  <a:srgbClr val="666666"/>
                </a:solidFill>
                <a:latin typeface="Courier"/>
              </a:rPr>
              <a:t>,</a:t>
            </a:r>
            <a:br/>
            <a:r>
              <a:rPr>
                <a:latin typeface="Courier"/>
              </a:rPr>
              <a:t>  pro</a:t>
            </a:r>
            <a:r>
              <a:rPr>
                <a:solidFill>
                  <a:srgbClr val="666666"/>
                </a:solidFill>
                <a:latin typeface="Courier"/>
              </a:rPr>
              <a:t>:</a:t>
            </a:r>
            <a:r>
              <a:rPr>
                <a:latin typeface="Courier"/>
              </a:rPr>
              <a:t> [</a:t>
            </a:r>
            <a:r>
              <a:rPr>
                <a:solidFill>
                  <a:srgbClr val="4070A0"/>
                </a:solidFill>
                <a:latin typeface="Courier"/>
              </a:rPr>
              <a:t>"basic-modules"</a:t>
            </a:r>
            <a:r>
              <a:rPr>
                <a:solidFill>
                  <a:srgbClr val="666666"/>
                </a:solidFill>
                <a:latin typeface="Courier"/>
              </a:rPr>
              <a:t>,</a:t>
            </a:r>
            <a:r>
              <a:rPr>
                <a:latin typeface="Courier"/>
              </a:rPr>
              <a:t> </a:t>
            </a:r>
            <a:r>
              <a:rPr>
                <a:solidFill>
                  <a:srgbClr val="4070A0"/>
                </a:solidFill>
                <a:latin typeface="Courier"/>
              </a:rPr>
              <a:t>"api-security"</a:t>
            </a:r>
            <a:r>
              <a:rPr>
                <a:solidFill>
                  <a:srgbClr val="666666"/>
                </a:solidFill>
                <a:latin typeface="Courier"/>
              </a:rPr>
              <a:t>,</a:t>
            </a:r>
            <a:r>
              <a:rPr>
                <a:latin typeface="Courier"/>
              </a:rPr>
              <a:t> </a:t>
            </a:r>
            <a:r>
              <a:rPr>
                <a:solidFill>
                  <a:srgbClr val="4070A0"/>
                </a:solidFill>
                <a:latin typeface="Courier"/>
              </a:rPr>
              <a:t>"dependency-audit"</a:t>
            </a:r>
            <a:r>
              <a:rPr>
                <a:solidFill>
                  <a:srgbClr val="666666"/>
                </a:solidFill>
                <a:latin typeface="Courier"/>
              </a:rPr>
              <a:t>,</a:t>
            </a:r>
            <a:r>
              <a:rPr>
                <a:latin typeface="Courier"/>
              </a:rPr>
              <a:t> </a:t>
            </a:r>
            <a:r>
              <a:rPr>
                <a:solidFill>
                  <a:srgbClr val="4070A0"/>
                </a:solidFill>
                <a:latin typeface="Courier"/>
              </a:rPr>
              <a:t>"secrets-scan"</a:t>
            </a:r>
            <a:r>
              <a:rPr>
                <a:solidFill>
                  <a:srgbClr val="666666"/>
                </a:solidFill>
                <a:latin typeface="Courier"/>
              </a:rPr>
              <a:t>,</a:t>
            </a:r>
            <a:br/>
            <a:r>
              <a:rPr>
                <a:latin typeface="Courier"/>
              </a:rPr>
              <a:t>        </a:t>
            </a:r>
            <a:r>
              <a:rPr>
                <a:solidFill>
                  <a:srgbClr val="4070A0"/>
                </a:solidFill>
                <a:latin typeface="Courier"/>
              </a:rPr>
              <a:t>"cloud-security"</a:t>
            </a:r>
            <a:r>
              <a:rPr>
                <a:solidFill>
                  <a:srgbClr val="666666"/>
                </a:solidFill>
                <a:latin typeface="Courier"/>
              </a:rPr>
              <a:t>,</a:t>
            </a:r>
            <a:r>
              <a:rPr>
                <a:latin typeface="Courier"/>
              </a:rPr>
              <a:t> </a:t>
            </a:r>
            <a:r>
              <a:rPr>
                <a:solidFill>
                  <a:srgbClr val="4070A0"/>
                </a:solidFill>
                <a:latin typeface="Courier"/>
              </a:rPr>
              <a:t>"log-analyzer"</a:t>
            </a:r>
            <a:r>
              <a:rPr>
                <a:solidFill>
                  <a:srgbClr val="666666"/>
                </a:solidFill>
                <a:latin typeface="Courier"/>
              </a:rPr>
              <a:t>,</a:t>
            </a:r>
            <a:r>
              <a:rPr>
                <a:latin typeface="Courier"/>
              </a:rPr>
              <a:t> </a:t>
            </a:r>
            <a:r>
              <a:rPr>
                <a:solidFill>
                  <a:srgbClr val="4070A0"/>
                </a:solidFill>
                <a:latin typeface="Courier"/>
              </a:rPr>
              <a:t>"alerts"</a:t>
            </a:r>
            <a:r>
              <a:rPr>
                <a:solidFill>
                  <a:srgbClr val="666666"/>
                </a:solidFill>
                <a:latin typeface="Courier"/>
              </a:rPr>
              <a:t>,</a:t>
            </a:r>
            <a:r>
              <a:rPr>
                <a:latin typeface="Courier"/>
              </a:rPr>
              <a:t> </a:t>
            </a:r>
            <a:r>
              <a:rPr>
                <a:solidFill>
                  <a:srgbClr val="4070A0"/>
                </a:solidFill>
                <a:latin typeface="Courier"/>
              </a:rPr>
              <a:t>"higher-scan-limit"</a:t>
            </a:r>
            <a:r>
              <a:rPr>
                <a:latin typeface="Courier"/>
              </a:rPr>
              <a:t>]</a:t>
            </a:r>
            <a:r>
              <a:rPr>
                <a:solidFill>
                  <a:srgbClr val="666666"/>
                </a:solidFill>
                <a:latin typeface="Courier"/>
              </a:rPr>
              <a:t>,</a:t>
            </a:r>
            <a:br/>
            <a:r>
              <a:rPr>
                <a:latin typeface="Courier"/>
              </a:rPr>
              <a:t>  enterprise</a:t>
            </a:r>
            <a:r>
              <a:rPr>
                <a:solidFill>
                  <a:srgbClr val="666666"/>
                </a:solidFill>
                <a:latin typeface="Courier"/>
              </a:rPr>
              <a:t>:</a:t>
            </a:r>
            <a:r>
              <a:rPr>
                <a:latin typeface="Courier"/>
              </a:rPr>
              <a:t> [</a:t>
            </a:r>
            <a:r>
              <a:rPr>
                <a:solidFill>
                  <a:srgbClr val="4070A0"/>
                </a:solidFill>
                <a:latin typeface="Courier"/>
              </a:rPr>
              <a:t>"all-modules"</a:t>
            </a:r>
            <a:r>
              <a:rPr>
                <a:solidFill>
                  <a:srgbClr val="666666"/>
                </a:solidFill>
                <a:latin typeface="Courier"/>
              </a:rPr>
              <a:t>,</a:t>
            </a:r>
            <a:r>
              <a:rPr>
                <a:latin typeface="Courier"/>
              </a:rPr>
              <a:t> </a:t>
            </a:r>
            <a:r>
              <a:rPr>
                <a:solidFill>
                  <a:srgbClr val="4070A0"/>
                </a:solidFill>
                <a:latin typeface="Courier"/>
              </a:rPr>
              <a:t>"unlimited-scans"</a:t>
            </a:r>
            <a:r>
              <a:rPr>
                <a:solidFill>
                  <a:srgbClr val="666666"/>
                </a:solidFill>
                <a:latin typeface="Courier"/>
              </a:rPr>
              <a:t>,</a:t>
            </a:r>
            <a:r>
              <a:rPr>
                <a:latin typeface="Courier"/>
              </a:rPr>
              <a:t> </a:t>
            </a:r>
            <a:r>
              <a:rPr>
                <a:solidFill>
                  <a:srgbClr val="4070A0"/>
                </a:solidFill>
                <a:latin typeface="Courier"/>
              </a:rPr>
              <a:t>"team-features"</a:t>
            </a:r>
            <a:r>
              <a:rPr>
                <a:solidFill>
                  <a:srgbClr val="666666"/>
                </a:solidFill>
                <a:latin typeface="Courier"/>
              </a:rPr>
              <a:t>,</a:t>
            </a:r>
            <a:br/>
            <a:r>
              <a:rPr>
                <a:latin typeface="Courier"/>
              </a:rPr>
              <a:t>               </a:t>
            </a:r>
            <a:r>
              <a:rPr>
                <a:solidFill>
                  <a:srgbClr val="4070A0"/>
                </a:solidFill>
                <a:latin typeface="Courier"/>
              </a:rPr>
              <a:t>"advanced-reports"</a:t>
            </a:r>
            <a:r>
              <a:rPr>
                <a:solidFill>
                  <a:srgbClr val="666666"/>
                </a:solidFill>
                <a:latin typeface="Courier"/>
              </a:rPr>
              <a:t>,</a:t>
            </a:r>
            <a:r>
              <a:rPr>
                <a:latin typeface="Courier"/>
              </a:rPr>
              <a:t> </a:t>
            </a:r>
            <a:r>
              <a:rPr>
                <a:solidFill>
                  <a:srgbClr val="4070A0"/>
                </a:solidFill>
                <a:latin typeface="Courier"/>
              </a:rPr>
              <a:t>"cicd-integrations"</a:t>
            </a:r>
            <a:r>
              <a:rPr>
                <a:latin typeface="Courier"/>
              </a:rPr>
              <a:t>]</a:t>
            </a:r>
            <a:br/>
            <a:r>
              <a:rPr>
                <a:latin typeface="Courier"/>
              </a:rPr>
              <a:t>}</a:t>
            </a:r>
            <a:r>
              <a:rPr>
                <a:solidFill>
                  <a:srgbClr val="666666"/>
                </a:solidFill>
                <a:latin typeface="Courier"/>
              </a:rPr>
              <a:t>;</a:t>
            </a:r>
          </a:p>
          <a:p>
            <a:pPr lvl="0" indent="0" marL="0">
              <a:spcBef>
                <a:spcPts val="3000"/>
              </a:spcBef>
              <a:buNone/>
            </a:pPr>
            <a:r>
              <a:rPr b="1"/>
              <a:t>Scan Limits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Plan</a:t>
                      </a:r>
                    </a:p>
                  </a:txBody>
                  <a:tcPr/>
                </a:tc>
                <a:tc>
                  <a:txBody>
                    <a:bodyPr/>
                    <a:lstStyle/>
                    <a:p>
                      <a:pPr lvl="0" indent="0" marL="0">
                        <a:buNone/>
                      </a:pPr>
                      <a:r>
                        <a:rPr/>
                        <a:t>Monthly Limit</a:t>
                      </a:r>
                    </a:p>
                  </a:txBody>
                  <a:tcPr/>
                </a:tc>
              </a:tr>
              <a:tr h="0">
                <a:tc>
                  <a:txBody>
                    <a:bodyPr/>
                    <a:lstStyle/>
                    <a:p>
                      <a:pPr lvl="0" indent="0" marL="0">
                        <a:buNone/>
                      </a:pPr>
                      <a:r>
                        <a:rPr/>
                        <a:t>Demo</a:t>
                      </a:r>
                    </a:p>
                  </a:txBody>
                </a:tc>
                <a:tc>
                  <a:txBody>
                    <a:bodyPr/>
                    <a:lstStyle/>
                    <a:p>
                      <a:pPr lvl="0" indent="0" marL="0">
                        <a:buNone/>
                      </a:pPr>
                      <a:r>
                        <a:rPr/>
                        <a:t>2 scans</a:t>
                      </a:r>
                    </a:p>
                  </a:txBody>
                </a:tc>
              </a:tr>
              <a:tr h="0">
                <a:tc>
                  <a:txBody>
                    <a:bodyPr/>
                    <a:lstStyle/>
                    <a:p>
                      <a:pPr lvl="0" indent="0" marL="0">
                        <a:buNone/>
                      </a:pPr>
                      <a:r>
                        <a:rPr/>
                        <a:t>Free</a:t>
                      </a:r>
                    </a:p>
                  </a:txBody>
                </a:tc>
                <a:tc>
                  <a:txBody>
                    <a:bodyPr/>
                    <a:lstStyle/>
                    <a:p>
                      <a:pPr lvl="0" indent="0" marL="0">
                        <a:buNone/>
                      </a:pPr>
                      <a:r>
                        <a:rPr/>
                        <a:t>5 scans</a:t>
                      </a:r>
                    </a:p>
                  </a:txBody>
                </a:tc>
              </a:tr>
              <a:tr h="0">
                <a:tc>
                  <a:txBody>
                    <a:bodyPr/>
                    <a:lstStyle/>
                    <a:p>
                      <a:pPr lvl="0" indent="0" marL="0">
                        <a:buNone/>
                      </a:pPr>
                      <a:r>
                        <a:rPr/>
                        <a:t>Pro</a:t>
                      </a:r>
                    </a:p>
                  </a:txBody>
                </a:tc>
                <a:tc>
                  <a:txBody>
                    <a:bodyPr/>
                    <a:lstStyle/>
                    <a:p>
                      <a:pPr lvl="0" indent="0" marL="0">
                        <a:buNone/>
                      </a:pPr>
                      <a:r>
                        <a:rPr/>
                        <a:t>1,000 scans</a:t>
                      </a:r>
                    </a:p>
                  </a:txBody>
                </a:tc>
              </a:tr>
              <a:tr h="0">
                <a:tc>
                  <a:txBody>
                    <a:bodyPr/>
                    <a:lstStyle/>
                    <a:p>
                      <a:pPr lvl="0" indent="0" marL="0">
                        <a:buNone/>
                      </a:pPr>
                      <a:r>
                        <a:rPr/>
                        <a:t>Enterprise</a:t>
                      </a:r>
                    </a:p>
                  </a:txBody>
                </a:tc>
                <a:tc>
                  <a:txBody>
                    <a:bodyPr/>
                    <a:lstStyle/>
                    <a:p>
                      <a:pPr lvl="0" indent="0" marL="0">
                        <a:buNone/>
                      </a:pPr>
                      <a:r>
                        <a:rPr/>
                        <a:t>Unlimited (9,999,999)</a:t>
                      </a:r>
                    </a:p>
                  </a:txBody>
                </a:tc>
              </a:tr>
            </a:tbl>
          </a:graphicData>
        </a:graphic>
      </p:graphicFrame>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7. Data Flow &amp; Privacy</a:t>
            </a:r>
          </a:p>
        </p:txBody>
      </p:sp>
      <p:sp>
        <p:nvSpPr>
          <p:cNvPr id="4" name="Text Placeholder 3"/>
          <p:cNvSpPr>
            <a:spLocks noGrp="1"/>
          </p:cNvSpPr>
          <p:nvPr>
            <p:ph idx="2" sz="half" type="body"/>
          </p:nvPr>
        </p:nvSpPr>
        <p:spPr/>
        <p:txBody>
          <a:bodyPr/>
          <a:lstStyle/>
          <a:p>
            <a:pPr lvl="0" indent="0" marL="0">
              <a:spcBef>
                <a:spcPts val="3000"/>
              </a:spcBef>
              <a:buNone/>
            </a:pPr>
            <a:r>
              <a:rPr b="1"/>
              <a:t>Scan Data Flow</a:t>
            </a:r>
          </a:p>
          <a:p>
            <a:pPr lvl="0" indent="0">
              <a:buNone/>
            </a:pPr>
            <a:r>
              <a:rPr>
                <a:latin typeface="Courier"/>
              </a:rPr>
              <a:t>1. User pastes code in browser textarea
2. Browser sends code via HTTPS POST to API route
3. API route processes code in memory (Node.js runtime)
4. Results computed and returned as JSON response
5. Code is NEVER:
   - Written to disk
   - Stored in database
   - Logged to console/files
   - Sent to external services (except OSV.dev for package names only)
6. Only metadata is stored:
   - Scan type, timestamp, score, finding counts
   - NOT the source code or findings detail</a:t>
            </a:r>
          </a:p>
          <a:p>
            <a:pPr lvl="0" indent="0" marL="0">
              <a:spcBef>
                <a:spcPts val="3000"/>
              </a:spcBef>
              <a:buNone/>
            </a:pPr>
            <a:r>
              <a:rPr b="1"/>
              <a:t>What Is Stored vs. Not Stored</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397000"/>
                <a:gridCol w="2082800"/>
                <a:gridCol w="1625600"/>
              </a:tblGrid>
              <a:tr h="0">
                <a:tc>
                  <a:txBody>
                    <a:bodyPr/>
                    <a:lstStyle/>
                    <a:p>
                      <a:pPr lvl="0" indent="0" marL="0">
                        <a:buNone/>
                      </a:pPr>
                      <a:r>
                        <a:rPr/>
                        <a:t>Data</a:t>
                      </a:r>
                    </a:p>
                  </a:txBody>
                  <a:tcPr/>
                </a:tc>
                <a:tc>
                  <a:txBody>
                    <a:bodyPr/>
                    <a:lstStyle/>
                    <a:p>
                      <a:pPr lvl="0" indent="0" marL="0">
                        <a:buNone/>
                      </a:pPr>
                      <a:r>
                        <a:rPr/>
                        <a:t>Stored?</a:t>
                      </a:r>
                    </a:p>
                  </a:txBody>
                  <a:tcPr/>
                </a:tc>
                <a:tc>
                  <a:txBody>
                    <a:bodyPr/>
                    <a:lstStyle/>
                    <a:p>
                      <a:pPr lvl="0" indent="0" marL="0">
                        <a:buNone/>
                      </a:pPr>
                      <a:r>
                        <a:rPr/>
                        <a:t>Where</a:t>
                      </a:r>
                    </a:p>
                  </a:txBody>
                  <a:tcPr/>
                </a:tc>
              </a:tr>
              <a:tr h="0">
                <a:tc>
                  <a:txBody>
                    <a:bodyPr/>
                    <a:lstStyle/>
                    <a:p>
                      <a:pPr lvl="0" indent="0" marL="0">
                        <a:buNone/>
                      </a:pPr>
                      <a:r>
                        <a:rPr/>
                        <a:t>User account (name, email, password hash)</a:t>
                      </a:r>
                    </a:p>
                  </a:txBody>
                </a:tc>
                <a:tc>
                  <a:txBody>
                    <a:bodyPr/>
                    <a:lstStyle/>
                    <a:p>
                      <a:pPr lvl="0" indent="0" marL="0">
                        <a:buNone/>
                      </a:pPr>
                      <a:r>
                        <a:rPr/>
                        <a:t>Yes</a:t>
                      </a:r>
                    </a:p>
                  </a:txBody>
                </a:tc>
                <a:tc>
                  <a:txBody>
                    <a:bodyPr/>
                    <a:lstStyle/>
                    <a:p>
                      <a:pPr lvl="0" indent="0" marL="0">
                        <a:buNone/>
                      </a:pPr>
                      <a:r>
                        <a:rPr/>
                        <a:t>MongoDB</a:t>
                      </a:r>
                    </a:p>
                  </a:txBody>
                </a:tc>
              </a:tr>
              <a:tr h="0">
                <a:tc>
                  <a:txBody>
                    <a:bodyPr/>
                    <a:lstStyle/>
                    <a:p>
                      <a:pPr lvl="0" indent="0" marL="0">
                        <a:buNone/>
                      </a:pPr>
                      <a:r>
                        <a:rPr/>
                        <a:t>Scan count per user</a:t>
                      </a:r>
                    </a:p>
                  </a:txBody>
                </a:tc>
                <a:tc>
                  <a:txBody>
                    <a:bodyPr/>
                    <a:lstStyle/>
                    <a:p>
                      <a:pPr lvl="0" indent="0" marL="0">
                        <a:buNone/>
                      </a:pPr>
                      <a:r>
                        <a:rPr/>
                        <a:t>Yes</a:t>
                      </a:r>
                    </a:p>
                  </a:txBody>
                </a:tc>
                <a:tc>
                  <a:txBody>
                    <a:bodyPr/>
                    <a:lstStyle/>
                    <a:p>
                      <a:pPr lvl="0" indent="0" marL="0">
                        <a:buNone/>
                      </a:pPr>
                      <a:r>
                        <a:rPr/>
                        <a:t>MongoDB (users.shieldxScanCount)</a:t>
                      </a:r>
                    </a:p>
                  </a:txBody>
                </a:tc>
              </a:tr>
              <a:tr h="0">
                <a:tc>
                  <a:txBody>
                    <a:bodyPr/>
                    <a:lstStyle/>
                    <a:p>
                      <a:pPr lvl="0" indent="0" marL="0">
                        <a:buNone/>
                      </a:pPr>
                      <a:r>
                        <a:rPr/>
                        <a:t>Scan history metadata (type, score, counts)</a:t>
                      </a:r>
                    </a:p>
                  </a:txBody>
                </a:tc>
                <a:tc>
                  <a:txBody>
                    <a:bodyPr/>
                    <a:lstStyle/>
                    <a:p>
                      <a:pPr lvl="0" indent="0" marL="0">
                        <a:buNone/>
                      </a:pPr>
                      <a:r>
                        <a:rPr/>
                        <a:t>Yes</a:t>
                      </a:r>
                    </a:p>
                  </a:txBody>
                </a:tc>
                <a:tc>
                  <a:txBody>
                    <a:bodyPr/>
                    <a:lstStyle/>
                    <a:p>
                      <a:pPr lvl="0" indent="0" marL="0">
                        <a:buNone/>
                      </a:pPr>
                      <a:r>
                        <a:rPr/>
                        <a:t>MongoDB (scans collection)</a:t>
                      </a:r>
                    </a:p>
                  </a:txBody>
                </a:tc>
              </a:tr>
              <a:tr h="0">
                <a:tc>
                  <a:txBody>
                    <a:bodyPr/>
                    <a:lstStyle/>
                    <a:p>
                      <a:pPr lvl="0" indent="0" marL="0">
                        <a:buNone/>
                      </a:pPr>
                      <a:r>
                        <a:rPr/>
                        <a:t>Source code / config content</a:t>
                      </a:r>
                    </a:p>
                  </a:txBody>
                </a:tc>
                <a:tc>
                  <a:txBody>
                    <a:bodyPr/>
                    <a:lstStyle/>
                    <a:p>
                      <a:pPr lvl="0" indent="0" marL="0">
                        <a:buNone/>
                      </a:pPr>
                      <a:r>
                        <a:rPr b="1"/>
                        <a:t>No</a:t>
                      </a:r>
                    </a:p>
                  </a:txBody>
                </a:tc>
                <a:tc>
                  <a:txBody>
                    <a:bodyPr/>
                    <a:lstStyle/>
                    <a:p>
                      <a:pPr lvl="0" indent="0" marL="0">
                        <a:buNone/>
                      </a:pPr>
                      <a:r>
                        <a:rPr/>
                        <a:t>Never persisted</a:t>
                      </a:r>
                    </a:p>
                  </a:txBody>
                </a:tc>
              </a:tr>
              <a:tr h="0">
                <a:tc>
                  <a:txBody>
                    <a:bodyPr/>
                    <a:lstStyle/>
                    <a:p>
                      <a:pPr lvl="0" indent="0" marL="0">
                        <a:buNone/>
                      </a:pPr>
                      <a:r>
                        <a:rPr/>
                        <a:t>Scan findings detail</a:t>
                      </a:r>
                    </a:p>
                  </a:txBody>
                </a:tc>
                <a:tc>
                  <a:txBody>
                    <a:bodyPr/>
                    <a:lstStyle/>
                    <a:p>
                      <a:pPr lvl="0" indent="0" marL="0">
                        <a:buNone/>
                      </a:pPr>
                      <a:r>
                        <a:rPr b="1"/>
                        <a:t>No</a:t>
                      </a:r>
                    </a:p>
                  </a:txBody>
                </a:tc>
                <a:tc>
                  <a:txBody>
                    <a:bodyPr/>
                    <a:lstStyle/>
                    <a:p>
                      <a:pPr lvl="0" indent="0" marL="0">
                        <a:buNone/>
                      </a:pPr>
                      <a:r>
                        <a:rPr/>
                        <a:t>Only returned to browser</a:t>
                      </a:r>
                    </a:p>
                  </a:txBody>
                </a:tc>
              </a:tr>
              <a:tr h="0">
                <a:tc>
                  <a:txBody>
                    <a:bodyPr/>
                    <a:lstStyle/>
                    <a:p>
                      <a:pPr lvl="0" indent="0" marL="0">
                        <a:buNone/>
                      </a:pPr>
                      <a:r>
                        <a:rPr/>
                        <a:t>Dependency names/versions</a:t>
                      </a:r>
                    </a:p>
                  </a:txBody>
                </a:tc>
                <a:tc>
                  <a:txBody>
                    <a:bodyPr/>
                    <a:lstStyle/>
                    <a:p>
                      <a:pPr lvl="0" indent="0" marL="0">
                        <a:buNone/>
                      </a:pPr>
                      <a:r>
                        <a:rPr/>
                        <a:t>Transient</a:t>
                      </a:r>
                    </a:p>
                  </a:txBody>
                </a:tc>
                <a:tc>
                  <a:txBody>
                    <a:bodyPr/>
                    <a:lstStyle/>
                    <a:p>
                      <a:pPr lvl="0" indent="0" marL="0">
                        <a:buNone/>
                      </a:pPr>
                      <a:r>
                        <a:rPr/>
                        <a:t>Sent to OSV.dev, not stored</a:t>
                      </a:r>
                    </a:p>
                  </a:txBody>
                </a:tc>
              </a:tr>
              <a:tr h="0">
                <a:tc>
                  <a:txBody>
                    <a:bodyPr/>
                    <a:lstStyle/>
                    <a:p>
                      <a:pPr lvl="0" indent="0" marL="0">
                        <a:buNone/>
                      </a:pPr>
                      <a:r>
                        <a:rPr/>
                        <a:t>API scan target URLs</a:t>
                      </a:r>
                    </a:p>
                  </a:txBody>
                </a:tc>
                <a:tc>
                  <a:txBody>
                    <a:bodyPr/>
                    <a:lstStyle/>
                    <a:p>
                      <a:pPr lvl="0" indent="0" marL="0">
                        <a:buNone/>
                      </a:pPr>
                      <a:r>
                        <a:rPr/>
                        <a:t>Transient</a:t>
                      </a:r>
                    </a:p>
                  </a:txBody>
                </a:tc>
                <a:tc>
                  <a:txBody>
                    <a:bodyPr/>
                    <a:lstStyle/>
                    <a:p>
                      <a:pPr lvl="0" indent="0" marL="0">
                        <a:buNone/>
                      </a:pPr>
                      <a:r>
                        <a:rPr/>
                        <a:t>Only during scan execution</a:t>
                      </a:r>
                    </a:p>
                  </a:txBody>
                </a:tc>
              </a:tr>
            </a:tbl>
          </a:graphicData>
        </a:graphic>
      </p:graphicFrame>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OSV.dev Data Usage</a:t>
            </a:r>
          </a:p>
          <a:p>
            <a:pPr lvl="0"/>
            <a:r>
              <a:rPr/>
              <a:t>Only </a:t>
            </a:r>
            <a:r>
              <a:rPr b="1"/>
              <a:t>package name</a:t>
            </a:r>
            <a:r>
              <a:rPr/>
              <a:t> and </a:t>
            </a:r>
            <a:r>
              <a:rPr b="1"/>
              <a:t>version</a:t>
            </a:r>
            <a:r>
              <a:rPr/>
              <a:t> are sent to OSV.dev</a:t>
            </a:r>
          </a:p>
          <a:p>
            <a:pPr lvl="0"/>
            <a:r>
              <a:rPr/>
              <a:t>No source code, no user identity, no session data</a:t>
            </a:r>
          </a:p>
          <a:p>
            <a:pPr lvl="0"/>
            <a:r>
              <a:rPr/>
              <a:t>OSV.dev responses (vulnerability data) are CC-BY 4.0 licensed</a:t>
            </a:r>
          </a:p>
          <a:p>
            <a:pPr lvl="0"/>
            <a:r>
              <a:rPr/>
              <a:t>Data attribution: “Vulnerability data sourced from OSV.dev by Google”</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8. Billing &amp; Plans</a:t>
            </a:r>
          </a:p>
        </p:txBody>
      </p:sp>
      <p:sp>
        <p:nvSpPr>
          <p:cNvPr id="4" name="Text Placeholder 3"/>
          <p:cNvSpPr>
            <a:spLocks noGrp="1"/>
          </p:cNvSpPr>
          <p:nvPr>
            <p:ph idx="2" sz="half" type="body"/>
          </p:nvPr>
        </p:nvSpPr>
        <p:spPr/>
        <p:txBody>
          <a:bodyPr/>
          <a:lstStyle/>
          <a:p>
            <a:pPr lvl="0" indent="0" marL="0">
              <a:spcBef>
                <a:spcPts val="3000"/>
              </a:spcBef>
              <a:buNone/>
            </a:pPr>
            <a:r>
              <a:rPr b="1"/>
              <a:t>Payment Flow (Razorpay)</a:t>
            </a:r>
          </a:p>
          <a:p>
            <a:pPr lvl="0" indent="0">
              <a:buNone/>
            </a:pPr>
            <a:r>
              <a:rPr>
                <a:latin typeface="Courier"/>
              </a:rPr>
              <a:t>1. User clicks "Upgrade to Pro" → /shieldx/pricing
2. Frontend calls POST /api/shieldx/billing/checkout
3. Backend creates Razorpay order (amount, currency)
4. Razorpay checkout modal opens in browser
5. User completes payment
6. Razorpay sends webhook to POST /api/shieldx/billing/webhook
7. Webhook handler:
   a. Verifies signature using timingSafeEqual
   b. Updates user: shieldxPlan="pro", shieldxExpiry=+30 days
   c. Creates ShieldXBillingEvent record
8. User refreshes → session reflects new plan</a:t>
            </a:r>
          </a:p>
          <a:p>
            <a:pPr lvl="0" indent="0" marL="0">
              <a:spcBef>
                <a:spcPts val="3000"/>
              </a:spcBef>
              <a:buNone/>
            </a:pPr>
            <a:r>
              <a:rPr b="1"/>
              <a:t>Key Files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044700"/>
                <a:gridCol w="3060700"/>
              </a:tblGrid>
              <a:tr h="0">
                <a:tc>
                  <a:txBody>
                    <a:bodyPr/>
                    <a:lstStyle/>
                    <a:p>
                      <a:pPr lvl="0" indent="0" marL="0">
                        <a:buNone/>
                      </a:pPr>
                      <a:r>
                        <a:rPr/>
                        <a:t>File</a:t>
                      </a:r>
                    </a:p>
                  </a:txBody>
                  <a:tcPr/>
                </a:tc>
                <a:tc>
                  <a:txBody>
                    <a:bodyPr/>
                    <a:lstStyle/>
                    <a:p>
                      <a:pPr lvl="0" indent="0" marL="0">
                        <a:buNone/>
                      </a:pPr>
                      <a:r>
                        <a:rPr/>
                        <a:t>Purpose</a:t>
                      </a:r>
                    </a:p>
                  </a:txBody>
                  <a:tcPr/>
                </a:tc>
              </a:tr>
              <a:tr h="0">
                <a:tc>
                  <a:txBody>
                    <a:bodyPr/>
                    <a:lstStyle/>
                    <a:p>
                      <a:pPr lvl="0" indent="0" marL="0">
                        <a:buNone/>
                      </a:pPr>
                      <a:r>
                        <a:rPr>
                          <a:latin typeface="Courier"/>
                        </a:rPr>
                        <a:t>lib/razorpay.ts</a:t>
                      </a:r>
                    </a:p>
                  </a:txBody>
                </a:tc>
                <a:tc>
                  <a:txBody>
                    <a:bodyPr/>
                    <a:lstStyle/>
                    <a:p>
                      <a:pPr lvl="0" indent="0" marL="0">
                        <a:buNone/>
                      </a:pPr>
                      <a:r>
                        <a:rPr/>
                        <a:t>Razorpay client initialization, signature verification</a:t>
                      </a:r>
                    </a:p>
                  </a:txBody>
                </a:tc>
              </a:tr>
              <a:tr h="0">
                <a:tc>
                  <a:txBody>
                    <a:bodyPr/>
                    <a:lstStyle/>
                    <a:p>
                      <a:pPr lvl="0" indent="0" marL="0">
                        <a:buNone/>
                      </a:pPr>
                      <a:r>
                        <a:rPr>
                          <a:latin typeface="Courier"/>
                        </a:rPr>
                        <a:t>app/api/shieldx/billing/checkout/route.ts</a:t>
                      </a:r>
                    </a:p>
                  </a:txBody>
                </a:tc>
                <a:tc>
                  <a:txBody>
                    <a:bodyPr/>
                    <a:lstStyle/>
                    <a:p>
                      <a:pPr lvl="0" indent="0" marL="0">
                        <a:buNone/>
                      </a:pPr>
                      <a:r>
                        <a:rPr/>
                        <a:t>Create payment order</a:t>
                      </a:r>
                    </a:p>
                  </a:txBody>
                </a:tc>
              </a:tr>
              <a:tr h="0">
                <a:tc>
                  <a:txBody>
                    <a:bodyPr/>
                    <a:lstStyle/>
                    <a:p>
                      <a:pPr lvl="0" indent="0" marL="0">
                        <a:buNone/>
                      </a:pPr>
                      <a:r>
                        <a:rPr>
                          <a:latin typeface="Courier"/>
                        </a:rPr>
                        <a:t>app/api/shieldx/billing/webhook/route.ts</a:t>
                      </a:r>
                    </a:p>
                  </a:txBody>
                </a:tc>
                <a:tc>
                  <a:txBody>
                    <a:bodyPr/>
                    <a:lstStyle/>
                    <a:p>
                      <a:pPr lvl="0" indent="0" marL="0">
                        <a:buNone/>
                      </a:pPr>
                      <a:r>
                        <a:rPr/>
                        <a:t>Handle payment confirmation</a:t>
                      </a:r>
                    </a:p>
                  </a:txBody>
                </a:tc>
              </a:tr>
              <a:tr h="0">
                <a:tc>
                  <a:txBody>
                    <a:bodyPr/>
                    <a:lstStyle/>
                    <a:p>
                      <a:pPr lvl="0" indent="0" marL="0">
                        <a:buNone/>
                      </a:pPr>
                      <a:r>
                        <a:rPr>
                          <a:latin typeface="Courier"/>
                        </a:rPr>
                        <a:t>app/api/shieldx/billing/subscription/route.ts</a:t>
                      </a:r>
                    </a:p>
                  </a:txBody>
                </a:tc>
                <a:tc>
                  <a:txBody>
                    <a:bodyPr/>
                    <a:lstStyle/>
                    <a:p>
                      <a:pPr lvl="0" indent="0" marL="0">
                        <a:buNone/>
                      </a:pPr>
                      <a:r>
                        <a:rPr/>
                        <a:t>Get current plan status</a:t>
                      </a:r>
                    </a:p>
                  </a:txBody>
                </a:tc>
              </a:tr>
              <a:tr h="0">
                <a:tc>
                  <a:txBody>
                    <a:bodyPr/>
                    <a:lstStyle/>
                    <a:p>
                      <a:pPr lvl="0" indent="0" marL="0">
                        <a:buNone/>
                      </a:pPr>
                      <a:r>
                        <a:rPr>
                          <a:latin typeface="Courier"/>
                        </a:rPr>
                        <a:t>app/api/shieldx/billing/cancel/route.ts</a:t>
                      </a:r>
                    </a:p>
                  </a:txBody>
                </a:tc>
                <a:tc>
                  <a:txBody>
                    <a:bodyPr/>
                    <a:lstStyle/>
                    <a:p>
                      <a:pPr lvl="0" indent="0" marL="0">
                        <a:buNone/>
                      </a:pPr>
                      <a:r>
                        <a:rPr/>
                        <a:t>Cancel subscription</a:t>
                      </a:r>
                    </a:p>
                  </a:txBody>
                </a:tc>
              </a:tr>
              <a:tr h="0">
                <a:tc>
                  <a:txBody>
                    <a:bodyPr/>
                    <a:lstStyle/>
                    <a:p>
                      <a:pPr lvl="0" indent="0" marL="0">
                        <a:buNone/>
                      </a:pPr>
                      <a:r>
                        <a:rPr>
                          <a:latin typeface="Courier"/>
                        </a:rPr>
                        <a:t>models/ShieldXBillingEvent.ts</a:t>
                      </a:r>
                    </a:p>
                  </a:txBody>
                </a:tc>
                <a:tc>
                  <a:txBody>
                    <a:bodyPr/>
                    <a:lstStyle/>
                    <a:p>
                      <a:pPr lvl="0" indent="0" marL="0">
                        <a:buNone/>
                      </a:pPr>
                      <a:r>
                        <a:rPr/>
                        <a:t>Billing event audit log</a:t>
                      </a:r>
                    </a:p>
                  </a:txBody>
                </a:tc>
              </a:tr>
            </a:tbl>
          </a:graphicData>
        </a:graphic>
      </p:graphicFrame>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Plan Sources</a:t>
            </a:r>
          </a:p>
          <a:p>
            <a:pPr lvl="0" indent="0" marL="0">
              <a:buNone/>
            </a:pPr>
            <a:r>
              <a:rPr/>
              <a:t>A user’s plan can come from different sources: - </a:t>
            </a:r>
            <a:r>
              <a:rPr>
                <a:latin typeface="Courier"/>
              </a:rPr>
              <a:t>free</a:t>
            </a:r>
            <a:r>
              <a:rPr/>
              <a:t> — Default, no payment - </a:t>
            </a:r>
            <a:r>
              <a:rPr>
                <a:latin typeface="Courier"/>
              </a:rPr>
              <a:t>admin</a:t>
            </a:r>
            <a:r>
              <a:rPr/>
              <a:t> — Manually set by admin via upgrade-plan API - </a:t>
            </a:r>
            <a:r>
              <a:rPr>
                <a:latin typeface="Courier"/>
              </a:rPr>
              <a:t>billing</a:t>
            </a:r>
            <a:r>
              <a:rPr/>
              <a:t> — Set by Razorpay webhook after successful payment - </a:t>
            </a:r>
            <a:r>
              <a:rPr>
                <a:latin typeface="Courier"/>
              </a:rPr>
              <a:t>team</a:t>
            </a:r>
            <a:r>
              <a:rPr/>
              <a:t> — Inherited from enterprise team membership</a:t>
            </a:r>
          </a:p>
          <a:p>
            <a:pPr lvl="0" indent="0" marL="0">
              <a:spcBef>
                <a:spcPts val="3000"/>
              </a:spcBef>
              <a:buNone/>
            </a:pPr>
            <a:r>
              <a:rPr b="1"/>
              <a:t>Plan Expiry Check</a:t>
            </a:r>
          </a:p>
          <a:p>
            <a:pPr lvl="0" indent="0">
              <a:buNone/>
            </a:pPr>
            <a:r>
              <a:rPr b="1">
                <a:solidFill>
                  <a:srgbClr val="007020"/>
                </a:solidFill>
                <a:latin typeface="Courier"/>
              </a:rPr>
              <a:t>function</a:t>
            </a:r>
            <a:r>
              <a:rPr>
                <a:latin typeface="Courier"/>
              </a:rPr>
              <a:t> </a:t>
            </a:r>
            <a:r>
              <a:rPr>
                <a:solidFill>
                  <a:srgbClr val="06287E"/>
                </a:solidFill>
                <a:latin typeface="Courier"/>
              </a:rPr>
              <a:t>getEffectiveShieldXPlan</a:t>
            </a:r>
            <a:r>
              <a:rPr>
                <a:latin typeface="Courier"/>
              </a:rPr>
              <a:t>(user) {</a:t>
            </a:r>
            <a:br/>
            <a:r>
              <a:rPr>
                <a:latin typeface="Courier"/>
              </a:rPr>
              <a:t>  </a:t>
            </a:r>
            <a:r>
              <a:rPr b="1">
                <a:solidFill>
                  <a:srgbClr val="007020"/>
                </a:solidFill>
                <a:latin typeface="Courier"/>
              </a:rPr>
              <a:t>const</a:t>
            </a:r>
            <a:r>
              <a:rPr>
                <a:latin typeface="Courier"/>
              </a:rPr>
              <a:t> plan </a:t>
            </a:r>
            <a:r>
              <a:rPr>
                <a:solidFill>
                  <a:srgbClr val="666666"/>
                </a:solidFill>
                <a:latin typeface="Courier"/>
              </a:rPr>
              <a:t>=</a:t>
            </a:r>
            <a:r>
              <a:rPr>
                <a:latin typeface="Courier"/>
              </a:rPr>
              <a:t> user</a:t>
            </a:r>
            <a:r>
              <a:rPr>
                <a:solidFill>
                  <a:srgbClr val="666666"/>
                </a:solidFill>
                <a:latin typeface="Courier"/>
              </a:rPr>
              <a:t>.</a:t>
            </a:r>
            <a:r>
              <a:rPr>
                <a:solidFill>
                  <a:srgbClr val="7D9029"/>
                </a:solidFill>
                <a:latin typeface="Courier"/>
              </a:rPr>
              <a:t>shieldxPlan</a:t>
            </a:r>
            <a:r>
              <a:rPr>
                <a:latin typeface="Courier"/>
              </a:rPr>
              <a:t> </a:t>
            </a:r>
            <a:r>
              <a:rPr>
                <a:solidFill>
                  <a:srgbClr val="666666"/>
                </a:solidFill>
                <a:latin typeface="Courier"/>
              </a:rPr>
              <a:t>||</a:t>
            </a:r>
            <a:r>
              <a:rPr>
                <a:latin typeface="Courier"/>
              </a:rPr>
              <a:t> </a:t>
            </a:r>
            <a:r>
              <a:rPr>
                <a:solidFill>
                  <a:srgbClr val="4070A0"/>
                </a:solidFill>
                <a:latin typeface="Courier"/>
              </a:rPr>
              <a:t>"free"</a:t>
            </a:r>
            <a:r>
              <a:rPr>
                <a:solidFill>
                  <a:srgbClr val="666666"/>
                </a:solidFill>
                <a:latin typeface="Courier"/>
              </a:rPr>
              <a:t>;</a:t>
            </a:r>
            <a:br/>
            <a:r>
              <a:rPr>
                <a:latin typeface="Courier"/>
              </a:rPr>
              <a:t>  </a:t>
            </a:r>
            <a:r>
              <a:rPr b="1">
                <a:solidFill>
                  <a:srgbClr val="007020"/>
                </a:solidFill>
                <a:latin typeface="Courier"/>
              </a:rPr>
              <a:t>if</a:t>
            </a:r>
            <a:r>
              <a:rPr>
                <a:latin typeface="Courier"/>
              </a:rPr>
              <a:t> (plan </a:t>
            </a:r>
            <a:r>
              <a:rPr>
                <a:solidFill>
                  <a:srgbClr val="666666"/>
                </a:solidFill>
                <a:latin typeface="Courier"/>
              </a:rPr>
              <a:t>===</a:t>
            </a:r>
            <a:r>
              <a:rPr>
                <a:latin typeface="Courier"/>
              </a:rPr>
              <a:t> </a:t>
            </a:r>
            <a:r>
              <a:rPr>
                <a:solidFill>
                  <a:srgbClr val="4070A0"/>
                </a:solidFill>
                <a:latin typeface="Courier"/>
              </a:rPr>
              <a:t>"free"</a:t>
            </a:r>
            <a:r>
              <a:rPr>
                <a:latin typeface="Courier"/>
              </a:rPr>
              <a:t> </a:t>
            </a:r>
            <a:r>
              <a:rPr>
                <a:solidFill>
                  <a:srgbClr val="666666"/>
                </a:solidFill>
                <a:latin typeface="Courier"/>
              </a:rPr>
              <a:t>||</a:t>
            </a:r>
            <a:r>
              <a:rPr>
                <a:latin typeface="Courier"/>
              </a:rPr>
              <a:t> </a:t>
            </a:r>
            <a:r>
              <a:rPr>
                <a:solidFill>
                  <a:srgbClr val="666666"/>
                </a:solidFill>
                <a:latin typeface="Courier"/>
              </a:rPr>
              <a:t>!</a:t>
            </a:r>
            <a:r>
              <a:rPr>
                <a:latin typeface="Courier"/>
              </a:rPr>
              <a:t>user</a:t>
            </a:r>
            <a:r>
              <a:rPr>
                <a:solidFill>
                  <a:srgbClr val="666666"/>
                </a:solidFill>
                <a:latin typeface="Courier"/>
              </a:rPr>
              <a:t>.</a:t>
            </a:r>
            <a:r>
              <a:rPr>
                <a:solidFill>
                  <a:srgbClr val="7D9029"/>
                </a:solidFill>
                <a:latin typeface="Courier"/>
              </a:rPr>
              <a:t>shieldxExpiry</a:t>
            </a:r>
            <a:r>
              <a:rPr>
                <a:latin typeface="Courier"/>
              </a:rPr>
              <a:t>) </a:t>
            </a:r>
            <a:r>
              <a:rPr b="1">
                <a:solidFill>
                  <a:srgbClr val="007020"/>
                </a:solidFill>
                <a:latin typeface="Courier"/>
              </a:rPr>
              <a:t>return</a:t>
            </a:r>
            <a:r>
              <a:rPr>
                <a:latin typeface="Courier"/>
              </a:rPr>
              <a:t> plan</a:t>
            </a:r>
            <a:r>
              <a:rPr>
                <a:solidFill>
                  <a:srgbClr val="666666"/>
                </a:solidFill>
                <a:latin typeface="Courier"/>
              </a:rPr>
              <a:t>;</a:t>
            </a:r>
            <a:br/>
            <a:r>
              <a:rPr>
                <a:latin typeface="Courier"/>
              </a:rPr>
              <a:t>  </a:t>
            </a:r>
            <a:r>
              <a:rPr b="1">
                <a:solidFill>
                  <a:srgbClr val="007020"/>
                </a:solidFill>
                <a:latin typeface="Courier"/>
              </a:rPr>
              <a:t>const</a:t>
            </a:r>
            <a:r>
              <a:rPr>
                <a:latin typeface="Courier"/>
              </a:rPr>
              <a:t> expiry </a:t>
            </a:r>
            <a:r>
              <a:rPr>
                <a:solidFill>
                  <a:srgbClr val="666666"/>
                </a:solidFill>
                <a:latin typeface="Courier"/>
              </a:rPr>
              <a:t>=</a:t>
            </a:r>
            <a:r>
              <a:rPr>
                <a:latin typeface="Courier"/>
              </a:rPr>
              <a:t> </a:t>
            </a:r>
            <a:r>
              <a:rPr b="1">
                <a:solidFill>
                  <a:srgbClr val="007020"/>
                </a:solidFill>
                <a:latin typeface="Courier"/>
              </a:rPr>
              <a:t>new</a:t>
            </a:r>
            <a:r>
              <a:rPr>
                <a:latin typeface="Courier"/>
              </a:rPr>
              <a:t> </a:t>
            </a:r>
            <a:r>
              <a:rPr>
                <a:solidFill>
                  <a:srgbClr val="008000"/>
                </a:solidFill>
                <a:latin typeface="Courier"/>
              </a:rPr>
              <a:t>Date</a:t>
            </a:r>
            <a:r>
              <a:rPr>
                <a:latin typeface="Courier"/>
              </a:rPr>
              <a:t>(user</a:t>
            </a:r>
            <a:r>
              <a:rPr>
                <a:solidFill>
                  <a:srgbClr val="666666"/>
                </a:solidFill>
                <a:latin typeface="Courier"/>
              </a:rPr>
              <a:t>.</a:t>
            </a:r>
            <a:r>
              <a:rPr>
                <a:solidFill>
                  <a:srgbClr val="7D9029"/>
                </a:solidFill>
                <a:latin typeface="Courier"/>
              </a:rPr>
              <a:t>shieldxExpiry</a:t>
            </a:r>
            <a:r>
              <a:rPr>
                <a:latin typeface="Courier"/>
              </a:rPr>
              <a:t>)</a:t>
            </a:r>
            <a:r>
              <a:rPr>
                <a:solidFill>
                  <a:srgbClr val="666666"/>
                </a:solidFill>
                <a:latin typeface="Courier"/>
              </a:rPr>
              <a:t>;</a:t>
            </a:r>
            <a:br/>
            <a:r>
              <a:rPr>
                <a:latin typeface="Courier"/>
              </a:rPr>
              <a:t>  </a:t>
            </a:r>
            <a:r>
              <a:rPr b="1">
                <a:solidFill>
                  <a:srgbClr val="007020"/>
                </a:solidFill>
                <a:latin typeface="Courier"/>
              </a:rPr>
              <a:t>if</a:t>
            </a:r>
            <a:r>
              <a:rPr>
                <a:latin typeface="Courier"/>
              </a:rPr>
              <a:t> (expiry</a:t>
            </a:r>
            <a:r>
              <a:rPr>
                <a:solidFill>
                  <a:srgbClr val="666666"/>
                </a:solidFill>
                <a:latin typeface="Courier"/>
              </a:rPr>
              <a:t>.</a:t>
            </a:r>
            <a:r>
              <a:rPr>
                <a:solidFill>
                  <a:srgbClr val="06287E"/>
                </a:solidFill>
                <a:latin typeface="Courier"/>
              </a:rPr>
              <a:t>getTime</a:t>
            </a:r>
            <a:r>
              <a:rPr>
                <a:latin typeface="Courier"/>
              </a:rPr>
              <a:t>() </a:t>
            </a:r>
            <a:r>
              <a:rPr>
                <a:solidFill>
                  <a:srgbClr val="666666"/>
                </a:solidFill>
                <a:latin typeface="Courier"/>
              </a:rPr>
              <a:t>&gt;</a:t>
            </a:r>
            <a:r>
              <a:rPr>
                <a:latin typeface="Courier"/>
              </a:rPr>
              <a:t> </a:t>
            </a:r>
            <a:r>
              <a:rPr>
                <a:solidFill>
                  <a:srgbClr val="008000"/>
                </a:solidFill>
                <a:latin typeface="Courier"/>
              </a:rPr>
              <a:t>Date</a:t>
            </a:r>
            <a:r>
              <a:rPr>
                <a:solidFill>
                  <a:srgbClr val="666666"/>
                </a:solidFill>
                <a:latin typeface="Courier"/>
              </a:rPr>
              <a:t>.</a:t>
            </a:r>
            <a:r>
              <a:rPr>
                <a:solidFill>
                  <a:srgbClr val="06287E"/>
                </a:solidFill>
                <a:latin typeface="Courier"/>
              </a:rPr>
              <a:t>now</a:t>
            </a:r>
            <a:r>
              <a:rPr>
                <a:latin typeface="Courier"/>
              </a:rPr>
              <a:t>()) </a:t>
            </a:r>
            <a:r>
              <a:rPr b="1">
                <a:solidFill>
                  <a:srgbClr val="007020"/>
                </a:solidFill>
                <a:latin typeface="Courier"/>
              </a:rPr>
              <a:t>return</a:t>
            </a:r>
            <a:r>
              <a:rPr>
                <a:latin typeface="Courier"/>
              </a:rPr>
              <a:t> plan</a:t>
            </a:r>
            <a:r>
              <a:rPr>
                <a:solidFill>
                  <a:srgbClr val="666666"/>
                </a:solidFill>
                <a:latin typeface="Courier"/>
              </a:rPr>
              <a:t>;</a:t>
            </a:r>
            <a:r>
              <a:rPr>
                <a:latin typeface="Courier"/>
              </a:rPr>
              <a:t>  </a:t>
            </a:r>
            <a:r>
              <a:rPr i="1">
                <a:solidFill>
                  <a:srgbClr val="60A0B0"/>
                </a:solidFill>
                <a:latin typeface="Courier"/>
              </a:rPr>
              <a:t>// Not expired</a:t>
            </a:r>
            <a:br/>
            <a:r>
              <a:rPr>
                <a:latin typeface="Courier"/>
              </a:rPr>
              <a:t>  </a:t>
            </a:r>
            <a:r>
              <a:rPr b="1">
                <a:solidFill>
                  <a:srgbClr val="007020"/>
                </a:solidFill>
                <a:latin typeface="Courier"/>
              </a:rPr>
              <a:t>return</a:t>
            </a:r>
            <a:r>
              <a:rPr>
                <a:latin typeface="Courier"/>
              </a:rPr>
              <a:t> </a:t>
            </a:r>
            <a:r>
              <a:rPr>
                <a:solidFill>
                  <a:srgbClr val="4070A0"/>
                </a:solidFill>
                <a:latin typeface="Courier"/>
              </a:rPr>
              <a:t>"free"</a:t>
            </a:r>
            <a:r>
              <a:rPr>
                <a:solidFill>
                  <a:srgbClr val="666666"/>
                </a:solidFill>
                <a:latin typeface="Courier"/>
              </a:rPr>
              <a:t>;</a:t>
            </a:r>
            <a:r>
              <a:rPr>
                <a:latin typeface="Courier"/>
              </a:rPr>
              <a:t>  </a:t>
            </a:r>
            <a:r>
              <a:rPr i="1">
                <a:solidFill>
                  <a:srgbClr val="60A0B0"/>
                </a:solidFill>
                <a:latin typeface="Courier"/>
              </a:rPr>
              <a:t>// Expired → downgrade to free</a:t>
            </a:r>
            <a:br/>
            <a:r>
              <a:rPr>
                <a:latin typeface="Courier"/>
              </a:rPr>
              <a:t>}</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9. External APIs &amp; Data Sources</a:t>
            </a:r>
          </a:p>
        </p:txBody>
      </p:sp>
      <p:sp>
        <p:nvSpPr>
          <p:cNvPr id="4" name="Text Placeholder 3"/>
          <p:cNvSpPr>
            <a:spLocks noGrp="1"/>
          </p:cNvSpPr>
          <p:nvPr>
            <p:ph idx="2" sz="half" type="body"/>
          </p:nvPr>
        </p:nvSpPr>
        <p:spPr/>
        <p:txBody>
          <a:bodyPr/>
          <a:lstStyle/>
          <a:p>
            <a:pPr lvl="0" indent="0" marL="0">
              <a:spcBef>
                <a:spcPts val="3000"/>
              </a:spcBef>
              <a:buNone/>
            </a:pPr>
            <a:r>
              <a:rPr b="1"/>
              <a:t>OSV.dev (Google Open Source Vulnerabilities)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Property</a:t>
                      </a:r>
                    </a:p>
                  </a:txBody>
                  <a:tcPr/>
                </a:tc>
                <a:tc>
                  <a:txBody>
                    <a:bodyPr/>
                    <a:lstStyle/>
                    <a:p>
                      <a:pPr lvl="0" indent="0" marL="0">
                        <a:buNone/>
                      </a:pPr>
                      <a:r>
                        <a:rPr/>
                        <a:t>Value</a:t>
                      </a:r>
                    </a:p>
                  </a:txBody>
                  <a:tcPr/>
                </a:tc>
              </a:tr>
              <a:tr h="0">
                <a:tc>
                  <a:txBody>
                    <a:bodyPr/>
                    <a:lstStyle/>
                    <a:p>
                      <a:pPr lvl="0" indent="0" marL="0">
                        <a:buNone/>
                      </a:pPr>
                      <a:r>
                        <a:rPr b="1"/>
                        <a:t>URL</a:t>
                      </a:r>
                    </a:p>
                  </a:txBody>
                </a:tc>
                <a:tc>
                  <a:txBody>
                    <a:bodyPr/>
                    <a:lstStyle/>
                    <a:p>
                      <a:pPr lvl="0" indent="0" marL="0">
                        <a:buNone/>
                      </a:pPr>
                      <a:r>
                        <a:rPr>
                          <a:latin typeface="Courier"/>
                        </a:rPr>
                        <a:t>https://api.osv.dev/v1/query</a:t>
                      </a:r>
                    </a:p>
                  </a:txBody>
                </a:tc>
              </a:tr>
              <a:tr h="0">
                <a:tc>
                  <a:txBody>
                    <a:bodyPr/>
                    <a:lstStyle/>
                    <a:p>
                      <a:pPr lvl="0" indent="0" marL="0">
                        <a:buNone/>
                      </a:pPr>
                      <a:r>
                        <a:rPr b="1"/>
                        <a:t>Method</a:t>
                      </a:r>
                    </a:p>
                  </a:txBody>
                </a:tc>
                <a:tc>
                  <a:txBody>
                    <a:bodyPr/>
                    <a:lstStyle/>
                    <a:p>
                      <a:pPr lvl="0" indent="0" marL="0">
                        <a:buNone/>
                      </a:pPr>
                      <a:r>
                        <a:rPr/>
                        <a:t>POST</a:t>
                      </a:r>
                    </a:p>
                  </a:txBody>
                </a:tc>
              </a:tr>
              <a:tr h="0">
                <a:tc>
                  <a:txBody>
                    <a:bodyPr/>
                    <a:lstStyle/>
                    <a:p>
                      <a:pPr lvl="0" indent="0" marL="0">
                        <a:buNone/>
                      </a:pPr>
                      <a:r>
                        <a:rPr b="1"/>
                        <a:t>Auth</a:t>
                      </a:r>
                    </a:p>
                  </a:txBody>
                </a:tc>
                <a:tc>
                  <a:txBody>
                    <a:bodyPr/>
                    <a:lstStyle/>
                    <a:p>
                      <a:pPr lvl="0" indent="0" marL="0">
                        <a:buNone/>
                      </a:pPr>
                      <a:r>
                        <a:rPr/>
                        <a:t>None (free, open API)</a:t>
                      </a:r>
                    </a:p>
                  </a:txBody>
                </a:tc>
              </a:tr>
              <a:tr h="0">
                <a:tc>
                  <a:txBody>
                    <a:bodyPr/>
                    <a:lstStyle/>
                    <a:p>
                      <a:pPr lvl="0" indent="0" marL="0">
                        <a:buNone/>
                      </a:pPr>
                      <a:r>
                        <a:rPr b="1"/>
                        <a:t>Rate Limit</a:t>
                      </a:r>
                    </a:p>
                  </a:txBody>
                </a:tc>
                <a:tc>
                  <a:txBody>
                    <a:bodyPr/>
                    <a:lstStyle/>
                    <a:p>
                      <a:pPr lvl="0" indent="0" marL="0">
                        <a:buNone/>
                      </a:pPr>
                      <a:r>
                        <a:rPr/>
                        <a:t>None documented (be respectful)</a:t>
                      </a:r>
                    </a:p>
                  </a:txBody>
                </a:tc>
              </a:tr>
              <a:tr h="0">
                <a:tc>
                  <a:txBody>
                    <a:bodyPr/>
                    <a:lstStyle/>
                    <a:p>
                      <a:pPr lvl="0" indent="0" marL="0">
                        <a:buNone/>
                      </a:pPr>
                      <a:r>
                        <a:rPr b="1"/>
                        <a:t>Data License</a:t>
                      </a:r>
                    </a:p>
                  </a:txBody>
                </a:tc>
                <a:tc>
                  <a:txBody>
                    <a:bodyPr/>
                    <a:lstStyle/>
                    <a:p>
                      <a:pPr lvl="0" indent="0" marL="0">
                        <a:buNone/>
                      </a:pPr>
                      <a:r>
                        <a:rPr/>
                        <a:t>CC-BY 4.0</a:t>
                      </a:r>
                    </a:p>
                  </a:txBody>
                </a:tc>
              </a:tr>
              <a:tr h="0">
                <a:tc>
                  <a:txBody>
                    <a:bodyPr/>
                    <a:lstStyle/>
                    <a:p>
                      <a:pPr lvl="0" indent="0" marL="0">
                        <a:buNone/>
                      </a:pPr>
                      <a:r>
                        <a:rPr b="1"/>
                        <a:t>Coverage</a:t>
                      </a:r>
                    </a:p>
                  </a:txBody>
                </a:tc>
                <a:tc>
                  <a:txBody>
                    <a:bodyPr/>
                    <a:lstStyle/>
                    <a:p>
                      <a:pPr lvl="0" indent="0" marL="0">
                        <a:buNone/>
                      </a:pPr>
                      <a:r>
                        <a:rPr/>
                        <a:t>npm, PyPI, Go, Maven, Crates.io, NuGet, and more</a:t>
                      </a:r>
                    </a:p>
                  </a:txBody>
                </a:tc>
              </a:tr>
              <a:tr h="0">
                <a:tc>
                  <a:txBody>
                    <a:bodyPr/>
                    <a:lstStyle/>
                    <a:p>
                      <a:pPr lvl="0" indent="0" marL="0">
                        <a:buNone/>
                      </a:pPr>
                      <a:r>
                        <a:rPr b="1"/>
                        <a:t>Used By</a:t>
                      </a:r>
                    </a:p>
                  </a:txBody>
                </a:tc>
                <a:tc>
                  <a:txBody>
                    <a:bodyPr/>
                    <a:lstStyle/>
                    <a:p>
                      <a:pPr lvl="0" indent="0" marL="0">
                        <a:buNone/>
                      </a:pPr>
                      <a:r>
                        <a:rPr/>
                        <a:t>Dependency Scanner (</a:t>
                      </a:r>
                      <a:r>
                        <a:rPr>
                          <a:latin typeface="Courier"/>
                        </a:rPr>
                        <a:t>scan-deps</a:t>
                      </a:r>
                      <a:r>
                        <a:rPr/>
                        <a:t>)</a:t>
                      </a:r>
                    </a:p>
                  </a:txBody>
                </a:tc>
              </a:tr>
            </a:tbl>
          </a:graphicData>
        </a:graphic>
      </p:graphicFrame>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Request example:</a:t>
            </a:r>
          </a:p>
          <a:p>
            <a:pPr lvl="0" indent="0">
              <a:buNone/>
            </a:pPr>
            <a:r>
              <a:rPr>
                <a:solidFill>
                  <a:srgbClr val="06287E"/>
                </a:solidFill>
                <a:latin typeface="Courier"/>
              </a:rPr>
              <a:t>{</a:t>
            </a:r>
            <a:br/>
            <a:r>
              <a:rPr>
                <a:latin typeface="Courier"/>
              </a:rPr>
              <a:t>  </a:t>
            </a:r>
            <a:r>
              <a:rPr>
                <a:solidFill>
                  <a:srgbClr val="902000"/>
                </a:solidFill>
                <a:latin typeface="Courier"/>
              </a:rPr>
              <a:t>"package"</a:t>
            </a:r>
            <a:r>
              <a:rPr>
                <a:solidFill>
                  <a:srgbClr val="06287E"/>
                </a:solidFill>
                <a:latin typeface="Courier"/>
              </a:rPr>
              <a:t>:</a:t>
            </a:r>
            <a:r>
              <a:rPr>
                <a:latin typeface="Courier"/>
              </a:rPr>
              <a:t> </a:t>
            </a:r>
            <a:r>
              <a:rPr>
                <a:solidFill>
                  <a:srgbClr val="06287E"/>
                </a:solidFill>
                <a:latin typeface="Courier"/>
              </a:rPr>
              <a:t>{</a:t>
            </a:r>
            <a:r>
              <a:rPr>
                <a:latin typeface="Courier"/>
              </a:rPr>
              <a:t> </a:t>
            </a:r>
            <a:r>
              <a:rPr>
                <a:solidFill>
                  <a:srgbClr val="902000"/>
                </a:solidFill>
                <a:latin typeface="Courier"/>
              </a:rPr>
              <a:t>"name"</a:t>
            </a:r>
            <a:r>
              <a:rPr>
                <a:solidFill>
                  <a:srgbClr val="06287E"/>
                </a:solidFill>
                <a:latin typeface="Courier"/>
              </a:rPr>
              <a:t>:</a:t>
            </a:r>
            <a:r>
              <a:rPr>
                <a:latin typeface="Courier"/>
              </a:rPr>
              <a:t> </a:t>
            </a:r>
            <a:r>
              <a:rPr>
                <a:solidFill>
                  <a:srgbClr val="4070A0"/>
                </a:solidFill>
                <a:latin typeface="Courier"/>
              </a:rPr>
              <a:t>"lodash"</a:t>
            </a:r>
            <a:r>
              <a:rPr>
                <a:solidFill>
                  <a:srgbClr val="06287E"/>
                </a:solidFill>
                <a:latin typeface="Courier"/>
              </a:rPr>
              <a:t>,</a:t>
            </a:r>
            <a:r>
              <a:rPr>
                <a:latin typeface="Courier"/>
              </a:rPr>
              <a:t> </a:t>
            </a:r>
            <a:r>
              <a:rPr>
                <a:solidFill>
                  <a:srgbClr val="902000"/>
                </a:solidFill>
                <a:latin typeface="Courier"/>
              </a:rPr>
              <a:t>"ecosystem"</a:t>
            </a:r>
            <a:r>
              <a:rPr>
                <a:solidFill>
                  <a:srgbClr val="06287E"/>
                </a:solidFill>
                <a:latin typeface="Courier"/>
              </a:rPr>
              <a:t>:</a:t>
            </a:r>
            <a:r>
              <a:rPr>
                <a:latin typeface="Courier"/>
              </a:rPr>
              <a:t> </a:t>
            </a:r>
            <a:r>
              <a:rPr>
                <a:solidFill>
                  <a:srgbClr val="4070A0"/>
                </a:solidFill>
                <a:latin typeface="Courier"/>
              </a:rPr>
              <a:t>"npm"</a:t>
            </a:r>
            <a:r>
              <a:rPr>
                <a:latin typeface="Courier"/>
              </a:rPr>
              <a:t> </a:t>
            </a:r>
            <a:r>
              <a:rPr>
                <a:solidFill>
                  <a:srgbClr val="06287E"/>
                </a:solidFill>
                <a:latin typeface="Courier"/>
              </a:rPr>
              <a:t>},</a:t>
            </a:r>
            <a:br/>
            <a:r>
              <a:rPr>
                <a:latin typeface="Courier"/>
              </a:rPr>
              <a:t>  </a:t>
            </a:r>
            <a:r>
              <a:rPr>
                <a:solidFill>
                  <a:srgbClr val="902000"/>
                </a:solidFill>
                <a:latin typeface="Courier"/>
              </a:rPr>
              <a:t>"version"</a:t>
            </a:r>
            <a:r>
              <a:rPr>
                <a:solidFill>
                  <a:srgbClr val="06287E"/>
                </a:solidFill>
                <a:latin typeface="Courier"/>
              </a:rPr>
              <a:t>:</a:t>
            </a:r>
            <a:r>
              <a:rPr>
                <a:latin typeface="Courier"/>
              </a:rPr>
              <a:t> </a:t>
            </a:r>
            <a:r>
              <a:rPr>
                <a:solidFill>
                  <a:srgbClr val="4070A0"/>
                </a:solidFill>
                <a:latin typeface="Courier"/>
              </a:rPr>
              <a:t>"4.17.20"</a:t>
            </a:r>
            <a:br/>
            <a:r>
              <a:rPr>
                <a:solidFill>
                  <a:srgbClr val="06287E"/>
                </a:solidFill>
                <a:latin typeface="Courier"/>
              </a:rPr>
              <a:t>}</a:t>
            </a:r>
          </a:p>
          <a:p>
            <a:pPr lvl="0" indent="0" marL="0">
              <a:buNone/>
            </a:pPr>
            <a:r>
              <a:rPr b="1"/>
              <a:t>Response includes:</a:t>
            </a:r>
            <a:r>
              <a:rPr/>
              <a:t> Vulnerability ID, aliases (CVE-xxx), summary, severity (CVSS), affected version ranges, fixed versions, references.</a:t>
            </a:r>
          </a:p>
          <a:p>
            <a:pPr lvl="0" indent="0" marL="0">
              <a:spcBef>
                <a:spcPts val="3000"/>
              </a:spcBef>
              <a:buNone/>
            </a:pPr>
            <a:r>
              <a:rPr b="1"/>
              <a:t>Razorpay (Payment Gateway)</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997200"/>
                <a:gridCol w="2108200"/>
              </a:tblGrid>
              <a:tr h="0">
                <a:tc>
                  <a:txBody>
                    <a:bodyPr/>
                    <a:lstStyle/>
                    <a:p>
                      <a:pPr lvl="0" indent="0" marL="0">
                        <a:buNone/>
                      </a:pPr>
                      <a:r>
                        <a:rPr/>
                        <a:t>Property</a:t>
                      </a:r>
                    </a:p>
                  </a:txBody>
                  <a:tcPr/>
                </a:tc>
                <a:tc>
                  <a:txBody>
                    <a:bodyPr/>
                    <a:lstStyle/>
                    <a:p>
                      <a:pPr lvl="0" indent="0" marL="0">
                        <a:buNone/>
                      </a:pPr>
                      <a:r>
                        <a:rPr/>
                        <a:t>Value</a:t>
                      </a:r>
                    </a:p>
                  </a:txBody>
                  <a:tcPr/>
                </a:tc>
              </a:tr>
              <a:tr h="0">
                <a:tc>
                  <a:txBody>
                    <a:bodyPr/>
                    <a:lstStyle/>
                    <a:p>
                      <a:pPr lvl="0" indent="0" marL="0">
                        <a:buNone/>
                      </a:pPr>
                      <a:r>
                        <a:rPr b="1"/>
                        <a:t>URL</a:t>
                      </a:r>
                    </a:p>
                  </a:txBody>
                </a:tc>
                <a:tc>
                  <a:txBody>
                    <a:bodyPr/>
                    <a:lstStyle/>
                    <a:p>
                      <a:pPr lvl="0" indent="0" marL="0">
                        <a:buNone/>
                      </a:pPr>
                      <a:r>
                        <a:rPr>
                          <a:latin typeface="Courier"/>
                        </a:rPr>
                        <a:t>https://api.razorpay.com/v1/*</a:t>
                      </a:r>
                    </a:p>
                  </a:txBody>
                </a:tc>
              </a:tr>
              <a:tr h="0">
                <a:tc>
                  <a:txBody>
                    <a:bodyPr/>
                    <a:lstStyle/>
                    <a:p>
                      <a:pPr lvl="0" indent="0" marL="0">
                        <a:buNone/>
                      </a:pPr>
                      <a:r>
                        <a:rPr b="1"/>
                        <a:t>Auth</a:t>
                      </a:r>
                    </a:p>
                  </a:txBody>
                </a:tc>
                <a:tc>
                  <a:txBody>
                    <a:bodyPr/>
                    <a:lstStyle/>
                    <a:p>
                      <a:pPr lvl="0" indent="0" marL="0">
                        <a:buNone/>
                      </a:pPr>
                      <a:r>
                        <a:rPr/>
                        <a:t>Basic auth (key_id:key_secret)</a:t>
                      </a:r>
                    </a:p>
                  </a:txBody>
                </a:tc>
              </a:tr>
              <a:tr h="0">
                <a:tc>
                  <a:txBody>
                    <a:bodyPr/>
                    <a:lstStyle/>
                    <a:p>
                      <a:pPr lvl="0" indent="0" marL="0">
                        <a:buNone/>
                      </a:pPr>
                      <a:r>
                        <a:rPr b="1"/>
                        <a:t>Webhook</a:t>
                      </a:r>
                    </a:p>
                  </a:txBody>
                </a:tc>
                <a:tc>
                  <a:txBody>
                    <a:bodyPr/>
                    <a:lstStyle/>
                    <a:p>
                      <a:pPr lvl="0" indent="0" marL="0">
                        <a:buNone/>
                      </a:pPr>
                      <a:r>
                        <a:rPr/>
                        <a:t>HMAC SHA256 signature verification</a:t>
                      </a:r>
                    </a:p>
                  </a:txBody>
                </a:tc>
              </a:tr>
              <a:tr h="0">
                <a:tc>
                  <a:txBody>
                    <a:bodyPr/>
                    <a:lstStyle/>
                    <a:p>
                      <a:pPr lvl="0" indent="0" marL="0">
                        <a:buNone/>
                      </a:pPr>
                      <a:r>
                        <a:rPr b="1"/>
                        <a:t>Used By</a:t>
                      </a:r>
                    </a:p>
                  </a:txBody>
                </a:tc>
                <a:tc>
                  <a:txBody>
                    <a:bodyPr/>
                    <a:lstStyle/>
                    <a:p>
                      <a:pPr lvl="0" indent="0" marL="0">
                        <a:buNone/>
                      </a:pPr>
                      <a:r>
                        <a:rPr/>
                        <a:t>Billing checkout, webhook, subscription management</a:t>
                      </a:r>
                    </a:p>
                  </a:txBody>
                </a:tc>
              </a:tr>
              <a:tr h="0">
                <a:tc>
                  <a:txBody>
                    <a:bodyPr/>
                    <a:lstStyle/>
                    <a:p>
                      <a:pPr lvl="0" indent="0" marL="0">
                        <a:buNone/>
                      </a:pPr>
                      <a:r>
                        <a:rPr b="1"/>
                        <a:t>Env Vars</a:t>
                      </a:r>
                    </a:p>
                  </a:txBody>
                </a:tc>
                <a:tc>
                  <a:txBody>
                    <a:bodyPr/>
                    <a:lstStyle/>
                    <a:p>
                      <a:pPr lvl="0" indent="0" marL="0">
                        <a:buNone/>
                      </a:pPr>
                      <a:r>
                        <a:rPr>
                          <a:latin typeface="Courier"/>
                        </a:rPr>
                        <a:t>RAZORPAY_KEY_ID</a:t>
                      </a:r>
                      <a:r>
                        <a:rPr/>
                        <a:t>, </a:t>
                      </a:r>
                      <a:r>
                        <a:rPr>
                          <a:latin typeface="Courier"/>
                        </a:rPr>
                        <a:t>RAZORPAY_KEY_SECRET</a:t>
                      </a:r>
                      <a:r>
                        <a:rPr/>
                        <a:t>, </a:t>
                      </a:r>
                      <a:r>
                        <a:rPr>
                          <a:latin typeface="Courier"/>
                        </a:rPr>
                        <a:t>RAZORPAY_WEBHOOK_SECRET</a:t>
                      </a:r>
                    </a:p>
                  </a:txBody>
                </a:tc>
              </a:tr>
            </a:tbl>
          </a:graphicData>
        </a:graphic>
      </p:graphicFrame>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No Other External APIs</a:t>
            </a:r>
          </a:p>
          <a:p>
            <a:pPr lvl="0" indent="0" marL="0">
              <a:buNone/>
            </a:pPr>
            <a:r>
              <a:rPr/>
              <a:t>The Secrets Scanner, Cloud Audit, Log Analyzer, Alert System, and Security Score modules are </a:t>
            </a:r>
            <a:r>
              <a:rPr b="1"/>
              <a:t>fully local</a:t>
            </a:r>
            <a:r>
              <a:rPr/>
              <a:t> — they use regex patterns, heuristic analysis, and client-side calculations with zero external API calls.</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10. Database Schema</a:t>
            </a:r>
          </a:p>
        </p:txBody>
      </p:sp>
      <p:sp>
        <p:nvSpPr>
          <p:cNvPr id="3" name="Content Placeholder 2"/>
          <p:cNvSpPr>
            <a:spLocks noGrp="1"/>
          </p:cNvSpPr>
          <p:nvPr>
            <p:ph idx="1"/>
          </p:nvPr>
        </p:nvSpPr>
        <p:spPr/>
        <p:txBody>
          <a:bodyPr/>
          <a:lstStyle/>
          <a:p>
            <a:pPr lvl="0" indent="0" marL="0">
              <a:spcBef>
                <a:spcPts val="3000"/>
              </a:spcBef>
              <a:buNone/>
            </a:pPr>
            <a:r>
              <a:rPr b="1"/>
              <a:t>Users Collection</a:t>
            </a:r>
          </a:p>
          <a:p>
            <a:pPr lvl="0" indent="0">
              <a:buNone/>
            </a:pPr>
            <a:r>
              <a:rPr>
                <a:latin typeface="Courier"/>
              </a:rPr>
              <a:t>{</a:t>
            </a:r>
            <a:br/>
            <a:r>
              <a:rPr>
                <a:latin typeface="Courier"/>
              </a:rPr>
              <a:t>  name</a:t>
            </a:r>
            <a:r>
              <a:rPr>
                <a:solidFill>
                  <a:srgbClr val="666666"/>
                </a:solidFill>
                <a:latin typeface="Courier"/>
              </a:rPr>
              <a:t>:</a:t>
            </a:r>
            <a:r>
              <a:rPr>
                <a:latin typeface="Courier"/>
              </a:rPr>
              <a:t> </a:t>
            </a:r>
            <a:r>
              <a:rPr>
                <a:solidFill>
                  <a:srgbClr val="008000"/>
                </a:solidFill>
                <a:latin typeface="Courier"/>
              </a:rPr>
              <a:t>String</a:t>
            </a:r>
            <a:r>
              <a:rPr>
                <a:solidFill>
                  <a:srgbClr val="666666"/>
                </a:solidFill>
                <a:latin typeface="Courier"/>
              </a:rPr>
              <a:t>,</a:t>
            </a:r>
            <a:r>
              <a:rPr>
                <a:latin typeface="Courier"/>
              </a:rPr>
              <a:t>              </a:t>
            </a:r>
            <a:r>
              <a:rPr i="1">
                <a:solidFill>
                  <a:srgbClr val="60A0B0"/>
                </a:solidFill>
                <a:latin typeface="Courier"/>
              </a:rPr>
              <a:t>// Display name</a:t>
            </a:r>
            <a:br/>
            <a:r>
              <a:rPr>
                <a:latin typeface="Courier"/>
              </a:rPr>
              <a:t>  email</a:t>
            </a:r>
            <a:r>
              <a:rPr>
                <a:solidFill>
                  <a:srgbClr val="666666"/>
                </a:solidFill>
                <a:latin typeface="Courier"/>
              </a:rPr>
              <a:t>:</a:t>
            </a:r>
            <a:r>
              <a:rPr>
                <a:latin typeface="Courier"/>
              </a:rPr>
              <a:t> </a:t>
            </a:r>
            <a:r>
              <a:rPr>
                <a:solidFill>
                  <a:srgbClr val="008000"/>
                </a:solidFill>
                <a:latin typeface="Courier"/>
              </a:rPr>
              <a:t>String</a:t>
            </a:r>
            <a:r>
              <a:rPr>
                <a:solidFill>
                  <a:srgbClr val="666666"/>
                </a:solidFill>
                <a:latin typeface="Courier"/>
              </a:rPr>
              <a:t>,</a:t>
            </a:r>
            <a:r>
              <a:rPr>
                <a:latin typeface="Courier"/>
              </a:rPr>
              <a:t>             </a:t>
            </a:r>
            <a:r>
              <a:rPr i="1">
                <a:solidFill>
                  <a:srgbClr val="60A0B0"/>
                </a:solidFill>
                <a:latin typeface="Courier"/>
              </a:rPr>
              <a:t>// Unique, lowercase</a:t>
            </a:r>
            <a:br/>
            <a:r>
              <a:rPr>
                <a:latin typeface="Courier"/>
              </a:rPr>
              <a:t>  password</a:t>
            </a:r>
            <a:r>
              <a:rPr>
                <a:solidFill>
                  <a:srgbClr val="666666"/>
                </a:solidFill>
                <a:latin typeface="Courier"/>
              </a:rPr>
              <a:t>:</a:t>
            </a:r>
            <a:r>
              <a:rPr>
                <a:latin typeface="Courier"/>
              </a:rPr>
              <a:t> </a:t>
            </a:r>
            <a:r>
              <a:rPr>
                <a:solidFill>
                  <a:srgbClr val="008000"/>
                </a:solidFill>
                <a:latin typeface="Courier"/>
              </a:rPr>
              <a:t>String</a:t>
            </a:r>
            <a:r>
              <a:rPr>
                <a:solidFill>
                  <a:srgbClr val="666666"/>
                </a:solidFill>
                <a:latin typeface="Courier"/>
              </a:rPr>
              <a:t>,</a:t>
            </a:r>
            <a:r>
              <a:rPr>
                <a:latin typeface="Courier"/>
              </a:rPr>
              <a:t>          </a:t>
            </a:r>
            <a:r>
              <a:rPr i="1">
                <a:solidFill>
                  <a:srgbClr val="60A0B0"/>
                </a:solidFill>
                <a:latin typeface="Courier"/>
              </a:rPr>
              <a:t>// bcrypt hash (select: false)</a:t>
            </a:r>
            <a:br/>
            <a:r>
              <a:rPr>
                <a:latin typeface="Courier"/>
              </a:rPr>
              <a:t>  role</a:t>
            </a:r>
            <a:r>
              <a:rPr>
                <a:solidFill>
                  <a:srgbClr val="666666"/>
                </a:solidFill>
                <a:latin typeface="Courier"/>
              </a:rPr>
              <a:t>:</a:t>
            </a:r>
            <a:r>
              <a:rPr>
                <a:latin typeface="Courier"/>
              </a:rPr>
              <a:t> </a:t>
            </a:r>
            <a:r>
              <a:rPr>
                <a:solidFill>
                  <a:srgbClr val="4070A0"/>
                </a:solidFill>
                <a:latin typeface="Courier"/>
              </a:rPr>
              <a:t>"user"</a:t>
            </a:r>
            <a:r>
              <a:rPr>
                <a:latin typeface="Courier"/>
              </a:rPr>
              <a:t> </a:t>
            </a:r>
            <a:r>
              <a:rPr>
                <a:solidFill>
                  <a:srgbClr val="666666"/>
                </a:solidFill>
                <a:latin typeface="Courier"/>
              </a:rPr>
              <a:t>|</a:t>
            </a:r>
            <a:r>
              <a:rPr>
                <a:latin typeface="Courier"/>
              </a:rPr>
              <a:t> </a:t>
            </a:r>
            <a:r>
              <a:rPr>
                <a:solidFill>
                  <a:srgbClr val="4070A0"/>
                </a:solidFill>
                <a:latin typeface="Courier"/>
              </a:rPr>
              <a:t>"admin"</a:t>
            </a:r>
            <a:r>
              <a:rPr>
                <a:solidFill>
                  <a:srgbClr val="666666"/>
                </a:solidFill>
                <a:latin typeface="Courier"/>
              </a:rPr>
              <a:t>,</a:t>
            </a:r>
            <a:br/>
            <a:r>
              <a:rPr>
                <a:latin typeface="Courier"/>
              </a:rPr>
              <a:t>  company</a:t>
            </a:r>
            <a:r>
              <a:rPr>
                <a:solidFill>
                  <a:srgbClr val="666666"/>
                </a:solidFill>
                <a:latin typeface="Courier"/>
              </a:rPr>
              <a:t>:</a:t>
            </a:r>
            <a:r>
              <a:rPr>
                <a:latin typeface="Courier"/>
              </a:rPr>
              <a:t> </a:t>
            </a:r>
            <a:r>
              <a:rPr>
                <a:solidFill>
                  <a:srgbClr val="008000"/>
                </a:solidFill>
                <a:latin typeface="Courier"/>
              </a:rPr>
              <a:t>String</a:t>
            </a:r>
            <a:r>
              <a:rPr>
                <a:latin typeface="Courier"/>
              </a:rPr>
              <a:t> </a:t>
            </a:r>
            <a:r>
              <a:rPr>
                <a:solidFill>
                  <a:srgbClr val="666666"/>
                </a:solidFill>
                <a:latin typeface="Courier"/>
              </a:rPr>
              <a:t>|</a:t>
            </a:r>
            <a:r>
              <a:rPr>
                <a:latin typeface="Courier"/>
              </a:rPr>
              <a:t> </a:t>
            </a:r>
            <a:r>
              <a:rPr>
                <a:solidFill>
                  <a:srgbClr val="902000"/>
                </a:solidFill>
                <a:latin typeface="Courier"/>
              </a:rPr>
              <a:t>null</a:t>
            </a:r>
            <a:r>
              <a:rPr>
                <a:solidFill>
                  <a:srgbClr val="666666"/>
                </a:solidFill>
                <a:latin typeface="Courier"/>
              </a:rPr>
              <a:t>,</a:t>
            </a:r>
            <a:r>
              <a:rPr>
                <a:latin typeface="Courier"/>
              </a:rPr>
              <a:t>     </a:t>
            </a:r>
            <a:r>
              <a:rPr i="1">
                <a:solidFill>
                  <a:srgbClr val="60A0B0"/>
                </a:solidFill>
                <a:latin typeface="Courier"/>
              </a:rPr>
              <a:t>// Optional company name</a:t>
            </a:r>
            <a:br/>
            <a:r>
              <a:rPr>
                <a:latin typeface="Courier"/>
              </a:rPr>
              <a:t>  </a:t>
            </a:r>
            <a:br/>
            <a:r>
              <a:rPr>
                <a:latin typeface="Courier"/>
              </a:rPr>
              <a:t>  </a:t>
            </a:r>
            <a:r>
              <a:rPr i="1">
                <a:solidFill>
                  <a:srgbClr val="60A0B0"/>
                </a:solidFill>
                <a:latin typeface="Courier"/>
              </a:rPr>
              <a:t>// ShieldX Plan</a:t>
            </a:r>
            <a:br/>
            <a:r>
              <a:rPr>
                <a:latin typeface="Courier"/>
              </a:rPr>
              <a:t>  shieldxPlan</a:t>
            </a:r>
            <a:r>
              <a:rPr>
                <a:solidFill>
                  <a:srgbClr val="666666"/>
                </a:solidFill>
                <a:latin typeface="Courier"/>
              </a:rPr>
              <a:t>:</a:t>
            </a:r>
            <a:r>
              <a:rPr>
                <a:latin typeface="Courier"/>
              </a:rPr>
              <a:t> </a:t>
            </a:r>
            <a:r>
              <a:rPr>
                <a:solidFill>
                  <a:srgbClr val="4070A0"/>
                </a:solidFill>
                <a:latin typeface="Courier"/>
              </a:rPr>
              <a:t>"free"</a:t>
            </a:r>
            <a:r>
              <a:rPr>
                <a:latin typeface="Courier"/>
              </a:rPr>
              <a:t> </a:t>
            </a:r>
            <a:r>
              <a:rPr>
                <a:solidFill>
                  <a:srgbClr val="666666"/>
                </a:solidFill>
                <a:latin typeface="Courier"/>
              </a:rPr>
              <a:t>|</a:t>
            </a:r>
            <a:r>
              <a:rPr>
                <a:latin typeface="Courier"/>
              </a:rPr>
              <a:t> </a:t>
            </a:r>
            <a:r>
              <a:rPr>
                <a:solidFill>
                  <a:srgbClr val="4070A0"/>
                </a:solidFill>
                <a:latin typeface="Courier"/>
              </a:rPr>
              <a:t>"pro"</a:t>
            </a:r>
            <a:r>
              <a:rPr>
                <a:latin typeface="Courier"/>
              </a:rPr>
              <a:t> </a:t>
            </a:r>
            <a:r>
              <a:rPr>
                <a:solidFill>
                  <a:srgbClr val="666666"/>
                </a:solidFill>
                <a:latin typeface="Courier"/>
              </a:rPr>
              <a:t>|</a:t>
            </a:r>
            <a:r>
              <a:rPr>
                <a:latin typeface="Courier"/>
              </a:rPr>
              <a:t> </a:t>
            </a:r>
            <a:r>
              <a:rPr>
                <a:solidFill>
                  <a:srgbClr val="4070A0"/>
                </a:solidFill>
                <a:latin typeface="Courier"/>
              </a:rPr>
              <a:t>"enterprise"</a:t>
            </a:r>
            <a:r>
              <a:rPr>
                <a:solidFill>
                  <a:srgbClr val="666666"/>
                </a:solidFill>
                <a:latin typeface="Courier"/>
              </a:rPr>
              <a:t>,</a:t>
            </a:r>
            <a:br/>
            <a:r>
              <a:rPr>
                <a:latin typeface="Courier"/>
              </a:rPr>
              <a:t>  shieldxPlanSource</a:t>
            </a:r>
            <a:r>
              <a:rPr>
                <a:solidFill>
                  <a:srgbClr val="666666"/>
                </a:solidFill>
                <a:latin typeface="Courier"/>
              </a:rPr>
              <a:t>:</a:t>
            </a:r>
            <a:r>
              <a:rPr>
                <a:latin typeface="Courier"/>
              </a:rPr>
              <a:t> </a:t>
            </a:r>
            <a:r>
              <a:rPr>
                <a:solidFill>
                  <a:srgbClr val="4070A0"/>
                </a:solidFill>
                <a:latin typeface="Courier"/>
              </a:rPr>
              <a:t>"free"</a:t>
            </a:r>
            <a:r>
              <a:rPr>
                <a:latin typeface="Courier"/>
              </a:rPr>
              <a:t> </a:t>
            </a:r>
            <a:r>
              <a:rPr>
                <a:solidFill>
                  <a:srgbClr val="666666"/>
                </a:solidFill>
                <a:latin typeface="Courier"/>
              </a:rPr>
              <a:t>|</a:t>
            </a:r>
            <a:r>
              <a:rPr>
                <a:latin typeface="Courier"/>
              </a:rPr>
              <a:t> </a:t>
            </a:r>
            <a:r>
              <a:rPr>
                <a:solidFill>
                  <a:srgbClr val="4070A0"/>
                </a:solidFill>
                <a:latin typeface="Courier"/>
              </a:rPr>
              <a:t>"admin"</a:t>
            </a:r>
            <a:r>
              <a:rPr>
                <a:latin typeface="Courier"/>
              </a:rPr>
              <a:t> </a:t>
            </a:r>
            <a:r>
              <a:rPr>
                <a:solidFill>
                  <a:srgbClr val="666666"/>
                </a:solidFill>
                <a:latin typeface="Courier"/>
              </a:rPr>
              <a:t>|</a:t>
            </a:r>
            <a:r>
              <a:rPr>
                <a:latin typeface="Courier"/>
              </a:rPr>
              <a:t> </a:t>
            </a:r>
            <a:r>
              <a:rPr>
                <a:solidFill>
                  <a:srgbClr val="4070A0"/>
                </a:solidFill>
                <a:latin typeface="Courier"/>
              </a:rPr>
              <a:t>"billing"</a:t>
            </a:r>
            <a:r>
              <a:rPr>
                <a:latin typeface="Courier"/>
              </a:rPr>
              <a:t> </a:t>
            </a:r>
            <a:r>
              <a:rPr>
                <a:solidFill>
                  <a:srgbClr val="666666"/>
                </a:solidFill>
                <a:latin typeface="Courier"/>
              </a:rPr>
              <a:t>|</a:t>
            </a:r>
            <a:r>
              <a:rPr>
                <a:latin typeface="Courier"/>
              </a:rPr>
              <a:t> </a:t>
            </a:r>
            <a:r>
              <a:rPr>
                <a:solidFill>
                  <a:srgbClr val="4070A0"/>
                </a:solidFill>
                <a:latin typeface="Courier"/>
              </a:rPr>
              <a:t>"team"</a:t>
            </a:r>
            <a:r>
              <a:rPr>
                <a:solidFill>
                  <a:srgbClr val="666666"/>
                </a:solidFill>
                <a:latin typeface="Courier"/>
              </a:rPr>
              <a:t>,</a:t>
            </a:r>
            <a:br/>
            <a:r>
              <a:rPr>
                <a:latin typeface="Courier"/>
              </a:rPr>
              <a:t>  shieldxExpiry</a:t>
            </a:r>
            <a:r>
              <a:rPr>
                <a:solidFill>
                  <a:srgbClr val="666666"/>
                </a:solidFill>
                <a:latin typeface="Courier"/>
              </a:rPr>
              <a:t>:</a:t>
            </a:r>
            <a:r>
              <a:rPr>
                <a:latin typeface="Courier"/>
              </a:rPr>
              <a:t> </a:t>
            </a:r>
            <a:r>
              <a:rPr>
                <a:solidFill>
                  <a:srgbClr val="008000"/>
                </a:solidFill>
                <a:latin typeface="Courier"/>
              </a:rPr>
              <a:t>Date</a:t>
            </a:r>
            <a:r>
              <a:rPr>
                <a:latin typeface="Courier"/>
              </a:rPr>
              <a:t> </a:t>
            </a:r>
            <a:r>
              <a:rPr>
                <a:solidFill>
                  <a:srgbClr val="666666"/>
                </a:solidFill>
                <a:latin typeface="Courier"/>
              </a:rPr>
              <a:t>|</a:t>
            </a:r>
            <a:r>
              <a:rPr>
                <a:latin typeface="Courier"/>
              </a:rPr>
              <a:t> </a:t>
            </a:r>
            <a:r>
              <a:rPr>
                <a:solidFill>
                  <a:srgbClr val="902000"/>
                </a:solidFill>
                <a:latin typeface="Courier"/>
              </a:rPr>
              <a:t>null</a:t>
            </a:r>
            <a:r>
              <a:rPr>
                <a:solidFill>
                  <a:srgbClr val="666666"/>
                </a:solidFill>
                <a:latin typeface="Courier"/>
              </a:rPr>
              <a:t>,</a:t>
            </a:r>
            <a:br/>
            <a:r>
              <a:rPr>
                <a:latin typeface="Courier"/>
              </a:rPr>
              <a:t>  shieldxScanCount</a:t>
            </a:r>
            <a:r>
              <a:rPr>
                <a:solidFill>
                  <a:srgbClr val="666666"/>
                </a:solidFill>
                <a:latin typeface="Courier"/>
              </a:rPr>
              <a:t>:</a:t>
            </a:r>
            <a:r>
              <a:rPr>
                <a:latin typeface="Courier"/>
              </a:rPr>
              <a:t> </a:t>
            </a:r>
            <a:r>
              <a:rPr>
                <a:solidFill>
                  <a:srgbClr val="008000"/>
                </a:solidFill>
                <a:latin typeface="Courier"/>
              </a:rPr>
              <a:t>Number</a:t>
            </a:r>
            <a:r>
              <a:rPr>
                <a:solidFill>
                  <a:srgbClr val="666666"/>
                </a:solidFill>
                <a:latin typeface="Courier"/>
              </a:rPr>
              <a:t>,</a:t>
            </a:r>
            <a:r>
              <a:rPr>
                <a:latin typeface="Courier"/>
              </a:rPr>
              <a:t>   </a:t>
            </a:r>
            <a:r>
              <a:rPr i="1">
                <a:solidFill>
                  <a:srgbClr val="60A0B0"/>
                </a:solidFill>
                <a:latin typeface="Courier"/>
              </a:rPr>
              <a:t>// Tracks total scans for limit enforcement</a:t>
            </a:r>
            <a:br/>
            <a:r>
              <a:rPr>
                <a:latin typeface="Courier"/>
              </a:rPr>
              <a:t>  </a:t>
            </a:r>
            <a:br/>
            <a:r>
              <a:rPr>
                <a:latin typeface="Courier"/>
              </a:rPr>
              <a:t>  </a:t>
            </a:r>
            <a:r>
              <a:rPr i="1">
                <a:solidFill>
                  <a:srgbClr val="60A0B0"/>
                </a:solidFill>
                <a:latin typeface="Courier"/>
              </a:rPr>
              <a:t>// Billing</a:t>
            </a:r>
            <a:br/>
            <a:r>
              <a:rPr>
                <a:latin typeface="Courier"/>
              </a:rPr>
              <a:t>  shieldxBillingProvider</a:t>
            </a:r>
            <a:r>
              <a:rPr>
                <a:solidFill>
                  <a:srgbClr val="666666"/>
                </a:solidFill>
                <a:latin typeface="Courier"/>
              </a:rPr>
              <a:t>:</a:t>
            </a:r>
            <a:r>
              <a:rPr>
                <a:latin typeface="Courier"/>
              </a:rPr>
              <a:t> </a:t>
            </a:r>
            <a:r>
              <a:rPr>
                <a:solidFill>
                  <a:srgbClr val="4070A0"/>
                </a:solidFill>
                <a:latin typeface="Courier"/>
              </a:rPr>
              <a:t>"razorpay"</a:t>
            </a:r>
            <a:r>
              <a:rPr>
                <a:latin typeface="Courier"/>
              </a:rPr>
              <a:t> </a:t>
            </a:r>
            <a:r>
              <a:rPr>
                <a:solidFill>
                  <a:srgbClr val="666666"/>
                </a:solidFill>
                <a:latin typeface="Courier"/>
              </a:rPr>
              <a:t>|</a:t>
            </a:r>
            <a:r>
              <a:rPr>
                <a:latin typeface="Courier"/>
              </a:rPr>
              <a:t> </a:t>
            </a:r>
            <a:r>
              <a:rPr>
                <a:solidFill>
                  <a:srgbClr val="902000"/>
                </a:solidFill>
                <a:latin typeface="Courier"/>
              </a:rPr>
              <a:t>null</a:t>
            </a:r>
            <a:r>
              <a:rPr>
                <a:solidFill>
                  <a:srgbClr val="666666"/>
                </a:solidFill>
                <a:latin typeface="Courier"/>
              </a:rPr>
              <a:t>,</a:t>
            </a:r>
            <a:br/>
            <a:r>
              <a:rPr>
                <a:latin typeface="Courier"/>
              </a:rPr>
              <a:t>  shieldxBillingStatus</a:t>
            </a:r>
            <a:r>
              <a:rPr>
                <a:solidFill>
                  <a:srgbClr val="666666"/>
                </a:solidFill>
                <a:latin typeface="Courier"/>
              </a:rPr>
              <a:t>:</a:t>
            </a:r>
            <a:r>
              <a:rPr>
                <a:latin typeface="Courier"/>
              </a:rPr>
              <a:t> </a:t>
            </a:r>
            <a:r>
              <a:rPr>
                <a:solidFill>
                  <a:srgbClr val="008000"/>
                </a:solidFill>
                <a:latin typeface="Courier"/>
              </a:rPr>
              <a:t>String</a:t>
            </a:r>
            <a:r>
              <a:rPr>
                <a:solidFill>
                  <a:srgbClr val="666666"/>
                </a:solidFill>
                <a:latin typeface="Courier"/>
              </a:rPr>
              <a:t>,</a:t>
            </a:r>
            <a:br/>
            <a:r>
              <a:rPr>
                <a:latin typeface="Courier"/>
              </a:rPr>
              <a:t>  shieldxSubscriptionId</a:t>
            </a:r>
            <a:r>
              <a:rPr>
                <a:solidFill>
                  <a:srgbClr val="666666"/>
                </a:solidFill>
                <a:latin typeface="Courier"/>
              </a:rPr>
              <a:t>:</a:t>
            </a:r>
            <a:r>
              <a:rPr>
                <a:latin typeface="Courier"/>
              </a:rPr>
              <a:t> </a:t>
            </a:r>
            <a:r>
              <a:rPr>
                <a:solidFill>
                  <a:srgbClr val="008000"/>
                </a:solidFill>
                <a:latin typeface="Courier"/>
              </a:rPr>
              <a:t>String</a:t>
            </a:r>
            <a:r>
              <a:rPr>
                <a:latin typeface="Courier"/>
              </a:rPr>
              <a:t> </a:t>
            </a:r>
            <a:r>
              <a:rPr>
                <a:solidFill>
                  <a:srgbClr val="666666"/>
                </a:solidFill>
                <a:latin typeface="Courier"/>
              </a:rPr>
              <a:t>|</a:t>
            </a:r>
            <a:r>
              <a:rPr>
                <a:latin typeface="Courier"/>
              </a:rPr>
              <a:t> </a:t>
            </a:r>
            <a:r>
              <a:rPr>
                <a:solidFill>
                  <a:srgbClr val="902000"/>
                </a:solidFill>
                <a:latin typeface="Courier"/>
              </a:rPr>
              <a:t>null</a:t>
            </a:r>
            <a:r>
              <a:rPr>
                <a:solidFill>
                  <a:srgbClr val="666666"/>
                </a:solidFill>
                <a:latin typeface="Courier"/>
              </a:rPr>
              <a:t>,</a:t>
            </a:r>
            <a:br/>
            <a:r>
              <a:rPr>
                <a:latin typeface="Courier"/>
              </a:rPr>
              <a:t>  shieldxPlanId</a:t>
            </a:r>
            <a:r>
              <a:rPr>
                <a:solidFill>
                  <a:srgbClr val="666666"/>
                </a:solidFill>
                <a:latin typeface="Courier"/>
              </a:rPr>
              <a:t>:</a:t>
            </a:r>
            <a:r>
              <a:rPr>
                <a:latin typeface="Courier"/>
              </a:rPr>
              <a:t> </a:t>
            </a:r>
            <a:r>
              <a:rPr>
                <a:solidFill>
                  <a:srgbClr val="008000"/>
                </a:solidFill>
                <a:latin typeface="Courier"/>
              </a:rPr>
              <a:t>String</a:t>
            </a:r>
            <a:r>
              <a:rPr>
                <a:latin typeface="Courier"/>
              </a:rPr>
              <a:t> </a:t>
            </a:r>
            <a:r>
              <a:rPr>
                <a:solidFill>
                  <a:srgbClr val="666666"/>
                </a:solidFill>
                <a:latin typeface="Courier"/>
              </a:rPr>
              <a:t>|</a:t>
            </a:r>
            <a:r>
              <a:rPr>
                <a:latin typeface="Courier"/>
              </a:rPr>
              <a:t> </a:t>
            </a:r>
            <a:r>
              <a:rPr>
                <a:solidFill>
                  <a:srgbClr val="902000"/>
                </a:solidFill>
                <a:latin typeface="Courier"/>
              </a:rPr>
              <a:t>null</a:t>
            </a:r>
            <a:r>
              <a:rPr>
                <a:solidFill>
                  <a:srgbClr val="666666"/>
                </a:solidFill>
                <a:latin typeface="Courier"/>
              </a:rPr>
              <a:t>,</a:t>
            </a:r>
            <a:br/>
            <a:r>
              <a:rPr>
                <a:latin typeface="Courier"/>
              </a:rPr>
              <a:t>  shieldxCustomerId</a:t>
            </a:r>
            <a:r>
              <a:rPr>
                <a:solidFill>
                  <a:srgbClr val="666666"/>
                </a:solidFill>
                <a:latin typeface="Courier"/>
              </a:rPr>
              <a:t>:</a:t>
            </a:r>
            <a:r>
              <a:rPr>
                <a:latin typeface="Courier"/>
              </a:rPr>
              <a:t> </a:t>
            </a:r>
            <a:r>
              <a:rPr>
                <a:solidFill>
                  <a:srgbClr val="008000"/>
                </a:solidFill>
                <a:latin typeface="Courier"/>
              </a:rPr>
              <a:t>String</a:t>
            </a:r>
            <a:r>
              <a:rPr>
                <a:latin typeface="Courier"/>
              </a:rPr>
              <a:t> </a:t>
            </a:r>
            <a:r>
              <a:rPr>
                <a:solidFill>
                  <a:srgbClr val="666666"/>
                </a:solidFill>
                <a:latin typeface="Courier"/>
              </a:rPr>
              <a:t>|</a:t>
            </a:r>
            <a:r>
              <a:rPr>
                <a:latin typeface="Courier"/>
              </a:rPr>
              <a:t> </a:t>
            </a:r>
            <a:r>
              <a:rPr>
                <a:solidFill>
                  <a:srgbClr val="902000"/>
                </a:solidFill>
                <a:latin typeface="Courier"/>
              </a:rPr>
              <a:t>null</a:t>
            </a:r>
            <a:r>
              <a:rPr>
                <a:solidFill>
                  <a:srgbClr val="666666"/>
                </a:solidFill>
                <a:latin typeface="Courier"/>
              </a:rPr>
              <a:t>,</a:t>
            </a:r>
            <a:br/>
            <a:r>
              <a:rPr>
                <a:latin typeface="Courier"/>
              </a:rPr>
              <a:t>  shieldxCancelAtPeriodEnd</a:t>
            </a:r>
            <a:r>
              <a:rPr>
                <a:solidFill>
                  <a:srgbClr val="666666"/>
                </a:solidFill>
                <a:latin typeface="Courier"/>
              </a:rPr>
              <a:t>:</a:t>
            </a:r>
            <a:r>
              <a:rPr>
                <a:latin typeface="Courier"/>
              </a:rPr>
              <a:t> </a:t>
            </a:r>
            <a:r>
              <a:rPr>
                <a:solidFill>
                  <a:srgbClr val="008000"/>
                </a:solidFill>
                <a:latin typeface="Courier"/>
              </a:rPr>
              <a:t>Boolean</a:t>
            </a:r>
            <a:r>
              <a:rPr>
                <a:solidFill>
                  <a:srgbClr val="666666"/>
                </a:solidFill>
                <a:latin typeface="Courier"/>
              </a:rPr>
              <a:t>,</a:t>
            </a:r>
            <a:br/>
            <a:r>
              <a:rPr>
                <a:latin typeface="Courier"/>
              </a:rPr>
              <a:t>  </a:t>
            </a:r>
            <a:br/>
            <a:r>
              <a:rPr>
                <a:latin typeface="Courier"/>
              </a:rPr>
              <a:t>  </a:t>
            </a:r>
            <a:r>
              <a:rPr i="1">
                <a:solidFill>
                  <a:srgbClr val="60A0B0"/>
                </a:solidFill>
                <a:latin typeface="Courier"/>
              </a:rPr>
              <a:t>// API Key</a:t>
            </a:r>
            <a:br/>
            <a:r>
              <a:rPr>
                <a:latin typeface="Courier"/>
              </a:rPr>
              <a:t>  shieldxApiKeyHash</a:t>
            </a:r>
            <a:r>
              <a:rPr>
                <a:solidFill>
                  <a:srgbClr val="666666"/>
                </a:solidFill>
                <a:latin typeface="Courier"/>
              </a:rPr>
              <a:t>:</a:t>
            </a:r>
            <a:r>
              <a:rPr>
                <a:latin typeface="Courier"/>
              </a:rPr>
              <a:t> </a:t>
            </a:r>
            <a:r>
              <a:rPr>
                <a:solidFill>
                  <a:srgbClr val="008000"/>
                </a:solidFill>
                <a:latin typeface="Courier"/>
              </a:rPr>
              <a:t>String</a:t>
            </a:r>
            <a:r>
              <a:rPr>
                <a:latin typeface="Courier"/>
              </a:rPr>
              <a:t> </a:t>
            </a:r>
            <a:r>
              <a:rPr>
                <a:solidFill>
                  <a:srgbClr val="666666"/>
                </a:solidFill>
                <a:latin typeface="Courier"/>
              </a:rPr>
              <a:t>|</a:t>
            </a:r>
            <a:r>
              <a:rPr>
                <a:latin typeface="Courier"/>
              </a:rPr>
              <a:t> </a:t>
            </a:r>
            <a:r>
              <a:rPr>
                <a:solidFill>
                  <a:srgbClr val="902000"/>
                </a:solidFill>
                <a:latin typeface="Courier"/>
              </a:rPr>
              <a:t>null</a:t>
            </a:r>
            <a:r>
              <a:rPr>
                <a:solidFill>
                  <a:srgbClr val="666666"/>
                </a:solidFill>
                <a:latin typeface="Courier"/>
              </a:rPr>
              <a:t>,</a:t>
            </a:r>
            <a:br/>
            <a:r>
              <a:rPr>
                <a:latin typeface="Courier"/>
              </a:rPr>
              <a:t>  shieldxApiKeyPrefix</a:t>
            </a:r>
            <a:r>
              <a:rPr>
                <a:solidFill>
                  <a:srgbClr val="666666"/>
                </a:solidFill>
                <a:latin typeface="Courier"/>
              </a:rPr>
              <a:t>:</a:t>
            </a:r>
            <a:r>
              <a:rPr>
                <a:latin typeface="Courier"/>
              </a:rPr>
              <a:t> </a:t>
            </a:r>
            <a:r>
              <a:rPr>
                <a:solidFill>
                  <a:srgbClr val="008000"/>
                </a:solidFill>
                <a:latin typeface="Courier"/>
              </a:rPr>
              <a:t>String</a:t>
            </a:r>
            <a:r>
              <a:rPr>
                <a:latin typeface="Courier"/>
              </a:rPr>
              <a:t> </a:t>
            </a:r>
            <a:r>
              <a:rPr>
                <a:solidFill>
                  <a:srgbClr val="666666"/>
                </a:solidFill>
                <a:latin typeface="Courier"/>
              </a:rPr>
              <a:t>|</a:t>
            </a:r>
            <a:r>
              <a:rPr>
                <a:latin typeface="Courier"/>
              </a:rPr>
              <a:t> </a:t>
            </a:r>
            <a:r>
              <a:rPr>
                <a:solidFill>
                  <a:srgbClr val="902000"/>
                </a:solidFill>
                <a:latin typeface="Courier"/>
              </a:rPr>
              <a:t>null</a:t>
            </a:r>
            <a:r>
              <a:rPr>
                <a:solidFill>
                  <a:srgbClr val="666666"/>
                </a:solidFill>
                <a:latin typeface="Courier"/>
              </a:rPr>
              <a:t>,</a:t>
            </a:r>
            <a:br/>
            <a:r>
              <a:rPr>
                <a:latin typeface="Courier"/>
              </a:rPr>
              <a:t>  </a:t>
            </a:r>
            <a:br/>
            <a:r>
              <a:rPr>
                <a:latin typeface="Courier"/>
              </a:rPr>
              <a:t>  </a:t>
            </a:r>
            <a:r>
              <a:rPr i="1">
                <a:solidFill>
                  <a:srgbClr val="60A0B0"/>
                </a:solidFill>
                <a:latin typeface="Courier"/>
              </a:rPr>
              <a:t>// Team</a:t>
            </a:r>
            <a:br/>
            <a:r>
              <a:rPr>
                <a:latin typeface="Courier"/>
              </a:rPr>
              <a:t>  shieldxTeamId</a:t>
            </a:r>
            <a:r>
              <a:rPr>
                <a:solidFill>
                  <a:srgbClr val="666666"/>
                </a:solidFill>
                <a:latin typeface="Courier"/>
              </a:rPr>
              <a:t>:</a:t>
            </a:r>
            <a:r>
              <a:rPr>
                <a:latin typeface="Courier"/>
              </a:rPr>
              <a:t> ObjectId </a:t>
            </a:r>
            <a:r>
              <a:rPr>
                <a:solidFill>
                  <a:srgbClr val="666666"/>
                </a:solidFill>
                <a:latin typeface="Courier"/>
              </a:rPr>
              <a:t>|</a:t>
            </a:r>
            <a:r>
              <a:rPr>
                <a:latin typeface="Courier"/>
              </a:rPr>
              <a:t> </a:t>
            </a:r>
            <a:r>
              <a:rPr>
                <a:solidFill>
                  <a:srgbClr val="902000"/>
                </a:solidFill>
                <a:latin typeface="Courier"/>
              </a:rPr>
              <a:t>null</a:t>
            </a:r>
            <a:r>
              <a:rPr>
                <a:solidFill>
                  <a:srgbClr val="666666"/>
                </a:solidFill>
                <a:latin typeface="Courier"/>
              </a:rPr>
              <a:t>,</a:t>
            </a:r>
            <a:br/>
            <a:r>
              <a:rPr>
                <a:latin typeface="Courier"/>
              </a:rPr>
              <a:t>  shieldxSeatRole</a:t>
            </a:r>
            <a:r>
              <a:rPr>
                <a:solidFill>
                  <a:srgbClr val="666666"/>
                </a:solidFill>
                <a:latin typeface="Courier"/>
              </a:rPr>
              <a:t>:</a:t>
            </a:r>
            <a:r>
              <a:rPr>
                <a:latin typeface="Courier"/>
              </a:rPr>
              <a:t> </a:t>
            </a:r>
            <a:r>
              <a:rPr>
                <a:solidFill>
                  <a:srgbClr val="4070A0"/>
                </a:solidFill>
                <a:latin typeface="Courier"/>
              </a:rPr>
              <a:t>"owner"</a:t>
            </a:r>
            <a:r>
              <a:rPr>
                <a:latin typeface="Courier"/>
              </a:rPr>
              <a:t> </a:t>
            </a:r>
            <a:r>
              <a:rPr>
                <a:solidFill>
                  <a:srgbClr val="666666"/>
                </a:solidFill>
                <a:latin typeface="Courier"/>
              </a:rPr>
              <a:t>|</a:t>
            </a:r>
            <a:r>
              <a:rPr>
                <a:latin typeface="Courier"/>
              </a:rPr>
              <a:t> </a:t>
            </a:r>
            <a:r>
              <a:rPr>
                <a:solidFill>
                  <a:srgbClr val="4070A0"/>
                </a:solidFill>
                <a:latin typeface="Courier"/>
              </a:rPr>
              <a:t>"admin"</a:t>
            </a:r>
            <a:r>
              <a:rPr>
                <a:latin typeface="Courier"/>
              </a:rPr>
              <a:t> </a:t>
            </a:r>
            <a:r>
              <a:rPr>
                <a:solidFill>
                  <a:srgbClr val="666666"/>
                </a:solidFill>
                <a:latin typeface="Courier"/>
              </a:rPr>
              <a:t>|</a:t>
            </a:r>
            <a:r>
              <a:rPr>
                <a:latin typeface="Courier"/>
              </a:rPr>
              <a:t> </a:t>
            </a:r>
            <a:r>
              <a:rPr>
                <a:solidFill>
                  <a:srgbClr val="4070A0"/>
                </a:solidFill>
                <a:latin typeface="Courier"/>
              </a:rPr>
              <a:t>"member"</a:t>
            </a:r>
            <a:r>
              <a:rPr>
                <a:latin typeface="Courier"/>
              </a:rPr>
              <a:t> </a:t>
            </a:r>
            <a:r>
              <a:rPr>
                <a:solidFill>
                  <a:srgbClr val="666666"/>
                </a:solidFill>
                <a:latin typeface="Courier"/>
              </a:rPr>
              <a:t>|</a:t>
            </a:r>
            <a:r>
              <a:rPr>
                <a:latin typeface="Courier"/>
              </a:rPr>
              <a:t> </a:t>
            </a:r>
            <a:r>
              <a:rPr>
                <a:solidFill>
                  <a:srgbClr val="4070A0"/>
                </a:solidFill>
                <a:latin typeface="Courier"/>
              </a:rPr>
              <a:t>"viewer"</a:t>
            </a:r>
            <a:r>
              <a:rPr>
                <a:latin typeface="Courier"/>
              </a:rPr>
              <a:t> </a:t>
            </a:r>
            <a:r>
              <a:rPr>
                <a:solidFill>
                  <a:srgbClr val="666666"/>
                </a:solidFill>
                <a:latin typeface="Courier"/>
              </a:rPr>
              <a:t>|</a:t>
            </a:r>
            <a:r>
              <a:rPr>
                <a:latin typeface="Courier"/>
              </a:rPr>
              <a:t> </a:t>
            </a:r>
            <a:r>
              <a:rPr>
                <a:solidFill>
                  <a:srgbClr val="902000"/>
                </a:solidFill>
                <a:latin typeface="Courier"/>
              </a:rPr>
              <a:t>null</a:t>
            </a:r>
            <a:r>
              <a:rPr>
                <a:solidFill>
                  <a:srgbClr val="666666"/>
                </a:solidFill>
                <a:latin typeface="Courier"/>
              </a:rPr>
              <a:t>,</a:t>
            </a:r>
            <a:br/>
            <a:r>
              <a:rPr>
                <a:latin typeface="Courier"/>
              </a:rPr>
              <a:t>  </a:t>
            </a:r>
            <a:br/>
            <a:r>
              <a:rPr>
                <a:latin typeface="Courier"/>
              </a:rPr>
              <a:t>  </a:t>
            </a:r>
            <a:r>
              <a:rPr i="1">
                <a:solidFill>
                  <a:srgbClr val="60A0B0"/>
                </a:solidFill>
                <a:latin typeface="Courier"/>
              </a:rPr>
              <a:t>// Auth</a:t>
            </a:r>
            <a:br/>
            <a:r>
              <a:rPr>
                <a:latin typeface="Courier"/>
              </a:rPr>
              <a:t>  passwordResetRequired</a:t>
            </a:r>
            <a:r>
              <a:rPr>
                <a:solidFill>
                  <a:srgbClr val="666666"/>
                </a:solidFill>
                <a:latin typeface="Courier"/>
              </a:rPr>
              <a:t>:</a:t>
            </a:r>
            <a:r>
              <a:rPr>
                <a:latin typeface="Courier"/>
              </a:rPr>
              <a:t> </a:t>
            </a:r>
            <a:r>
              <a:rPr>
                <a:solidFill>
                  <a:srgbClr val="008000"/>
                </a:solidFill>
                <a:latin typeface="Courier"/>
              </a:rPr>
              <a:t>Boolean</a:t>
            </a:r>
            <a:r>
              <a:rPr>
                <a:solidFill>
                  <a:srgbClr val="666666"/>
                </a:solidFill>
                <a:latin typeface="Courier"/>
              </a:rPr>
              <a:t>,</a:t>
            </a:r>
            <a:br/>
            <a:r>
              <a:rPr>
                <a:latin typeface="Courier"/>
              </a:rPr>
              <a:t>  passwordResetToken</a:t>
            </a:r>
            <a:r>
              <a:rPr>
                <a:solidFill>
                  <a:srgbClr val="666666"/>
                </a:solidFill>
                <a:latin typeface="Courier"/>
              </a:rPr>
              <a:t>:</a:t>
            </a:r>
            <a:r>
              <a:rPr>
                <a:latin typeface="Courier"/>
              </a:rPr>
              <a:t> </a:t>
            </a:r>
            <a:r>
              <a:rPr>
                <a:solidFill>
                  <a:srgbClr val="008000"/>
                </a:solidFill>
                <a:latin typeface="Courier"/>
              </a:rPr>
              <a:t>String</a:t>
            </a:r>
            <a:r>
              <a:rPr>
                <a:latin typeface="Courier"/>
              </a:rPr>
              <a:t> </a:t>
            </a:r>
            <a:r>
              <a:rPr>
                <a:solidFill>
                  <a:srgbClr val="666666"/>
                </a:solidFill>
                <a:latin typeface="Courier"/>
              </a:rPr>
              <a:t>|</a:t>
            </a:r>
            <a:r>
              <a:rPr>
                <a:latin typeface="Courier"/>
              </a:rPr>
              <a:t> </a:t>
            </a:r>
            <a:r>
              <a:rPr>
                <a:solidFill>
                  <a:srgbClr val="902000"/>
                </a:solidFill>
                <a:latin typeface="Courier"/>
              </a:rPr>
              <a:t>null</a:t>
            </a:r>
            <a:r>
              <a:rPr>
                <a:solidFill>
                  <a:srgbClr val="666666"/>
                </a:solidFill>
                <a:latin typeface="Courier"/>
              </a:rPr>
              <a:t>,</a:t>
            </a:r>
            <a:br/>
            <a:r>
              <a:rPr>
                <a:latin typeface="Courier"/>
              </a:rPr>
              <a:t>  passwordResetExpiry</a:t>
            </a:r>
            <a:r>
              <a:rPr>
                <a:solidFill>
                  <a:srgbClr val="666666"/>
                </a:solidFill>
                <a:latin typeface="Courier"/>
              </a:rPr>
              <a:t>:</a:t>
            </a:r>
            <a:r>
              <a:rPr>
                <a:latin typeface="Courier"/>
              </a:rPr>
              <a:t> </a:t>
            </a:r>
            <a:r>
              <a:rPr>
                <a:solidFill>
                  <a:srgbClr val="008000"/>
                </a:solidFill>
                <a:latin typeface="Courier"/>
              </a:rPr>
              <a:t>Date</a:t>
            </a:r>
            <a:r>
              <a:rPr>
                <a:latin typeface="Courier"/>
              </a:rPr>
              <a:t> </a:t>
            </a:r>
            <a:r>
              <a:rPr>
                <a:solidFill>
                  <a:srgbClr val="666666"/>
                </a:solidFill>
                <a:latin typeface="Courier"/>
              </a:rPr>
              <a:t>|</a:t>
            </a:r>
            <a:r>
              <a:rPr>
                <a:latin typeface="Courier"/>
              </a:rPr>
              <a:t> </a:t>
            </a:r>
            <a:r>
              <a:rPr>
                <a:solidFill>
                  <a:srgbClr val="902000"/>
                </a:solidFill>
                <a:latin typeface="Courier"/>
              </a:rPr>
              <a:t>null</a:t>
            </a:r>
            <a:r>
              <a:rPr>
                <a:solidFill>
                  <a:srgbClr val="666666"/>
                </a:solidFill>
                <a:latin typeface="Courier"/>
              </a:rPr>
              <a:t>,</a:t>
            </a:r>
            <a:br/>
            <a:r>
              <a:rPr>
                <a:latin typeface="Courier"/>
              </a:rPr>
              <a:t>  </a:t>
            </a:r>
            <a:br/>
            <a:r>
              <a:rPr>
                <a:latin typeface="Courier"/>
              </a:rPr>
              <a:t>  timestamps</a:t>
            </a:r>
            <a:r>
              <a:rPr>
                <a:solidFill>
                  <a:srgbClr val="666666"/>
                </a:solidFill>
                <a:latin typeface="Courier"/>
              </a:rPr>
              <a:t>:</a:t>
            </a:r>
            <a:r>
              <a:rPr>
                <a:latin typeface="Courier"/>
              </a:rPr>
              <a:t> </a:t>
            </a:r>
            <a:r>
              <a:rPr b="1">
                <a:solidFill>
                  <a:srgbClr val="007020"/>
                </a:solidFill>
                <a:latin typeface="Courier"/>
              </a:rPr>
              <a:t>true</a:t>
            </a:r>
            <a:r>
              <a:rPr>
                <a:latin typeface="Courier"/>
              </a:rPr>
              <a:t>  </a:t>
            </a:r>
            <a:r>
              <a:rPr i="1">
                <a:solidFill>
                  <a:srgbClr val="60A0B0"/>
                </a:solidFill>
                <a:latin typeface="Courier"/>
              </a:rPr>
              <a:t>// createdAt, updatedAt</a:t>
            </a:r>
            <a:br/>
            <a:r>
              <a:rPr>
                <a:latin typeface="Courier"/>
              </a:rPr>
              <a:t>}</a:t>
            </a:r>
          </a:p>
          <a:p>
            <a:pPr lvl="0" indent="0" marL="0">
              <a:spcBef>
                <a:spcPts val="3000"/>
              </a:spcBef>
              <a:buNone/>
            </a:pPr>
            <a:r>
              <a:rPr b="1"/>
              <a:t>ShieldXScan Collection (History)</a:t>
            </a:r>
          </a:p>
          <a:p>
            <a:pPr lvl="0" indent="0">
              <a:buNone/>
            </a:pPr>
            <a:r>
              <a:rPr>
                <a:latin typeface="Courier"/>
              </a:rPr>
              <a:t>{</a:t>
            </a:r>
            <a:br/>
            <a:r>
              <a:rPr>
                <a:latin typeface="Courier"/>
              </a:rPr>
              <a:t>  userId</a:t>
            </a:r>
            <a:r>
              <a:rPr>
                <a:solidFill>
                  <a:srgbClr val="666666"/>
                </a:solidFill>
                <a:latin typeface="Courier"/>
              </a:rPr>
              <a:t>:</a:t>
            </a:r>
            <a:r>
              <a:rPr>
                <a:latin typeface="Courier"/>
              </a:rPr>
              <a:t> ObjectId</a:t>
            </a:r>
            <a:r>
              <a:rPr>
                <a:solidFill>
                  <a:srgbClr val="666666"/>
                </a:solidFill>
                <a:latin typeface="Courier"/>
              </a:rPr>
              <a:t>,</a:t>
            </a:r>
            <a:br/>
            <a:r>
              <a:rPr>
                <a:latin typeface="Courier"/>
              </a:rPr>
              <a:t>  scanType</a:t>
            </a:r>
            <a:r>
              <a:rPr>
                <a:solidFill>
                  <a:srgbClr val="666666"/>
                </a:solidFill>
                <a:latin typeface="Courier"/>
              </a:rPr>
              <a:t>:</a:t>
            </a:r>
            <a:r>
              <a:rPr>
                <a:latin typeface="Courier"/>
              </a:rPr>
              <a:t> </a:t>
            </a:r>
            <a:r>
              <a:rPr>
                <a:solidFill>
                  <a:srgbClr val="008000"/>
                </a:solidFill>
                <a:latin typeface="Courier"/>
              </a:rPr>
              <a:t>String</a:t>
            </a:r>
            <a:r>
              <a:rPr>
                <a:solidFill>
                  <a:srgbClr val="666666"/>
                </a:solidFill>
                <a:latin typeface="Courier"/>
              </a:rPr>
              <a:t>,</a:t>
            </a:r>
            <a:r>
              <a:rPr>
                <a:latin typeface="Courier"/>
              </a:rPr>
              <a:t>           </a:t>
            </a:r>
            <a:r>
              <a:rPr i="1">
                <a:solidFill>
                  <a:srgbClr val="60A0B0"/>
                </a:solidFill>
                <a:latin typeface="Courier"/>
              </a:rPr>
              <a:t>// "secrets", "deps", "api", "cloud", "ci"</a:t>
            </a:r>
            <a:br/>
            <a:r>
              <a:rPr>
                <a:latin typeface="Courier"/>
              </a:rPr>
              <a:t>  title</a:t>
            </a:r>
            <a:r>
              <a:rPr>
                <a:solidFill>
                  <a:srgbClr val="666666"/>
                </a:solidFill>
                <a:latin typeface="Courier"/>
              </a:rPr>
              <a:t>:</a:t>
            </a:r>
            <a:r>
              <a:rPr>
                <a:latin typeface="Courier"/>
              </a:rPr>
              <a:t> </a:t>
            </a:r>
            <a:r>
              <a:rPr>
                <a:solidFill>
                  <a:srgbClr val="008000"/>
                </a:solidFill>
                <a:latin typeface="Courier"/>
              </a:rPr>
              <a:t>String</a:t>
            </a:r>
            <a:r>
              <a:rPr>
                <a:solidFill>
                  <a:srgbClr val="666666"/>
                </a:solidFill>
                <a:latin typeface="Courier"/>
              </a:rPr>
              <a:t>,</a:t>
            </a:r>
            <a:r>
              <a:rPr>
                <a:latin typeface="Courier"/>
              </a:rPr>
              <a:t>              </a:t>
            </a:r>
            <a:r>
              <a:rPr i="1">
                <a:solidFill>
                  <a:srgbClr val="60A0B0"/>
                </a:solidFill>
                <a:latin typeface="Courier"/>
              </a:rPr>
              <a:t>// Scan description</a:t>
            </a:r>
            <a:br/>
            <a:r>
              <a:rPr>
                <a:latin typeface="Courier"/>
              </a:rPr>
              <a:t>  overallScore</a:t>
            </a:r>
            <a:r>
              <a:rPr>
                <a:solidFill>
                  <a:srgbClr val="666666"/>
                </a:solidFill>
                <a:latin typeface="Courier"/>
              </a:rPr>
              <a:t>:</a:t>
            </a:r>
            <a:r>
              <a:rPr>
                <a:latin typeface="Courier"/>
              </a:rPr>
              <a:t> </a:t>
            </a:r>
            <a:r>
              <a:rPr>
                <a:solidFill>
                  <a:srgbClr val="008000"/>
                </a:solidFill>
                <a:latin typeface="Courier"/>
              </a:rPr>
              <a:t>Number</a:t>
            </a:r>
            <a:r>
              <a:rPr>
                <a:solidFill>
                  <a:srgbClr val="666666"/>
                </a:solidFill>
                <a:latin typeface="Courier"/>
              </a:rPr>
              <a:t>,</a:t>
            </a:r>
            <a:r>
              <a:rPr>
                <a:latin typeface="Courier"/>
              </a:rPr>
              <a:t>       </a:t>
            </a:r>
            <a:r>
              <a:rPr i="1">
                <a:solidFill>
                  <a:srgbClr val="60A0B0"/>
                </a:solidFill>
                <a:latin typeface="Courier"/>
              </a:rPr>
              <a:t>// 0-10</a:t>
            </a:r>
            <a:br/>
            <a:r>
              <a:rPr>
                <a:latin typeface="Courier"/>
              </a:rPr>
              <a:t>  counts</a:t>
            </a:r>
            <a:r>
              <a:rPr>
                <a:solidFill>
                  <a:srgbClr val="666666"/>
                </a:solidFill>
                <a:latin typeface="Courier"/>
              </a:rPr>
              <a:t>:</a:t>
            </a:r>
            <a:r>
              <a:rPr>
                <a:latin typeface="Courier"/>
              </a:rPr>
              <a:t> {</a:t>
            </a:r>
            <a:br/>
            <a:r>
              <a:rPr>
                <a:latin typeface="Courier"/>
              </a:rPr>
              <a:t>    critical</a:t>
            </a:r>
            <a:r>
              <a:rPr>
                <a:solidFill>
                  <a:srgbClr val="666666"/>
                </a:solidFill>
                <a:latin typeface="Courier"/>
              </a:rPr>
              <a:t>:</a:t>
            </a:r>
            <a:r>
              <a:rPr>
                <a:latin typeface="Courier"/>
              </a:rPr>
              <a:t> </a:t>
            </a:r>
            <a:r>
              <a:rPr>
                <a:solidFill>
                  <a:srgbClr val="008000"/>
                </a:solidFill>
                <a:latin typeface="Courier"/>
              </a:rPr>
              <a:t>Number</a:t>
            </a:r>
            <a:r>
              <a:rPr>
                <a:solidFill>
                  <a:srgbClr val="666666"/>
                </a:solidFill>
                <a:latin typeface="Courier"/>
              </a:rPr>
              <a:t>,</a:t>
            </a:r>
            <a:br/>
            <a:r>
              <a:rPr>
                <a:latin typeface="Courier"/>
              </a:rPr>
              <a:t>    high</a:t>
            </a:r>
            <a:r>
              <a:rPr>
                <a:solidFill>
                  <a:srgbClr val="666666"/>
                </a:solidFill>
                <a:latin typeface="Courier"/>
              </a:rPr>
              <a:t>:</a:t>
            </a:r>
            <a:r>
              <a:rPr>
                <a:latin typeface="Courier"/>
              </a:rPr>
              <a:t> </a:t>
            </a:r>
            <a:r>
              <a:rPr>
                <a:solidFill>
                  <a:srgbClr val="008000"/>
                </a:solidFill>
                <a:latin typeface="Courier"/>
              </a:rPr>
              <a:t>Number</a:t>
            </a:r>
            <a:r>
              <a:rPr>
                <a:solidFill>
                  <a:srgbClr val="666666"/>
                </a:solidFill>
                <a:latin typeface="Courier"/>
              </a:rPr>
              <a:t>,</a:t>
            </a:r>
            <a:br/>
            <a:r>
              <a:rPr>
                <a:latin typeface="Courier"/>
              </a:rPr>
              <a:t>    medium</a:t>
            </a:r>
            <a:r>
              <a:rPr>
                <a:solidFill>
                  <a:srgbClr val="666666"/>
                </a:solidFill>
                <a:latin typeface="Courier"/>
              </a:rPr>
              <a:t>:</a:t>
            </a:r>
            <a:r>
              <a:rPr>
                <a:latin typeface="Courier"/>
              </a:rPr>
              <a:t> </a:t>
            </a:r>
            <a:r>
              <a:rPr>
                <a:solidFill>
                  <a:srgbClr val="008000"/>
                </a:solidFill>
                <a:latin typeface="Courier"/>
              </a:rPr>
              <a:t>Number</a:t>
            </a:r>
            <a:r>
              <a:rPr>
                <a:solidFill>
                  <a:srgbClr val="666666"/>
                </a:solidFill>
                <a:latin typeface="Courier"/>
              </a:rPr>
              <a:t>,</a:t>
            </a:r>
            <a:br/>
            <a:r>
              <a:rPr>
                <a:latin typeface="Courier"/>
              </a:rPr>
              <a:t>    low</a:t>
            </a:r>
            <a:r>
              <a:rPr>
                <a:solidFill>
                  <a:srgbClr val="666666"/>
                </a:solidFill>
                <a:latin typeface="Courier"/>
              </a:rPr>
              <a:t>:</a:t>
            </a:r>
            <a:r>
              <a:rPr>
                <a:latin typeface="Courier"/>
              </a:rPr>
              <a:t> </a:t>
            </a:r>
            <a:r>
              <a:rPr>
                <a:solidFill>
                  <a:srgbClr val="008000"/>
                </a:solidFill>
                <a:latin typeface="Courier"/>
              </a:rPr>
              <a:t>Number</a:t>
            </a:r>
            <a:r>
              <a:rPr>
                <a:solidFill>
                  <a:srgbClr val="666666"/>
                </a:solidFill>
                <a:latin typeface="Courier"/>
              </a:rPr>
              <a:t>,</a:t>
            </a:r>
            <a:br/>
            <a:r>
              <a:rPr>
                <a:latin typeface="Courier"/>
              </a:rPr>
              <a:t>    findingsTotal</a:t>
            </a:r>
            <a:r>
              <a:rPr>
                <a:solidFill>
                  <a:srgbClr val="666666"/>
                </a:solidFill>
                <a:latin typeface="Courier"/>
              </a:rPr>
              <a:t>:</a:t>
            </a:r>
            <a:r>
              <a:rPr>
                <a:latin typeface="Courier"/>
              </a:rPr>
              <a:t> </a:t>
            </a:r>
            <a:r>
              <a:rPr>
                <a:solidFill>
                  <a:srgbClr val="008000"/>
                </a:solidFill>
                <a:latin typeface="Courier"/>
              </a:rPr>
              <a:t>Number</a:t>
            </a:r>
            <a:br/>
            <a:r>
              <a:rPr>
                <a:latin typeface="Courier"/>
              </a:rPr>
              <a:t>  }</a:t>
            </a:r>
            <a:r>
              <a:rPr>
                <a:solidFill>
                  <a:srgbClr val="666666"/>
                </a:solidFill>
                <a:latin typeface="Courier"/>
              </a:rPr>
              <a:t>,</a:t>
            </a:r>
            <a:br/>
            <a:r>
              <a:rPr>
                <a:latin typeface="Courier"/>
              </a:rPr>
              <a:t>  status</a:t>
            </a:r>
            <a:r>
              <a:rPr>
                <a:solidFill>
                  <a:srgbClr val="666666"/>
                </a:solidFill>
                <a:latin typeface="Courier"/>
              </a:rPr>
              <a:t>:</a:t>
            </a:r>
            <a:r>
              <a:rPr>
                <a:latin typeface="Courier"/>
              </a:rPr>
              <a:t> </a:t>
            </a:r>
            <a:r>
              <a:rPr>
                <a:solidFill>
                  <a:srgbClr val="008000"/>
                </a:solidFill>
                <a:latin typeface="Courier"/>
              </a:rPr>
              <a:t>String</a:t>
            </a:r>
            <a:r>
              <a:rPr>
                <a:solidFill>
                  <a:srgbClr val="666666"/>
                </a:solidFill>
                <a:latin typeface="Courier"/>
              </a:rPr>
              <a:t>,</a:t>
            </a:r>
            <a:r>
              <a:rPr>
                <a:latin typeface="Courier"/>
              </a:rPr>
              <a:t>             </a:t>
            </a:r>
            <a:r>
              <a:rPr i="1">
                <a:solidFill>
                  <a:srgbClr val="60A0B0"/>
                </a:solidFill>
                <a:latin typeface="Courier"/>
              </a:rPr>
              <a:t>// "completed", "failed"</a:t>
            </a:r>
            <a:br/>
            <a:r>
              <a:rPr>
                <a:latin typeface="Courier"/>
              </a:rPr>
              <a:t>  </a:t>
            </a:r>
            <a:br/>
            <a:r>
              <a:rPr>
                <a:latin typeface="Courier"/>
              </a:rPr>
              <a:t>  </a:t>
            </a:r>
            <a:r>
              <a:rPr i="1">
                <a:solidFill>
                  <a:srgbClr val="60A0B0"/>
                </a:solidFill>
                <a:latin typeface="Courier"/>
              </a:rPr>
              <a:t>// Input metadata (NOT the code itself)</a:t>
            </a:r>
            <a:br/>
            <a:r>
              <a:rPr>
                <a:latin typeface="Courier"/>
              </a:rPr>
              <a:t>  inputType</a:t>
            </a:r>
            <a:r>
              <a:rPr>
                <a:solidFill>
                  <a:srgbClr val="666666"/>
                </a:solidFill>
                <a:latin typeface="Courier"/>
              </a:rPr>
              <a:t>:</a:t>
            </a:r>
            <a:r>
              <a:rPr>
                <a:latin typeface="Courier"/>
              </a:rPr>
              <a:t> </a:t>
            </a:r>
            <a:r>
              <a:rPr>
                <a:solidFill>
                  <a:srgbClr val="008000"/>
                </a:solidFill>
                <a:latin typeface="Courier"/>
              </a:rPr>
              <a:t>String</a:t>
            </a:r>
            <a:r>
              <a:rPr>
                <a:solidFill>
                  <a:srgbClr val="666666"/>
                </a:solidFill>
                <a:latin typeface="Courier"/>
              </a:rPr>
              <a:t>,</a:t>
            </a:r>
            <a:r>
              <a:rPr>
                <a:latin typeface="Courier"/>
              </a:rPr>
              <a:t>          </a:t>
            </a:r>
            <a:r>
              <a:rPr i="1">
                <a:solidFill>
                  <a:srgbClr val="60A0B0"/>
                </a:solidFill>
                <a:latin typeface="Courier"/>
              </a:rPr>
              <a:t>// "code", "url", "config"</a:t>
            </a:r>
            <a:br/>
            <a:r>
              <a:rPr>
                <a:latin typeface="Courier"/>
              </a:rPr>
              <a:t>  inputSize</a:t>
            </a:r>
            <a:r>
              <a:rPr>
                <a:solidFill>
                  <a:srgbClr val="666666"/>
                </a:solidFill>
                <a:latin typeface="Courier"/>
              </a:rPr>
              <a:t>:</a:t>
            </a:r>
            <a:r>
              <a:rPr>
                <a:latin typeface="Courier"/>
              </a:rPr>
              <a:t> </a:t>
            </a:r>
            <a:r>
              <a:rPr>
                <a:solidFill>
                  <a:srgbClr val="008000"/>
                </a:solidFill>
                <a:latin typeface="Courier"/>
              </a:rPr>
              <a:t>Number</a:t>
            </a:r>
            <a:r>
              <a:rPr>
                <a:solidFill>
                  <a:srgbClr val="666666"/>
                </a:solidFill>
                <a:latin typeface="Courier"/>
              </a:rPr>
              <a:t>,</a:t>
            </a:r>
            <a:r>
              <a:rPr>
                <a:latin typeface="Courier"/>
              </a:rPr>
              <a:t>          </a:t>
            </a:r>
            <a:r>
              <a:rPr i="1">
                <a:solidFill>
                  <a:srgbClr val="60A0B0"/>
                </a:solidFill>
                <a:latin typeface="Courier"/>
              </a:rPr>
              <a:t>// Character count</a:t>
            </a:r>
            <a:br/>
            <a:r>
              <a:rPr>
                <a:latin typeface="Courier"/>
              </a:rPr>
              <a:t>  </a:t>
            </a:r>
            <a:br/>
            <a:r>
              <a:rPr>
                <a:latin typeface="Courier"/>
              </a:rPr>
              <a:t>  timestamps</a:t>
            </a:r>
            <a:r>
              <a:rPr>
                <a:solidFill>
                  <a:srgbClr val="666666"/>
                </a:solidFill>
                <a:latin typeface="Courier"/>
              </a:rPr>
              <a:t>:</a:t>
            </a:r>
            <a:r>
              <a:rPr>
                <a:latin typeface="Courier"/>
              </a:rPr>
              <a:t> </a:t>
            </a:r>
            <a:r>
              <a:rPr b="1">
                <a:solidFill>
                  <a:srgbClr val="007020"/>
                </a:solidFill>
                <a:latin typeface="Courier"/>
              </a:rPr>
              <a:t>true</a:t>
            </a:r>
            <a:br/>
            <a:r>
              <a:rPr>
                <a:latin typeface="Courier"/>
              </a:rPr>
              <a:t>}</a:t>
            </a:r>
          </a:p>
          <a:p>
            <a:pPr lvl="0" indent="0" marL="0">
              <a:spcBef>
                <a:spcPts val="3000"/>
              </a:spcBef>
              <a:buNone/>
            </a:pPr>
            <a:r>
              <a:rPr b="1"/>
              <a:t>ShieldXTeam Collection</a:t>
            </a:r>
          </a:p>
          <a:p>
            <a:pPr lvl="0" indent="0">
              <a:buNone/>
            </a:pPr>
            <a:r>
              <a:rPr>
                <a:latin typeface="Courier"/>
              </a:rPr>
              <a:t>{</a:t>
            </a:r>
            <a:br/>
            <a:r>
              <a:rPr>
                <a:latin typeface="Courier"/>
              </a:rPr>
              <a:t>  name</a:t>
            </a:r>
            <a:r>
              <a:rPr>
                <a:solidFill>
                  <a:srgbClr val="666666"/>
                </a:solidFill>
                <a:latin typeface="Courier"/>
              </a:rPr>
              <a:t>:</a:t>
            </a:r>
            <a:r>
              <a:rPr>
                <a:latin typeface="Courier"/>
              </a:rPr>
              <a:t> </a:t>
            </a:r>
            <a:r>
              <a:rPr>
                <a:solidFill>
                  <a:srgbClr val="008000"/>
                </a:solidFill>
                <a:latin typeface="Courier"/>
              </a:rPr>
              <a:t>String</a:t>
            </a:r>
            <a:r>
              <a:rPr>
                <a:solidFill>
                  <a:srgbClr val="666666"/>
                </a:solidFill>
                <a:latin typeface="Courier"/>
              </a:rPr>
              <a:t>,</a:t>
            </a:r>
            <a:r>
              <a:rPr>
                <a:latin typeface="Courier"/>
              </a:rPr>
              <a:t>               </a:t>
            </a:r>
            <a:r>
              <a:rPr i="1">
                <a:solidFill>
                  <a:srgbClr val="60A0B0"/>
                </a:solidFill>
                <a:latin typeface="Courier"/>
              </a:rPr>
              <a:t>// Workspace name</a:t>
            </a:r>
            <a:br/>
            <a:r>
              <a:rPr>
                <a:latin typeface="Courier"/>
              </a:rPr>
              <a:t>  ownerId</a:t>
            </a:r>
            <a:r>
              <a:rPr>
                <a:solidFill>
                  <a:srgbClr val="666666"/>
                </a:solidFill>
                <a:latin typeface="Courier"/>
              </a:rPr>
              <a:t>:</a:t>
            </a:r>
            <a:r>
              <a:rPr>
                <a:latin typeface="Courier"/>
              </a:rPr>
              <a:t> ObjectId</a:t>
            </a:r>
            <a:r>
              <a:rPr>
                <a:solidFill>
                  <a:srgbClr val="666666"/>
                </a:solidFill>
                <a:latin typeface="Courier"/>
              </a:rPr>
              <a:t>,</a:t>
            </a:r>
            <a:r>
              <a:rPr>
                <a:latin typeface="Courier"/>
              </a:rPr>
              <a:t>          </a:t>
            </a:r>
            <a:r>
              <a:rPr i="1">
                <a:solidFill>
                  <a:srgbClr val="60A0B0"/>
                </a:solidFill>
                <a:latin typeface="Courier"/>
              </a:rPr>
              <a:t>// Enterprise account owner</a:t>
            </a:r>
            <a:br/>
            <a:r>
              <a:rPr>
                <a:latin typeface="Courier"/>
              </a:rPr>
              <a:t>  ownerName</a:t>
            </a:r>
            <a:r>
              <a:rPr>
                <a:solidFill>
                  <a:srgbClr val="666666"/>
                </a:solidFill>
                <a:latin typeface="Courier"/>
              </a:rPr>
              <a:t>:</a:t>
            </a:r>
            <a:r>
              <a:rPr>
                <a:latin typeface="Courier"/>
              </a:rPr>
              <a:t> </a:t>
            </a:r>
            <a:r>
              <a:rPr>
                <a:solidFill>
                  <a:srgbClr val="008000"/>
                </a:solidFill>
                <a:latin typeface="Courier"/>
              </a:rPr>
              <a:t>String</a:t>
            </a:r>
            <a:r>
              <a:rPr>
                <a:solidFill>
                  <a:srgbClr val="666666"/>
                </a:solidFill>
                <a:latin typeface="Courier"/>
              </a:rPr>
              <a:t>,</a:t>
            </a:r>
            <a:br/>
            <a:r>
              <a:rPr>
                <a:latin typeface="Courier"/>
              </a:rPr>
              <a:t>  companyName</a:t>
            </a:r>
            <a:r>
              <a:rPr>
                <a:solidFill>
                  <a:srgbClr val="666666"/>
                </a:solidFill>
                <a:latin typeface="Courier"/>
              </a:rPr>
              <a:t>:</a:t>
            </a:r>
            <a:r>
              <a:rPr>
                <a:latin typeface="Courier"/>
              </a:rPr>
              <a:t> </a:t>
            </a:r>
            <a:r>
              <a:rPr>
                <a:solidFill>
                  <a:srgbClr val="008000"/>
                </a:solidFill>
                <a:latin typeface="Courier"/>
              </a:rPr>
              <a:t>String</a:t>
            </a:r>
            <a:r>
              <a:rPr>
                <a:solidFill>
                  <a:srgbClr val="666666"/>
                </a:solidFill>
                <a:latin typeface="Courier"/>
              </a:rPr>
              <a:t>,</a:t>
            </a:r>
            <a:br/>
            <a:r>
              <a:rPr>
                <a:latin typeface="Courier"/>
              </a:rPr>
              <a:t>  maxSeats</a:t>
            </a:r>
            <a:r>
              <a:rPr>
                <a:solidFill>
                  <a:srgbClr val="666666"/>
                </a:solidFill>
                <a:latin typeface="Courier"/>
              </a:rPr>
              <a:t>:</a:t>
            </a:r>
            <a:r>
              <a:rPr>
                <a:latin typeface="Courier"/>
              </a:rPr>
              <a:t> </a:t>
            </a:r>
            <a:r>
              <a:rPr>
                <a:solidFill>
                  <a:srgbClr val="008000"/>
                </a:solidFill>
                <a:latin typeface="Courier"/>
              </a:rPr>
              <a:t>Number</a:t>
            </a:r>
            <a:r>
              <a:rPr>
                <a:solidFill>
                  <a:srgbClr val="666666"/>
                </a:solidFill>
                <a:latin typeface="Courier"/>
              </a:rPr>
              <a:t>,</a:t>
            </a:r>
            <a:r>
              <a:rPr>
                <a:latin typeface="Courier"/>
              </a:rPr>
              <a:t>           </a:t>
            </a:r>
            <a:r>
              <a:rPr i="1">
                <a:solidFill>
                  <a:srgbClr val="60A0B0"/>
                </a:solidFill>
                <a:latin typeface="Courier"/>
              </a:rPr>
              <a:t>// 25 default</a:t>
            </a:r>
            <a:br/>
            <a:r>
              <a:rPr>
                <a:latin typeface="Courier"/>
              </a:rPr>
              <a:t>  members</a:t>
            </a:r>
            <a:r>
              <a:rPr>
                <a:solidFill>
                  <a:srgbClr val="666666"/>
                </a:solidFill>
                <a:latin typeface="Courier"/>
              </a:rPr>
              <a:t>:</a:t>
            </a:r>
            <a:r>
              <a:rPr>
                <a:latin typeface="Courier"/>
              </a:rPr>
              <a:t> [{</a:t>
            </a:r>
            <a:br/>
            <a:r>
              <a:rPr>
                <a:latin typeface="Courier"/>
              </a:rPr>
              <a:t>    userId</a:t>
            </a:r>
            <a:r>
              <a:rPr>
                <a:solidFill>
                  <a:srgbClr val="666666"/>
                </a:solidFill>
                <a:latin typeface="Courier"/>
              </a:rPr>
              <a:t>:</a:t>
            </a:r>
            <a:r>
              <a:rPr>
                <a:latin typeface="Courier"/>
              </a:rPr>
              <a:t> ObjectId</a:t>
            </a:r>
            <a:r>
              <a:rPr>
                <a:solidFill>
                  <a:srgbClr val="666666"/>
                </a:solidFill>
                <a:latin typeface="Courier"/>
              </a:rPr>
              <a:t>,</a:t>
            </a:r>
            <a:br/>
            <a:r>
              <a:rPr>
                <a:latin typeface="Courier"/>
              </a:rPr>
              <a:t>    email</a:t>
            </a:r>
            <a:r>
              <a:rPr>
                <a:solidFill>
                  <a:srgbClr val="666666"/>
                </a:solidFill>
                <a:latin typeface="Courier"/>
              </a:rPr>
              <a:t>:</a:t>
            </a:r>
            <a:r>
              <a:rPr>
                <a:latin typeface="Courier"/>
              </a:rPr>
              <a:t> </a:t>
            </a:r>
            <a:r>
              <a:rPr>
                <a:solidFill>
                  <a:srgbClr val="008000"/>
                </a:solidFill>
                <a:latin typeface="Courier"/>
              </a:rPr>
              <a:t>String</a:t>
            </a:r>
            <a:r>
              <a:rPr>
                <a:solidFill>
                  <a:srgbClr val="666666"/>
                </a:solidFill>
                <a:latin typeface="Courier"/>
              </a:rPr>
              <a:t>,</a:t>
            </a:r>
            <a:br/>
            <a:r>
              <a:rPr>
                <a:latin typeface="Courier"/>
              </a:rPr>
              <a:t>    role</a:t>
            </a:r>
            <a:r>
              <a:rPr>
                <a:solidFill>
                  <a:srgbClr val="666666"/>
                </a:solidFill>
                <a:latin typeface="Courier"/>
              </a:rPr>
              <a:t>:</a:t>
            </a:r>
            <a:r>
              <a:rPr>
                <a:latin typeface="Courier"/>
              </a:rPr>
              <a:t> </a:t>
            </a:r>
            <a:r>
              <a:rPr>
                <a:solidFill>
                  <a:srgbClr val="4070A0"/>
                </a:solidFill>
                <a:latin typeface="Courier"/>
              </a:rPr>
              <a:t>"owner"</a:t>
            </a:r>
            <a:r>
              <a:rPr>
                <a:latin typeface="Courier"/>
              </a:rPr>
              <a:t> </a:t>
            </a:r>
            <a:r>
              <a:rPr>
                <a:solidFill>
                  <a:srgbClr val="666666"/>
                </a:solidFill>
                <a:latin typeface="Courier"/>
              </a:rPr>
              <a:t>|</a:t>
            </a:r>
            <a:r>
              <a:rPr>
                <a:latin typeface="Courier"/>
              </a:rPr>
              <a:t> </a:t>
            </a:r>
            <a:r>
              <a:rPr>
                <a:solidFill>
                  <a:srgbClr val="4070A0"/>
                </a:solidFill>
                <a:latin typeface="Courier"/>
              </a:rPr>
              <a:t>"admin"</a:t>
            </a:r>
            <a:r>
              <a:rPr>
                <a:latin typeface="Courier"/>
              </a:rPr>
              <a:t> </a:t>
            </a:r>
            <a:r>
              <a:rPr>
                <a:solidFill>
                  <a:srgbClr val="666666"/>
                </a:solidFill>
                <a:latin typeface="Courier"/>
              </a:rPr>
              <a:t>|</a:t>
            </a:r>
            <a:r>
              <a:rPr>
                <a:latin typeface="Courier"/>
              </a:rPr>
              <a:t> </a:t>
            </a:r>
            <a:r>
              <a:rPr>
                <a:solidFill>
                  <a:srgbClr val="4070A0"/>
                </a:solidFill>
                <a:latin typeface="Courier"/>
              </a:rPr>
              <a:t>"member"</a:t>
            </a:r>
            <a:r>
              <a:rPr>
                <a:latin typeface="Courier"/>
              </a:rPr>
              <a:t> </a:t>
            </a:r>
            <a:r>
              <a:rPr>
                <a:solidFill>
                  <a:srgbClr val="666666"/>
                </a:solidFill>
                <a:latin typeface="Courier"/>
              </a:rPr>
              <a:t>|</a:t>
            </a:r>
            <a:r>
              <a:rPr>
                <a:latin typeface="Courier"/>
              </a:rPr>
              <a:t> </a:t>
            </a:r>
            <a:r>
              <a:rPr>
                <a:solidFill>
                  <a:srgbClr val="4070A0"/>
                </a:solidFill>
                <a:latin typeface="Courier"/>
              </a:rPr>
              <a:t>"viewer"</a:t>
            </a:r>
            <a:r>
              <a:rPr>
                <a:solidFill>
                  <a:srgbClr val="666666"/>
                </a:solidFill>
                <a:latin typeface="Courier"/>
              </a:rPr>
              <a:t>,</a:t>
            </a:r>
            <a:br/>
            <a:r>
              <a:rPr>
                <a:latin typeface="Courier"/>
              </a:rPr>
              <a:t>    joinedAt</a:t>
            </a:r>
            <a:r>
              <a:rPr>
                <a:solidFill>
                  <a:srgbClr val="666666"/>
                </a:solidFill>
                <a:latin typeface="Courier"/>
              </a:rPr>
              <a:t>:</a:t>
            </a:r>
            <a:r>
              <a:rPr>
                <a:latin typeface="Courier"/>
              </a:rPr>
              <a:t> </a:t>
            </a:r>
            <a:r>
              <a:rPr>
                <a:solidFill>
                  <a:srgbClr val="008000"/>
                </a:solidFill>
                <a:latin typeface="Courier"/>
              </a:rPr>
              <a:t>Date</a:t>
            </a:r>
            <a:br/>
            <a:r>
              <a:rPr>
                <a:latin typeface="Courier"/>
              </a:rPr>
              <a:t>  }]</a:t>
            </a:r>
            <a:r>
              <a:rPr>
                <a:solidFill>
                  <a:srgbClr val="666666"/>
                </a:solidFill>
                <a:latin typeface="Courier"/>
              </a:rPr>
              <a:t>,</a:t>
            </a:r>
            <a:br/>
            <a:r>
              <a:rPr>
                <a:latin typeface="Courier"/>
              </a:rPr>
              <a:t>  </a:t>
            </a:r>
            <a:br/>
            <a:r>
              <a:rPr>
                <a:latin typeface="Courier"/>
              </a:rPr>
              <a:t>  timestamps</a:t>
            </a:r>
            <a:r>
              <a:rPr>
                <a:solidFill>
                  <a:srgbClr val="666666"/>
                </a:solidFill>
                <a:latin typeface="Courier"/>
              </a:rPr>
              <a:t>:</a:t>
            </a:r>
            <a:r>
              <a:rPr>
                <a:latin typeface="Courier"/>
              </a:rPr>
              <a:t> </a:t>
            </a:r>
            <a:r>
              <a:rPr b="1">
                <a:solidFill>
                  <a:srgbClr val="007020"/>
                </a:solidFill>
                <a:latin typeface="Courier"/>
              </a:rPr>
              <a:t>true</a:t>
            </a:r>
            <a:br/>
            <a:r>
              <a:rPr>
                <a:latin typeface="Courier"/>
              </a:rPr>
              <a:t>}</a:t>
            </a:r>
          </a:p>
          <a:p>
            <a:pPr lvl="0" indent="0" marL="0">
              <a:spcBef>
                <a:spcPts val="3000"/>
              </a:spcBef>
              <a:buNone/>
            </a:pPr>
            <a:r>
              <a:rPr b="1"/>
              <a:t>ShieldXAlertConfig Collection</a:t>
            </a:r>
          </a:p>
          <a:p>
            <a:pPr lvl="0" indent="0">
              <a:buNone/>
            </a:pPr>
            <a:r>
              <a:rPr>
                <a:latin typeface="Courier"/>
              </a:rPr>
              <a:t>{</a:t>
            </a:r>
            <a:br/>
            <a:r>
              <a:rPr>
                <a:latin typeface="Courier"/>
              </a:rPr>
              <a:t>  userId</a:t>
            </a:r>
            <a:r>
              <a:rPr>
                <a:solidFill>
                  <a:srgbClr val="666666"/>
                </a:solidFill>
                <a:latin typeface="Courier"/>
              </a:rPr>
              <a:t>:</a:t>
            </a:r>
            <a:r>
              <a:rPr>
                <a:latin typeface="Courier"/>
              </a:rPr>
              <a:t> ObjectId</a:t>
            </a:r>
            <a:r>
              <a:rPr>
                <a:solidFill>
                  <a:srgbClr val="666666"/>
                </a:solidFill>
                <a:latin typeface="Courier"/>
              </a:rPr>
              <a:t>,</a:t>
            </a:r>
            <a:br/>
            <a:r>
              <a:rPr>
                <a:latin typeface="Courier"/>
              </a:rPr>
              <a:t>  channels</a:t>
            </a:r>
            <a:r>
              <a:rPr>
                <a:solidFill>
                  <a:srgbClr val="666666"/>
                </a:solidFill>
                <a:latin typeface="Courier"/>
              </a:rPr>
              <a:t>:</a:t>
            </a:r>
            <a:r>
              <a:rPr>
                <a:latin typeface="Courier"/>
              </a:rPr>
              <a:t> {</a:t>
            </a:r>
            <a:br/>
            <a:r>
              <a:rPr>
                <a:latin typeface="Courier"/>
              </a:rPr>
              <a:t>    email</a:t>
            </a:r>
            <a:r>
              <a:rPr>
                <a:solidFill>
                  <a:srgbClr val="666666"/>
                </a:solidFill>
                <a:latin typeface="Courier"/>
              </a:rPr>
              <a:t>:</a:t>
            </a:r>
            <a:r>
              <a:rPr>
                <a:latin typeface="Courier"/>
              </a:rPr>
              <a:t> </a:t>
            </a:r>
            <a:r>
              <a:rPr>
                <a:solidFill>
                  <a:srgbClr val="008000"/>
                </a:solidFill>
                <a:latin typeface="Courier"/>
              </a:rPr>
              <a:t>Boolean</a:t>
            </a:r>
            <a:r>
              <a:rPr>
                <a:solidFill>
                  <a:srgbClr val="666666"/>
                </a:solidFill>
                <a:latin typeface="Courier"/>
              </a:rPr>
              <a:t>,</a:t>
            </a:r>
            <a:br/>
            <a:r>
              <a:rPr>
                <a:latin typeface="Courier"/>
              </a:rPr>
              <a:t>    slack</a:t>
            </a:r>
            <a:r>
              <a:rPr>
                <a:solidFill>
                  <a:srgbClr val="666666"/>
                </a:solidFill>
                <a:latin typeface="Courier"/>
              </a:rPr>
              <a:t>:</a:t>
            </a:r>
            <a:r>
              <a:rPr>
                <a:latin typeface="Courier"/>
              </a:rPr>
              <a:t> { enabled</a:t>
            </a:r>
            <a:r>
              <a:rPr>
                <a:solidFill>
                  <a:srgbClr val="666666"/>
                </a:solidFill>
                <a:latin typeface="Courier"/>
              </a:rPr>
              <a:t>:</a:t>
            </a:r>
            <a:r>
              <a:rPr>
                <a:latin typeface="Courier"/>
              </a:rPr>
              <a:t> </a:t>
            </a:r>
            <a:r>
              <a:rPr>
                <a:solidFill>
                  <a:srgbClr val="008000"/>
                </a:solidFill>
                <a:latin typeface="Courier"/>
              </a:rPr>
              <a:t>Boolean</a:t>
            </a:r>
            <a:r>
              <a:rPr>
                <a:solidFill>
                  <a:srgbClr val="666666"/>
                </a:solidFill>
                <a:latin typeface="Courier"/>
              </a:rPr>
              <a:t>,</a:t>
            </a:r>
            <a:r>
              <a:rPr>
                <a:latin typeface="Courier"/>
              </a:rPr>
              <a:t> webhookUrl</a:t>
            </a:r>
            <a:r>
              <a:rPr>
                <a:solidFill>
                  <a:srgbClr val="666666"/>
                </a:solidFill>
                <a:latin typeface="Courier"/>
              </a:rPr>
              <a:t>:</a:t>
            </a:r>
            <a:r>
              <a:rPr>
                <a:latin typeface="Courier"/>
              </a:rPr>
              <a:t> </a:t>
            </a:r>
            <a:r>
              <a:rPr>
                <a:solidFill>
                  <a:srgbClr val="008000"/>
                </a:solidFill>
                <a:latin typeface="Courier"/>
              </a:rPr>
              <a:t>String</a:t>
            </a:r>
            <a:r>
              <a:rPr>
                <a:latin typeface="Courier"/>
              </a:rPr>
              <a:t> </a:t>
            </a:r>
            <a:r>
              <a:rPr>
                <a:solidFill>
                  <a:srgbClr val="666666"/>
                </a:solidFill>
                <a:latin typeface="Courier"/>
              </a:rPr>
              <a:t>|</a:t>
            </a:r>
            <a:r>
              <a:rPr>
                <a:latin typeface="Courier"/>
              </a:rPr>
              <a:t> </a:t>
            </a:r>
            <a:r>
              <a:rPr>
                <a:solidFill>
                  <a:srgbClr val="902000"/>
                </a:solidFill>
                <a:latin typeface="Courier"/>
              </a:rPr>
              <a:t>null</a:t>
            </a:r>
            <a:r>
              <a:rPr>
                <a:latin typeface="Courier"/>
              </a:rPr>
              <a:t> }</a:t>
            </a:r>
            <a:r>
              <a:rPr>
                <a:solidFill>
                  <a:srgbClr val="666666"/>
                </a:solidFill>
                <a:latin typeface="Courier"/>
              </a:rPr>
              <a:t>,</a:t>
            </a:r>
            <a:br/>
            <a:r>
              <a:rPr>
                <a:latin typeface="Courier"/>
              </a:rPr>
              <a:t>    webhook</a:t>
            </a:r>
            <a:r>
              <a:rPr>
                <a:solidFill>
                  <a:srgbClr val="666666"/>
                </a:solidFill>
                <a:latin typeface="Courier"/>
              </a:rPr>
              <a:t>:</a:t>
            </a:r>
            <a:r>
              <a:rPr>
                <a:latin typeface="Courier"/>
              </a:rPr>
              <a:t> { enabled</a:t>
            </a:r>
            <a:r>
              <a:rPr>
                <a:solidFill>
                  <a:srgbClr val="666666"/>
                </a:solidFill>
                <a:latin typeface="Courier"/>
              </a:rPr>
              <a:t>:</a:t>
            </a:r>
            <a:r>
              <a:rPr>
                <a:latin typeface="Courier"/>
              </a:rPr>
              <a:t> </a:t>
            </a:r>
            <a:r>
              <a:rPr>
                <a:solidFill>
                  <a:srgbClr val="008000"/>
                </a:solidFill>
                <a:latin typeface="Courier"/>
              </a:rPr>
              <a:t>Boolean</a:t>
            </a:r>
            <a:r>
              <a:rPr>
                <a:solidFill>
                  <a:srgbClr val="666666"/>
                </a:solidFill>
                <a:latin typeface="Courier"/>
              </a:rPr>
              <a:t>,</a:t>
            </a:r>
            <a:r>
              <a:rPr>
                <a:latin typeface="Courier"/>
              </a:rPr>
              <a:t> url</a:t>
            </a:r>
            <a:r>
              <a:rPr>
                <a:solidFill>
                  <a:srgbClr val="666666"/>
                </a:solidFill>
                <a:latin typeface="Courier"/>
              </a:rPr>
              <a:t>:</a:t>
            </a:r>
            <a:r>
              <a:rPr>
                <a:latin typeface="Courier"/>
              </a:rPr>
              <a:t> </a:t>
            </a:r>
            <a:r>
              <a:rPr>
                <a:solidFill>
                  <a:srgbClr val="008000"/>
                </a:solidFill>
                <a:latin typeface="Courier"/>
              </a:rPr>
              <a:t>String</a:t>
            </a:r>
            <a:r>
              <a:rPr>
                <a:latin typeface="Courier"/>
              </a:rPr>
              <a:t> </a:t>
            </a:r>
            <a:r>
              <a:rPr>
                <a:solidFill>
                  <a:srgbClr val="666666"/>
                </a:solidFill>
                <a:latin typeface="Courier"/>
              </a:rPr>
              <a:t>|</a:t>
            </a:r>
            <a:r>
              <a:rPr>
                <a:latin typeface="Courier"/>
              </a:rPr>
              <a:t> </a:t>
            </a:r>
            <a:r>
              <a:rPr>
                <a:solidFill>
                  <a:srgbClr val="902000"/>
                </a:solidFill>
                <a:latin typeface="Courier"/>
              </a:rPr>
              <a:t>null</a:t>
            </a:r>
            <a:r>
              <a:rPr>
                <a:latin typeface="Courier"/>
              </a:rPr>
              <a:t> }</a:t>
            </a:r>
            <a:br/>
            <a:r>
              <a:rPr>
                <a:latin typeface="Courier"/>
              </a:rPr>
              <a:t>  }</a:t>
            </a:r>
            <a:r>
              <a:rPr>
                <a:solidFill>
                  <a:srgbClr val="666666"/>
                </a:solidFill>
                <a:latin typeface="Courier"/>
              </a:rPr>
              <a:t>,</a:t>
            </a:r>
            <a:br/>
            <a:r>
              <a:rPr>
                <a:latin typeface="Courier"/>
              </a:rPr>
              <a:t>  threshold</a:t>
            </a:r>
            <a:r>
              <a:rPr>
                <a:solidFill>
                  <a:srgbClr val="666666"/>
                </a:solidFill>
                <a:latin typeface="Courier"/>
              </a:rPr>
              <a:t>:</a:t>
            </a:r>
            <a:r>
              <a:rPr>
                <a:latin typeface="Courier"/>
              </a:rPr>
              <a:t> </a:t>
            </a:r>
            <a:r>
              <a:rPr>
                <a:solidFill>
                  <a:srgbClr val="4070A0"/>
                </a:solidFill>
                <a:latin typeface="Courier"/>
              </a:rPr>
              <a:t>"critical"</a:t>
            </a:r>
            <a:r>
              <a:rPr>
                <a:latin typeface="Courier"/>
              </a:rPr>
              <a:t> </a:t>
            </a:r>
            <a:r>
              <a:rPr>
                <a:solidFill>
                  <a:srgbClr val="666666"/>
                </a:solidFill>
                <a:latin typeface="Courier"/>
              </a:rPr>
              <a:t>|</a:t>
            </a:r>
            <a:r>
              <a:rPr>
                <a:latin typeface="Courier"/>
              </a:rPr>
              <a:t> </a:t>
            </a:r>
            <a:r>
              <a:rPr>
                <a:solidFill>
                  <a:srgbClr val="4070A0"/>
                </a:solidFill>
                <a:latin typeface="Courier"/>
              </a:rPr>
              <a:t>"high"</a:t>
            </a:r>
            <a:r>
              <a:rPr>
                <a:latin typeface="Courier"/>
              </a:rPr>
              <a:t> </a:t>
            </a:r>
            <a:r>
              <a:rPr>
                <a:solidFill>
                  <a:srgbClr val="666666"/>
                </a:solidFill>
                <a:latin typeface="Courier"/>
              </a:rPr>
              <a:t>|</a:t>
            </a:r>
            <a:r>
              <a:rPr>
                <a:latin typeface="Courier"/>
              </a:rPr>
              <a:t> </a:t>
            </a:r>
            <a:r>
              <a:rPr>
                <a:solidFill>
                  <a:srgbClr val="4070A0"/>
                </a:solidFill>
                <a:latin typeface="Courier"/>
              </a:rPr>
              <a:t>"all"</a:t>
            </a:r>
            <a:r>
              <a:rPr>
                <a:solidFill>
                  <a:srgbClr val="666666"/>
                </a:solidFill>
                <a:latin typeface="Courier"/>
              </a:rPr>
              <a:t>,</a:t>
            </a:r>
            <a:br/>
            <a:r>
              <a:rPr>
                <a:latin typeface="Courier"/>
              </a:rPr>
              <a:t>  rules</a:t>
            </a:r>
            <a:r>
              <a:rPr>
                <a:solidFill>
                  <a:srgbClr val="666666"/>
                </a:solidFill>
                <a:latin typeface="Courier"/>
              </a:rPr>
              <a:t>:</a:t>
            </a:r>
            <a:r>
              <a:rPr>
                <a:latin typeface="Courier"/>
              </a:rPr>
              <a:t> [{</a:t>
            </a:r>
            <a:br/>
            <a:r>
              <a:rPr>
                <a:latin typeface="Courier"/>
              </a:rPr>
              <a:t>    id</a:t>
            </a:r>
            <a:r>
              <a:rPr>
                <a:solidFill>
                  <a:srgbClr val="666666"/>
                </a:solidFill>
                <a:latin typeface="Courier"/>
              </a:rPr>
              <a:t>:</a:t>
            </a:r>
            <a:r>
              <a:rPr>
                <a:latin typeface="Courier"/>
              </a:rPr>
              <a:t> </a:t>
            </a:r>
            <a:r>
              <a:rPr>
                <a:solidFill>
                  <a:srgbClr val="008000"/>
                </a:solidFill>
                <a:latin typeface="Courier"/>
              </a:rPr>
              <a:t>String</a:t>
            </a:r>
            <a:r>
              <a:rPr>
                <a:solidFill>
                  <a:srgbClr val="666666"/>
                </a:solidFill>
                <a:latin typeface="Courier"/>
              </a:rPr>
              <a:t>,</a:t>
            </a:r>
            <a:br/>
            <a:r>
              <a:rPr>
                <a:latin typeface="Courier"/>
              </a:rPr>
              <a:t>    name</a:t>
            </a:r>
            <a:r>
              <a:rPr>
                <a:solidFill>
                  <a:srgbClr val="666666"/>
                </a:solidFill>
                <a:latin typeface="Courier"/>
              </a:rPr>
              <a:t>:</a:t>
            </a:r>
            <a:r>
              <a:rPr>
                <a:latin typeface="Courier"/>
              </a:rPr>
              <a:t> </a:t>
            </a:r>
            <a:r>
              <a:rPr>
                <a:solidFill>
                  <a:srgbClr val="008000"/>
                </a:solidFill>
                <a:latin typeface="Courier"/>
              </a:rPr>
              <a:t>String</a:t>
            </a:r>
            <a:r>
              <a:rPr>
                <a:solidFill>
                  <a:srgbClr val="666666"/>
                </a:solidFill>
                <a:latin typeface="Courier"/>
              </a:rPr>
              <a:t>,</a:t>
            </a:r>
            <a:br/>
            <a:r>
              <a:rPr>
                <a:latin typeface="Courier"/>
              </a:rPr>
              <a:t>    enabled</a:t>
            </a:r>
            <a:r>
              <a:rPr>
                <a:solidFill>
                  <a:srgbClr val="666666"/>
                </a:solidFill>
                <a:latin typeface="Courier"/>
              </a:rPr>
              <a:t>:</a:t>
            </a:r>
            <a:r>
              <a:rPr>
                <a:latin typeface="Courier"/>
              </a:rPr>
              <a:t> </a:t>
            </a:r>
            <a:r>
              <a:rPr>
                <a:solidFill>
                  <a:srgbClr val="008000"/>
                </a:solidFill>
                <a:latin typeface="Courier"/>
              </a:rPr>
              <a:t>Boolean</a:t>
            </a:r>
            <a:r>
              <a:rPr>
                <a:solidFill>
                  <a:srgbClr val="666666"/>
                </a:solidFill>
                <a:latin typeface="Courier"/>
              </a:rPr>
              <a:t>,</a:t>
            </a:r>
            <a:br/>
            <a:r>
              <a:rPr>
                <a:latin typeface="Courier"/>
              </a:rPr>
              <a:t>    severity</a:t>
            </a:r>
            <a:r>
              <a:rPr>
                <a:solidFill>
                  <a:srgbClr val="666666"/>
                </a:solidFill>
                <a:latin typeface="Courier"/>
              </a:rPr>
              <a:t>:</a:t>
            </a:r>
            <a:r>
              <a:rPr>
                <a:latin typeface="Courier"/>
              </a:rPr>
              <a:t> </a:t>
            </a:r>
            <a:r>
              <a:rPr>
                <a:solidFill>
                  <a:srgbClr val="008000"/>
                </a:solidFill>
                <a:latin typeface="Courier"/>
              </a:rPr>
              <a:t>String</a:t>
            </a:r>
            <a:br/>
            <a:r>
              <a:rPr>
                <a:latin typeface="Courier"/>
              </a:rPr>
              <a:t>  }]</a:t>
            </a:r>
            <a:r>
              <a:rPr>
                <a:solidFill>
                  <a:srgbClr val="666666"/>
                </a:solidFill>
                <a:latin typeface="Courier"/>
              </a:rPr>
              <a:t>,</a:t>
            </a:r>
            <a:br/>
            <a:r>
              <a:rPr>
                <a:latin typeface="Courier"/>
              </a:rPr>
              <a:t>  </a:t>
            </a:r>
            <a:br/>
            <a:r>
              <a:rPr>
                <a:latin typeface="Courier"/>
              </a:rPr>
              <a:t>  timestamps</a:t>
            </a:r>
            <a:r>
              <a:rPr>
                <a:solidFill>
                  <a:srgbClr val="666666"/>
                </a:solidFill>
                <a:latin typeface="Courier"/>
              </a:rPr>
              <a:t>:</a:t>
            </a:r>
            <a:r>
              <a:rPr>
                <a:latin typeface="Courier"/>
              </a:rPr>
              <a:t> </a:t>
            </a:r>
            <a:r>
              <a:rPr b="1">
                <a:solidFill>
                  <a:srgbClr val="007020"/>
                </a:solidFill>
                <a:latin typeface="Courier"/>
              </a:rPr>
              <a:t>true</a:t>
            </a:r>
            <a:br/>
            <a:r>
              <a:rPr>
                <a:latin typeface="Courier"/>
              </a:rPr>
              <a:t>}</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11. Deployment Architecture</a:t>
            </a:r>
          </a:p>
        </p:txBody>
      </p:sp>
      <p:sp>
        <p:nvSpPr>
          <p:cNvPr id="3" name="Content Placeholder 2"/>
          <p:cNvSpPr>
            <a:spLocks noGrp="1"/>
          </p:cNvSpPr>
          <p:nvPr>
            <p:ph idx="1"/>
          </p:nvPr>
        </p:nvSpPr>
        <p:spPr/>
        <p:txBody>
          <a:bodyPr/>
          <a:lstStyle/>
          <a:p>
            <a:pPr lvl="0" indent="0" marL="0">
              <a:spcBef>
                <a:spcPts val="3000"/>
              </a:spcBef>
              <a:buNone/>
            </a:pPr>
            <a:r>
              <a:rPr b="1"/>
              <a:t>Vercel (Production)</a:t>
            </a:r>
          </a:p>
          <a:p>
            <a:pPr lvl="0" indent="0">
              <a:buNone/>
            </a:pPr>
            <a:r>
              <a:rPr>
                <a:latin typeface="Courier"/>
              </a:rPr>
              <a:t>GitHub (hackwithabx/sccrs) → Vercel (auto-deploy on push to main)
Infrastructure:
├── Edge Network (CDN for static assets)
├── Serverless Functions (API routes, max 30s timeout)
├── Environment Variables:
│   ├── MONGODB_URI
│   ├── NEXTAUTH_SECRET
│   ├── NEXTAUTH_URL
│   ├── RAZORPAY_KEY_ID
│   ├── RAZORPAY_KEY_SECRET
│   ├── RAZORPAY_WEBHOOK_SECRET
│   ├── ADMIN_USERNAME
│   └── ADMIN_PASSWORD_HASH
└── Build: Next.js static + dynamic routes</a:t>
            </a:r>
          </a:p>
          <a:p>
            <a:pPr lvl="0" indent="0" marL="0">
              <a:spcBef>
                <a:spcPts val="3000"/>
              </a:spcBef>
              <a:buNone/>
            </a:pPr>
            <a:r>
              <a:rPr b="1"/>
              <a:t>Rate Limiting</a:t>
            </a:r>
          </a:p>
          <a:p>
            <a:pPr lvl="0" indent="0" marL="0">
              <a:buNone/>
            </a:pPr>
            <a:r>
              <a:rPr/>
              <a:t>Current implementation uses </a:t>
            </a:r>
            <a:r>
              <a:rPr b="1"/>
              <a:t>in-memory rate limiting</a:t>
            </a:r>
            <a:r>
              <a:rPr/>
              <a:t> (per-function instance): - Effective for single-instance or low-traffic scenarios - Resets on cold starts (serverless limitation) - For production scale: migrate to Redis/Upstash for distributed rate limiting</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12. CI/CD Integration Guide</a:t>
            </a:r>
          </a:p>
        </p:txBody>
      </p:sp>
      <p:sp>
        <p:nvSpPr>
          <p:cNvPr id="3" name="Content Placeholder 2"/>
          <p:cNvSpPr>
            <a:spLocks noGrp="1"/>
          </p:cNvSpPr>
          <p:nvPr>
            <p:ph idx="1"/>
          </p:nvPr>
        </p:nvSpPr>
        <p:spPr/>
        <p:txBody>
          <a:bodyPr/>
          <a:lstStyle/>
          <a:p>
            <a:pPr lvl="0" indent="0" marL="0">
              <a:spcBef>
                <a:spcPts val="3000"/>
              </a:spcBef>
              <a:buNone/>
            </a:pPr>
            <a:r>
              <a:rPr b="1"/>
              <a:t>GitHub Actions</a:t>
            </a:r>
          </a:p>
          <a:p>
            <a:pPr lvl="0" indent="0">
              <a:buNone/>
            </a:pPr>
            <a:r>
              <a:rPr>
                <a:solidFill>
                  <a:srgbClr val="06287E"/>
                </a:solidFill>
                <a:latin typeface="Courier"/>
              </a:rPr>
              <a:t>name</a:t>
            </a:r>
            <a:r>
              <a:rPr b="1">
                <a:solidFill>
                  <a:srgbClr val="007020"/>
                </a:solidFill>
                <a:latin typeface="Courier"/>
              </a:rPr>
              <a:t>:</a:t>
            </a:r>
            <a:r>
              <a:rPr>
                <a:solidFill>
                  <a:srgbClr val="7D9029"/>
                </a:solidFill>
                <a:latin typeface="Courier"/>
              </a:rPr>
              <a:t> ShieldX Security Scan</a:t>
            </a:r>
            <a:br/>
            <a:r>
              <a:rPr>
                <a:solidFill>
                  <a:srgbClr val="06287E"/>
                </a:solidFill>
                <a:latin typeface="Courier"/>
              </a:rPr>
              <a:t>on</a:t>
            </a:r>
            <a:r>
              <a:rPr b="1">
                <a:solidFill>
                  <a:srgbClr val="007020"/>
                </a:solidFill>
                <a:latin typeface="Courier"/>
              </a:rPr>
              <a:t>:</a:t>
            </a:r>
            <a:br/>
            <a:r>
              <a:rPr>
                <a:solidFill>
                  <a:srgbClr val="7D9029"/>
                </a:solidFill>
                <a:latin typeface="Courier"/>
              </a:rPr>
              <a:t>  </a:t>
            </a:r>
            <a:r>
              <a:rPr>
                <a:solidFill>
                  <a:srgbClr val="06287E"/>
                </a:solidFill>
                <a:latin typeface="Courier"/>
              </a:rPr>
              <a:t>push</a:t>
            </a:r>
            <a:r>
              <a:rPr b="1">
                <a:solidFill>
                  <a:srgbClr val="007020"/>
                </a:solidFill>
                <a:latin typeface="Courier"/>
              </a:rPr>
              <a:t>:</a:t>
            </a:r>
            <a:br/>
            <a:r>
              <a:rPr>
                <a:solidFill>
                  <a:srgbClr val="7D9029"/>
                </a:solidFill>
                <a:latin typeface="Courier"/>
              </a:rPr>
              <a:t>    </a:t>
            </a:r>
            <a:r>
              <a:rPr>
                <a:solidFill>
                  <a:srgbClr val="06287E"/>
                </a:solidFill>
                <a:latin typeface="Courier"/>
              </a:rPr>
              <a:t>branches</a:t>
            </a:r>
            <a:r>
              <a:rPr b="1">
                <a:solidFill>
                  <a:srgbClr val="007020"/>
                </a:solidFill>
                <a:latin typeface="Courier"/>
              </a:rPr>
              <a:t>:</a:t>
            </a:r>
            <a:r>
              <a:rPr>
                <a:solidFill>
                  <a:srgbClr val="7D9029"/>
                </a:solidFill>
                <a:latin typeface="Courier"/>
              </a:rPr>
              <a:t> </a:t>
            </a:r>
            <a:r>
              <a:rPr b="1">
                <a:solidFill>
                  <a:srgbClr val="007020"/>
                </a:solidFill>
                <a:latin typeface="Courier"/>
              </a:rPr>
              <a:t>[</a:t>
            </a:r>
            <a:r>
              <a:rPr>
                <a:solidFill>
                  <a:srgbClr val="7D9029"/>
                </a:solidFill>
                <a:latin typeface="Courier"/>
              </a:rPr>
              <a:t>main</a:t>
            </a:r>
            <a:r>
              <a:rPr b="1">
                <a:solidFill>
                  <a:srgbClr val="007020"/>
                </a:solidFill>
                <a:latin typeface="Courier"/>
              </a:rPr>
              <a:t>]</a:t>
            </a:r>
            <a:br/>
            <a:r>
              <a:rPr>
                <a:solidFill>
                  <a:srgbClr val="7D9029"/>
                </a:solidFill>
                <a:latin typeface="Courier"/>
              </a:rPr>
              <a:t>  </a:t>
            </a:r>
            <a:r>
              <a:rPr>
                <a:solidFill>
                  <a:srgbClr val="06287E"/>
                </a:solidFill>
                <a:latin typeface="Courier"/>
              </a:rPr>
              <a:t>pull_request</a:t>
            </a:r>
            <a:r>
              <a:rPr b="1">
                <a:solidFill>
                  <a:srgbClr val="007020"/>
                </a:solidFill>
                <a:latin typeface="Courier"/>
              </a:rPr>
              <a:t>:</a:t>
            </a:r>
            <a:br/>
            <a:r>
              <a:rPr>
                <a:solidFill>
                  <a:srgbClr val="7D9029"/>
                </a:solidFill>
                <a:latin typeface="Courier"/>
              </a:rPr>
              <a:t>    </a:t>
            </a:r>
            <a:r>
              <a:rPr>
                <a:solidFill>
                  <a:srgbClr val="06287E"/>
                </a:solidFill>
                <a:latin typeface="Courier"/>
              </a:rPr>
              <a:t>branches</a:t>
            </a:r>
            <a:r>
              <a:rPr b="1">
                <a:solidFill>
                  <a:srgbClr val="007020"/>
                </a:solidFill>
                <a:latin typeface="Courier"/>
              </a:rPr>
              <a:t>:</a:t>
            </a:r>
            <a:r>
              <a:rPr>
                <a:solidFill>
                  <a:srgbClr val="7D9029"/>
                </a:solidFill>
                <a:latin typeface="Courier"/>
              </a:rPr>
              <a:t> </a:t>
            </a:r>
            <a:r>
              <a:rPr b="1">
                <a:solidFill>
                  <a:srgbClr val="007020"/>
                </a:solidFill>
                <a:latin typeface="Courier"/>
              </a:rPr>
              <a:t>[</a:t>
            </a:r>
            <a:r>
              <a:rPr>
                <a:solidFill>
                  <a:srgbClr val="7D9029"/>
                </a:solidFill>
                <a:latin typeface="Courier"/>
              </a:rPr>
              <a:t>main</a:t>
            </a:r>
            <a:r>
              <a:rPr b="1">
                <a:solidFill>
                  <a:srgbClr val="007020"/>
                </a:solidFill>
                <a:latin typeface="Courier"/>
              </a:rPr>
              <a:t>]</a:t>
            </a:r>
            <a:br/>
            <a:br/>
            <a:r>
              <a:rPr>
                <a:solidFill>
                  <a:srgbClr val="06287E"/>
                </a:solidFill>
                <a:latin typeface="Courier"/>
              </a:rPr>
              <a:t>jobs</a:t>
            </a:r>
            <a:r>
              <a:rPr b="1">
                <a:solidFill>
                  <a:srgbClr val="007020"/>
                </a:solidFill>
                <a:latin typeface="Courier"/>
              </a:rPr>
              <a:t>:</a:t>
            </a:r>
            <a:br/>
            <a:r>
              <a:rPr>
                <a:solidFill>
                  <a:srgbClr val="7D9029"/>
                </a:solidFill>
                <a:latin typeface="Courier"/>
              </a:rPr>
              <a:t>  </a:t>
            </a:r>
            <a:r>
              <a:rPr>
                <a:solidFill>
                  <a:srgbClr val="06287E"/>
                </a:solidFill>
                <a:latin typeface="Courier"/>
              </a:rPr>
              <a:t>security-scan</a:t>
            </a:r>
            <a:r>
              <a:rPr b="1">
                <a:solidFill>
                  <a:srgbClr val="007020"/>
                </a:solidFill>
                <a:latin typeface="Courier"/>
              </a:rPr>
              <a:t>:</a:t>
            </a:r>
            <a:br/>
            <a:r>
              <a:rPr>
                <a:solidFill>
                  <a:srgbClr val="7D9029"/>
                </a:solidFill>
                <a:latin typeface="Courier"/>
              </a:rPr>
              <a:t>    </a:t>
            </a:r>
            <a:r>
              <a:rPr>
                <a:solidFill>
                  <a:srgbClr val="06287E"/>
                </a:solidFill>
                <a:latin typeface="Courier"/>
              </a:rPr>
              <a:t>runs-on</a:t>
            </a:r>
            <a:r>
              <a:rPr b="1">
                <a:solidFill>
                  <a:srgbClr val="007020"/>
                </a:solidFill>
                <a:latin typeface="Courier"/>
              </a:rPr>
              <a:t>:</a:t>
            </a:r>
            <a:r>
              <a:rPr>
                <a:solidFill>
                  <a:srgbClr val="7D9029"/>
                </a:solidFill>
                <a:latin typeface="Courier"/>
              </a:rPr>
              <a:t> ubuntu-latest</a:t>
            </a:r>
            <a:br/>
            <a:r>
              <a:rPr>
                <a:solidFill>
                  <a:srgbClr val="7D9029"/>
                </a:solidFill>
                <a:latin typeface="Courier"/>
              </a:rPr>
              <a:t>    </a:t>
            </a:r>
            <a:r>
              <a:rPr>
                <a:solidFill>
                  <a:srgbClr val="06287E"/>
                </a:solidFill>
                <a:latin typeface="Courier"/>
              </a:rPr>
              <a:t>steps</a:t>
            </a:r>
            <a:r>
              <a:rPr b="1">
                <a:solidFill>
                  <a:srgbClr val="007020"/>
                </a:solidFill>
                <a:latin typeface="Courier"/>
              </a:rPr>
              <a:t>:</a:t>
            </a:r>
            <a:br/>
            <a:r>
              <a:rPr>
                <a:solidFill>
                  <a:srgbClr val="7D9029"/>
                </a:solidFill>
                <a:latin typeface="Courier"/>
              </a:rPr>
              <a:t>      </a:t>
            </a:r>
            <a:r>
              <a:rPr b="1">
                <a:solidFill>
                  <a:srgbClr val="007020"/>
                </a:solidFill>
                <a:latin typeface="Courier"/>
              </a:rPr>
              <a:t>-</a:t>
            </a:r>
            <a:r>
              <a:rPr>
                <a:solidFill>
                  <a:srgbClr val="7D9029"/>
                </a:solidFill>
                <a:latin typeface="Courier"/>
              </a:rPr>
              <a:t> </a:t>
            </a:r>
            <a:r>
              <a:rPr>
                <a:solidFill>
                  <a:srgbClr val="06287E"/>
                </a:solidFill>
                <a:latin typeface="Courier"/>
              </a:rPr>
              <a:t>uses</a:t>
            </a:r>
            <a:r>
              <a:rPr b="1">
                <a:solidFill>
                  <a:srgbClr val="007020"/>
                </a:solidFill>
                <a:latin typeface="Courier"/>
              </a:rPr>
              <a:t>:</a:t>
            </a:r>
            <a:r>
              <a:rPr>
                <a:solidFill>
                  <a:srgbClr val="7D9029"/>
                </a:solidFill>
                <a:latin typeface="Courier"/>
              </a:rPr>
              <a:t> actions/checkout@v4</a:t>
            </a:r>
            <a:br/>
            <a:r>
              <a:rPr>
                <a:solidFill>
                  <a:srgbClr val="7D9029"/>
                </a:solidFill>
                <a:latin typeface="Courier"/>
              </a:rPr>
              <a:t>      </a:t>
            </a:r>
            <a:br/>
            <a:r>
              <a:rPr>
                <a:solidFill>
                  <a:srgbClr val="7D9029"/>
                </a:solidFill>
                <a:latin typeface="Courier"/>
              </a:rPr>
              <a:t>      </a:t>
            </a:r>
            <a:r>
              <a:rPr b="1">
                <a:solidFill>
                  <a:srgbClr val="007020"/>
                </a:solidFill>
                <a:latin typeface="Courier"/>
              </a:rPr>
              <a:t>-</a:t>
            </a:r>
            <a:r>
              <a:rPr>
                <a:solidFill>
                  <a:srgbClr val="7D9029"/>
                </a:solidFill>
                <a:latin typeface="Courier"/>
              </a:rPr>
              <a:t> </a:t>
            </a:r>
            <a:r>
              <a:rPr>
                <a:solidFill>
                  <a:srgbClr val="06287E"/>
                </a:solidFill>
                <a:latin typeface="Courier"/>
              </a:rPr>
              <a:t>name</a:t>
            </a:r>
            <a:r>
              <a:rPr b="1">
                <a:solidFill>
                  <a:srgbClr val="007020"/>
                </a:solidFill>
                <a:latin typeface="Courier"/>
              </a:rPr>
              <a:t>:</a:t>
            </a:r>
            <a:r>
              <a:rPr>
                <a:solidFill>
                  <a:srgbClr val="7D9029"/>
                </a:solidFill>
                <a:latin typeface="Courier"/>
              </a:rPr>
              <a:t> ShieldX Dependency Scan</a:t>
            </a:r>
            <a:br/>
            <a:r>
              <a:rPr>
                <a:solidFill>
                  <a:srgbClr val="06287E"/>
                </a:solidFill>
                <a:latin typeface="Courier"/>
              </a:rPr>
              <a:t>        run</a:t>
            </a:r>
            <a:r>
              <a:rPr b="1">
                <a:solidFill>
                  <a:srgbClr val="007020"/>
                </a:solidFill>
                <a:latin typeface="Courier"/>
              </a:rPr>
              <a:t>: </a:t>
            </a:r>
            <a:r>
              <a:rPr>
                <a:solidFill>
                  <a:srgbClr val="4070A0"/>
                </a:solidFill>
                <a:latin typeface="Courier"/>
              </a:rPr>
              <a:t>|</a:t>
            </a:r>
            <a:br/>
            <a:r>
              <a:rPr>
                <a:latin typeface="Courier"/>
              </a:rPr>
              <a:t>          RESULT=$(curl -s -X POST https://securecodereviews.com/api/shieldx/scan-deps \</a:t>
            </a:r>
            <a:br/>
            <a:r>
              <a:rPr>
                <a:latin typeface="Courier"/>
              </a:rPr>
              <a:t>            -H "Content-Type: application/json" \</a:t>
            </a:r>
            <a:br/>
            <a:r>
              <a:rPr>
                <a:latin typeface="Courier"/>
              </a:rPr>
              <a:t>            -H "x-shieldx-api-key: ${{ secrets.SHIELDX_API_KEY }}" \</a:t>
            </a:r>
            <a:br/>
            <a:r>
              <a:rPr>
                <a:latin typeface="Courier"/>
              </a:rPr>
              <a:t>            -d "{\"input\": $(cat package.json | jq -Rs .)}")</a:t>
            </a:r>
            <a:br/>
            <a:r>
              <a:rPr>
                <a:latin typeface="Courier"/>
              </a:rPr>
              <a:t>          echo "Scan Result:"</a:t>
            </a:r>
            <a:br/>
            <a:r>
              <a:rPr>
                <a:latin typeface="Courier"/>
              </a:rPr>
              <a:t>          echo "$RESULT" | jq .</a:t>
            </a:r>
            <a:br/>
            <a:r>
              <a:rPr>
                <a:latin typeface="Courier"/>
              </a:rPr>
              <a:t>          CRITICAL=$(echo "$RESULT" | jq -r '.stats.critical // 0')</a:t>
            </a:r>
            <a:br/>
            <a:r>
              <a:rPr>
                <a:latin typeface="Courier"/>
              </a:rPr>
              <a:t>          if [ "$CRITICAL" -gt 0 ]; then</a:t>
            </a:r>
            <a:br/>
            <a:r>
              <a:rPr>
                <a:latin typeface="Courier"/>
              </a:rPr>
              <a:t>            echo "::error::Critical vulnerabilities found!"</a:t>
            </a:r>
            <a:br/>
            <a:r>
              <a:rPr>
                <a:latin typeface="Courier"/>
              </a:rPr>
              <a:t>            exit 1</a:t>
            </a:r>
            <a:br/>
            <a:r>
              <a:rPr>
                <a:latin typeface="Courier"/>
              </a:rPr>
              <a:t>          fi</a:t>
            </a:r>
            <a:br/>
            <a:r>
              <a:rPr>
                <a:solidFill>
                  <a:srgbClr val="7D9029"/>
                </a:solidFill>
                <a:latin typeface="Courier"/>
              </a:rPr>
              <a:t>      </a:t>
            </a:r>
            <a:br/>
            <a:r>
              <a:rPr>
                <a:solidFill>
                  <a:srgbClr val="7D9029"/>
                </a:solidFill>
                <a:latin typeface="Courier"/>
              </a:rPr>
              <a:t>      </a:t>
            </a:r>
            <a:r>
              <a:rPr b="1">
                <a:solidFill>
                  <a:srgbClr val="007020"/>
                </a:solidFill>
                <a:latin typeface="Courier"/>
              </a:rPr>
              <a:t>-</a:t>
            </a:r>
            <a:r>
              <a:rPr>
                <a:solidFill>
                  <a:srgbClr val="7D9029"/>
                </a:solidFill>
                <a:latin typeface="Courier"/>
              </a:rPr>
              <a:t> </a:t>
            </a:r>
            <a:r>
              <a:rPr>
                <a:solidFill>
                  <a:srgbClr val="06287E"/>
                </a:solidFill>
                <a:latin typeface="Courier"/>
              </a:rPr>
              <a:t>name</a:t>
            </a:r>
            <a:r>
              <a:rPr b="1">
                <a:solidFill>
                  <a:srgbClr val="007020"/>
                </a:solidFill>
                <a:latin typeface="Courier"/>
              </a:rPr>
              <a:t>:</a:t>
            </a:r>
            <a:r>
              <a:rPr>
                <a:solidFill>
                  <a:srgbClr val="7D9029"/>
                </a:solidFill>
                <a:latin typeface="Courier"/>
              </a:rPr>
              <a:t> ShieldX Secrets Scan</a:t>
            </a:r>
            <a:br/>
            <a:r>
              <a:rPr>
                <a:solidFill>
                  <a:srgbClr val="06287E"/>
                </a:solidFill>
                <a:latin typeface="Courier"/>
              </a:rPr>
              <a:t>        run</a:t>
            </a:r>
            <a:r>
              <a:rPr b="1">
                <a:solidFill>
                  <a:srgbClr val="007020"/>
                </a:solidFill>
                <a:latin typeface="Courier"/>
              </a:rPr>
              <a:t>: </a:t>
            </a:r>
            <a:r>
              <a:rPr>
                <a:solidFill>
                  <a:srgbClr val="4070A0"/>
                </a:solidFill>
                <a:latin typeface="Courier"/>
              </a:rPr>
              <a:t>|</a:t>
            </a:r>
            <a:br/>
            <a:r>
              <a:rPr>
                <a:latin typeface="Courier"/>
              </a:rPr>
              <a:t>          # Combine source files for scanning</a:t>
            </a:r>
            <a:br/>
            <a:r>
              <a:rPr>
                <a:latin typeface="Courier"/>
              </a:rPr>
              <a:t>          CODE=$(find src -name "*.ts" -o -name "*.js" | head -20 | xargs cat)</a:t>
            </a:r>
            <a:br/>
            <a:r>
              <a:rPr>
                <a:latin typeface="Courier"/>
              </a:rPr>
              <a:t>          RESULT=$(curl -s -X POST https://securecodereviews.com/api/shieldx/scan-secrets \</a:t>
            </a:r>
            <a:br/>
            <a:r>
              <a:rPr>
                <a:latin typeface="Courier"/>
              </a:rPr>
              <a:t>            -H "Content-Type: application/json" \</a:t>
            </a:r>
            <a:br/>
            <a:r>
              <a:rPr>
                <a:latin typeface="Courier"/>
              </a:rPr>
              <a:t>            -H "x-shieldx-api-key: ${{ secrets.SHIELDX_API_KEY }}" \</a:t>
            </a:r>
            <a:br/>
            <a:r>
              <a:rPr>
                <a:latin typeface="Courier"/>
              </a:rPr>
              <a:t>            -d "{\"code\": $(echo "$CODE" | jq -Rs .)}")</a:t>
            </a:r>
            <a:br/>
            <a:r>
              <a:rPr>
                <a:latin typeface="Courier"/>
              </a:rPr>
              <a:t>          HIGH=$(echo "$RESULT" | jq -r '.stats.high // 0')</a:t>
            </a:r>
            <a:br/>
            <a:r>
              <a:rPr>
                <a:latin typeface="Courier"/>
              </a:rPr>
              <a:t>          if [ "$HIGH" -gt 0 ]; then</a:t>
            </a:r>
            <a:br/>
            <a:r>
              <a:rPr>
                <a:latin typeface="Courier"/>
              </a:rPr>
              <a:t>            echo "::error::High-confidence secrets detected!"</a:t>
            </a:r>
            <a:br/>
            <a:r>
              <a:rPr>
                <a:latin typeface="Courier"/>
              </a:rPr>
              <a:t>            exit 1</a:t>
            </a:r>
            <a:br/>
            <a:r>
              <a:rPr>
                <a:latin typeface="Courier"/>
              </a:rPr>
              <a:t>          fi</a:t>
            </a:r>
          </a:p>
          <a:p>
            <a:pPr lvl="0" indent="0" marL="0">
              <a:spcBef>
                <a:spcPts val="3000"/>
              </a:spcBef>
              <a:buNone/>
            </a:pPr>
            <a:r>
              <a:rPr b="1"/>
              <a:t>GitLab CI</a:t>
            </a:r>
          </a:p>
          <a:p>
            <a:pPr lvl="0" indent="0">
              <a:buNone/>
            </a:pPr>
            <a:r>
              <a:rPr>
                <a:solidFill>
                  <a:srgbClr val="06287E"/>
                </a:solidFill>
                <a:latin typeface="Courier"/>
              </a:rPr>
              <a:t>shieldx-scan</a:t>
            </a:r>
            <a:r>
              <a:rPr b="1">
                <a:solidFill>
                  <a:srgbClr val="007020"/>
                </a:solidFill>
                <a:latin typeface="Courier"/>
              </a:rPr>
              <a:t>:</a:t>
            </a:r>
            <a:br/>
            <a:r>
              <a:rPr>
                <a:solidFill>
                  <a:srgbClr val="7D9029"/>
                </a:solidFill>
                <a:latin typeface="Courier"/>
              </a:rPr>
              <a:t>  </a:t>
            </a:r>
            <a:r>
              <a:rPr>
                <a:solidFill>
                  <a:srgbClr val="06287E"/>
                </a:solidFill>
                <a:latin typeface="Courier"/>
              </a:rPr>
              <a:t>stage</a:t>
            </a:r>
            <a:r>
              <a:rPr b="1">
                <a:solidFill>
                  <a:srgbClr val="007020"/>
                </a:solidFill>
                <a:latin typeface="Courier"/>
              </a:rPr>
              <a:t>:</a:t>
            </a:r>
            <a:r>
              <a:rPr>
                <a:solidFill>
                  <a:srgbClr val="7D9029"/>
                </a:solidFill>
                <a:latin typeface="Courier"/>
              </a:rPr>
              <a:t> test</a:t>
            </a:r>
            <a:br/>
            <a:r>
              <a:rPr>
                <a:solidFill>
                  <a:srgbClr val="7D9029"/>
                </a:solidFill>
                <a:latin typeface="Courier"/>
              </a:rPr>
              <a:t>  </a:t>
            </a:r>
            <a:r>
              <a:rPr>
                <a:solidFill>
                  <a:srgbClr val="06287E"/>
                </a:solidFill>
                <a:latin typeface="Courier"/>
              </a:rPr>
              <a:t>image</a:t>
            </a:r>
            <a:r>
              <a:rPr b="1">
                <a:solidFill>
                  <a:srgbClr val="007020"/>
                </a:solidFill>
                <a:latin typeface="Courier"/>
              </a:rPr>
              <a:t>:</a:t>
            </a:r>
            <a:r>
              <a:rPr>
                <a:solidFill>
                  <a:srgbClr val="7D9029"/>
                </a:solidFill>
                <a:latin typeface="Courier"/>
              </a:rPr>
              <a:t> curlimages/curl:latest</a:t>
            </a:r>
            <a:br/>
            <a:r>
              <a:rPr>
                <a:solidFill>
                  <a:srgbClr val="7D9029"/>
                </a:solidFill>
                <a:latin typeface="Courier"/>
              </a:rPr>
              <a:t>  </a:t>
            </a:r>
            <a:r>
              <a:rPr>
                <a:solidFill>
                  <a:srgbClr val="06287E"/>
                </a:solidFill>
                <a:latin typeface="Courier"/>
              </a:rPr>
              <a:t>script</a:t>
            </a:r>
            <a:r>
              <a:rPr b="1">
                <a:solidFill>
                  <a:srgbClr val="007020"/>
                </a:solidFill>
                <a:latin typeface="Courier"/>
              </a:rPr>
              <a:t>:</a:t>
            </a:r>
            <a:br/>
            <a:r>
              <a:rPr b="1">
                <a:solidFill>
                  <a:srgbClr val="007020"/>
                </a:solidFill>
                <a:latin typeface="Courier"/>
              </a:rPr>
              <a:t>    - </a:t>
            </a:r>
            <a:r>
              <a:rPr>
                <a:solidFill>
                  <a:srgbClr val="4070A0"/>
                </a:solidFill>
                <a:latin typeface="Courier"/>
              </a:rPr>
              <a:t>|</a:t>
            </a:r>
            <a:br/>
            <a:r>
              <a:rPr>
                <a:latin typeface="Courier"/>
              </a:rPr>
              <a:t>      RESULT=$(curl -s -X POST https://securecodereviews.com/api/shieldx/scan-deps \</a:t>
            </a:r>
            <a:br/>
            <a:r>
              <a:rPr>
                <a:latin typeface="Courier"/>
              </a:rPr>
              <a:t>        -H "Content-Type: application/json" \</a:t>
            </a:r>
            <a:br/>
            <a:r>
              <a:rPr>
                <a:latin typeface="Courier"/>
              </a:rPr>
              <a:t>        -H "x-shieldx-api-key: ${SHIELDX_API_KEY}" \</a:t>
            </a:r>
            <a:br/>
            <a:r>
              <a:rPr>
                <a:latin typeface="Courier"/>
              </a:rPr>
              <a:t>        -d "{\"input\": $(cat package.json | jq -Rs .)}")</a:t>
            </a:r>
            <a:br/>
            <a:r>
              <a:rPr>
                <a:latin typeface="Courier"/>
              </a:rPr>
              <a:t>      CRITICAL=$(echo "$RESULT" | jq -r '.stats.critical // 0')</a:t>
            </a:r>
            <a:br/>
            <a:r>
              <a:rPr>
                <a:latin typeface="Courier"/>
              </a:rPr>
              <a:t>      if [ "$CRITICAL" -gt 0 ]; then exit 1; fi</a:t>
            </a:r>
          </a:p>
          <a:p>
            <a:pPr lvl="0" indent="0" marL="0">
              <a:spcBef>
                <a:spcPts val="3000"/>
              </a:spcBef>
              <a:buNone/>
            </a:pPr>
            <a:r>
              <a:rPr b="1"/>
              <a:t>cURL (Any CI)</a:t>
            </a:r>
          </a:p>
          <a:p>
            <a:pPr lvl="0" indent="0">
              <a:buNone/>
            </a:pPr>
            <a:r>
              <a:rPr i="1">
                <a:solidFill>
                  <a:srgbClr val="60A0B0"/>
                </a:solidFill>
                <a:latin typeface="Courier"/>
              </a:rPr>
              <a:t># Secrets scan</a:t>
            </a:r>
            <a:br/>
            <a:r>
              <a:rPr>
                <a:latin typeface="Courier"/>
              </a:rPr>
              <a:t>curl </a:t>
            </a:r>
            <a:r>
              <a:rPr>
                <a:solidFill>
                  <a:srgbClr val="7D9029"/>
                </a:solidFill>
                <a:latin typeface="Courier"/>
              </a:rPr>
              <a:t>-s</a:t>
            </a:r>
            <a:r>
              <a:rPr>
                <a:latin typeface="Courier"/>
              </a:rPr>
              <a:t> </a:t>
            </a:r>
            <a:r>
              <a:rPr>
                <a:solidFill>
                  <a:srgbClr val="7D9029"/>
                </a:solidFill>
                <a:latin typeface="Courier"/>
              </a:rPr>
              <a:t>-X</a:t>
            </a:r>
            <a:r>
              <a:rPr>
                <a:latin typeface="Courier"/>
              </a:rPr>
              <a:t> POST https://securecodereviews.com/api/shieldx/scan-secrets </a:t>
            </a:r>
            <a:r>
              <a:rPr>
                <a:solidFill>
                  <a:srgbClr val="902000"/>
                </a:solidFill>
                <a:latin typeface="Courier"/>
              </a:rPr>
              <a:t>\</a:t>
            </a:r>
            <a:br/>
            <a:r>
              <a:rPr>
                <a:latin typeface="Courier"/>
              </a:rPr>
              <a:t>  </a:t>
            </a:r>
            <a:r>
              <a:rPr>
                <a:solidFill>
                  <a:srgbClr val="7D9029"/>
                </a:solidFill>
                <a:latin typeface="Courier"/>
              </a:rPr>
              <a:t>-H</a:t>
            </a:r>
            <a:r>
              <a:rPr>
                <a:latin typeface="Courier"/>
              </a:rPr>
              <a:t> </a:t>
            </a:r>
            <a:r>
              <a:rPr>
                <a:solidFill>
                  <a:srgbClr val="4070A0"/>
                </a:solidFill>
                <a:latin typeface="Courier"/>
              </a:rPr>
              <a:t>"Content-Type: application/json"</a:t>
            </a:r>
            <a:r>
              <a:rPr>
                <a:latin typeface="Courier"/>
              </a:rPr>
              <a:t> </a:t>
            </a:r>
            <a:r>
              <a:rPr>
                <a:solidFill>
                  <a:srgbClr val="902000"/>
                </a:solidFill>
                <a:latin typeface="Courier"/>
              </a:rPr>
              <a:t>\</a:t>
            </a:r>
            <a:br/>
            <a:r>
              <a:rPr>
                <a:latin typeface="Courier"/>
              </a:rPr>
              <a:t>  </a:t>
            </a:r>
            <a:r>
              <a:rPr>
                <a:solidFill>
                  <a:srgbClr val="7D9029"/>
                </a:solidFill>
                <a:latin typeface="Courier"/>
              </a:rPr>
              <a:t>-H</a:t>
            </a:r>
            <a:r>
              <a:rPr>
                <a:latin typeface="Courier"/>
              </a:rPr>
              <a:t> </a:t>
            </a:r>
            <a:r>
              <a:rPr>
                <a:solidFill>
                  <a:srgbClr val="4070A0"/>
                </a:solidFill>
                <a:latin typeface="Courier"/>
              </a:rPr>
              <a:t>"x-shieldx-api-key: YOUR_API_KEY"</a:t>
            </a:r>
            <a:r>
              <a:rPr>
                <a:latin typeface="Courier"/>
              </a:rPr>
              <a:t> </a:t>
            </a:r>
            <a:r>
              <a:rPr>
                <a:solidFill>
                  <a:srgbClr val="902000"/>
                </a:solidFill>
                <a:latin typeface="Courier"/>
              </a:rPr>
              <a:t>\</a:t>
            </a:r>
            <a:br/>
            <a:r>
              <a:rPr>
                <a:latin typeface="Courier"/>
              </a:rPr>
              <a:t>  </a:t>
            </a:r>
            <a:r>
              <a:rPr>
                <a:solidFill>
                  <a:srgbClr val="7D9029"/>
                </a:solidFill>
                <a:latin typeface="Courier"/>
              </a:rPr>
              <a:t>-d</a:t>
            </a:r>
            <a:r>
              <a:rPr>
                <a:latin typeface="Courier"/>
              </a:rPr>
              <a:t> </a:t>
            </a:r>
            <a:r>
              <a:rPr>
                <a:solidFill>
                  <a:srgbClr val="4070A0"/>
                </a:solidFill>
                <a:latin typeface="Courier"/>
              </a:rPr>
              <a:t>'{"code": "your source code here..."}'</a:t>
            </a:r>
            <a:br/>
            <a:br/>
            <a:r>
              <a:rPr i="1">
                <a:solidFill>
                  <a:srgbClr val="60A0B0"/>
                </a:solidFill>
                <a:latin typeface="Courier"/>
              </a:rPr>
              <a:t># Dependency scan</a:t>
            </a:r>
            <a:br/>
            <a:r>
              <a:rPr>
                <a:latin typeface="Courier"/>
              </a:rPr>
              <a:t>curl </a:t>
            </a:r>
            <a:r>
              <a:rPr>
                <a:solidFill>
                  <a:srgbClr val="7D9029"/>
                </a:solidFill>
                <a:latin typeface="Courier"/>
              </a:rPr>
              <a:t>-s</a:t>
            </a:r>
            <a:r>
              <a:rPr>
                <a:latin typeface="Courier"/>
              </a:rPr>
              <a:t> </a:t>
            </a:r>
            <a:r>
              <a:rPr>
                <a:solidFill>
                  <a:srgbClr val="7D9029"/>
                </a:solidFill>
                <a:latin typeface="Courier"/>
              </a:rPr>
              <a:t>-X</a:t>
            </a:r>
            <a:r>
              <a:rPr>
                <a:latin typeface="Courier"/>
              </a:rPr>
              <a:t> POST https://securecodereviews.com/api/shieldx/scan-deps </a:t>
            </a:r>
            <a:r>
              <a:rPr>
                <a:solidFill>
                  <a:srgbClr val="902000"/>
                </a:solidFill>
                <a:latin typeface="Courier"/>
              </a:rPr>
              <a:t>\</a:t>
            </a:r>
            <a:br/>
            <a:r>
              <a:rPr>
                <a:latin typeface="Courier"/>
              </a:rPr>
              <a:t>  </a:t>
            </a:r>
            <a:r>
              <a:rPr>
                <a:solidFill>
                  <a:srgbClr val="7D9029"/>
                </a:solidFill>
                <a:latin typeface="Courier"/>
              </a:rPr>
              <a:t>-H</a:t>
            </a:r>
            <a:r>
              <a:rPr>
                <a:latin typeface="Courier"/>
              </a:rPr>
              <a:t> </a:t>
            </a:r>
            <a:r>
              <a:rPr>
                <a:solidFill>
                  <a:srgbClr val="4070A0"/>
                </a:solidFill>
                <a:latin typeface="Courier"/>
              </a:rPr>
              <a:t>"Content-Type: application/json"</a:t>
            </a:r>
            <a:r>
              <a:rPr>
                <a:latin typeface="Courier"/>
              </a:rPr>
              <a:t> </a:t>
            </a:r>
            <a:r>
              <a:rPr>
                <a:solidFill>
                  <a:srgbClr val="902000"/>
                </a:solidFill>
                <a:latin typeface="Courier"/>
              </a:rPr>
              <a:t>\</a:t>
            </a:r>
            <a:br/>
            <a:r>
              <a:rPr>
                <a:latin typeface="Courier"/>
              </a:rPr>
              <a:t>  </a:t>
            </a:r>
            <a:r>
              <a:rPr>
                <a:solidFill>
                  <a:srgbClr val="7D9029"/>
                </a:solidFill>
                <a:latin typeface="Courier"/>
              </a:rPr>
              <a:t>-H</a:t>
            </a:r>
            <a:r>
              <a:rPr>
                <a:latin typeface="Courier"/>
              </a:rPr>
              <a:t> </a:t>
            </a:r>
            <a:r>
              <a:rPr>
                <a:solidFill>
                  <a:srgbClr val="4070A0"/>
                </a:solidFill>
                <a:latin typeface="Courier"/>
              </a:rPr>
              <a:t>"x-shieldx-api-key: YOUR_API_KEY"</a:t>
            </a:r>
            <a:r>
              <a:rPr>
                <a:latin typeface="Courier"/>
              </a:rPr>
              <a:t> </a:t>
            </a:r>
            <a:r>
              <a:rPr>
                <a:solidFill>
                  <a:srgbClr val="902000"/>
                </a:solidFill>
                <a:latin typeface="Courier"/>
              </a:rPr>
              <a:t>\</a:t>
            </a:r>
            <a:br/>
            <a:r>
              <a:rPr>
                <a:latin typeface="Courier"/>
              </a:rPr>
              <a:t>  </a:t>
            </a:r>
            <a:r>
              <a:rPr>
                <a:solidFill>
                  <a:srgbClr val="7D9029"/>
                </a:solidFill>
                <a:latin typeface="Courier"/>
              </a:rPr>
              <a:t>-d</a:t>
            </a:r>
            <a:r>
              <a:rPr>
                <a:latin typeface="Courier"/>
              </a:rPr>
              <a:t> </a:t>
            </a:r>
            <a:r>
              <a:rPr>
                <a:solidFill>
                  <a:srgbClr val="4070A0"/>
                </a:solidFill>
                <a:latin typeface="Courier"/>
              </a:rPr>
              <a:t>'{"input": "{\"dependencies\":{\"express\":\"4.17.1\"}}"}'</a:t>
            </a:r>
            <a:br/>
            <a:br/>
            <a:r>
              <a:rPr i="1">
                <a:solidFill>
                  <a:srgbClr val="60A0B0"/>
                </a:solidFill>
                <a:latin typeface="Courier"/>
              </a:rPr>
              <a:t># API scan</a:t>
            </a:r>
            <a:br/>
            <a:r>
              <a:rPr>
                <a:latin typeface="Courier"/>
              </a:rPr>
              <a:t>curl </a:t>
            </a:r>
            <a:r>
              <a:rPr>
                <a:solidFill>
                  <a:srgbClr val="7D9029"/>
                </a:solidFill>
                <a:latin typeface="Courier"/>
              </a:rPr>
              <a:t>-s</a:t>
            </a:r>
            <a:r>
              <a:rPr>
                <a:latin typeface="Courier"/>
              </a:rPr>
              <a:t> </a:t>
            </a:r>
            <a:r>
              <a:rPr>
                <a:solidFill>
                  <a:srgbClr val="7D9029"/>
                </a:solidFill>
                <a:latin typeface="Courier"/>
              </a:rPr>
              <a:t>-X</a:t>
            </a:r>
            <a:r>
              <a:rPr>
                <a:latin typeface="Courier"/>
              </a:rPr>
              <a:t> POST https://securecodereviews.com/api/shieldx/scan-api </a:t>
            </a:r>
            <a:r>
              <a:rPr>
                <a:solidFill>
                  <a:srgbClr val="902000"/>
                </a:solidFill>
                <a:latin typeface="Courier"/>
              </a:rPr>
              <a:t>\</a:t>
            </a:r>
            <a:br/>
            <a:r>
              <a:rPr>
                <a:latin typeface="Courier"/>
              </a:rPr>
              <a:t>  </a:t>
            </a:r>
            <a:r>
              <a:rPr>
                <a:solidFill>
                  <a:srgbClr val="7D9029"/>
                </a:solidFill>
                <a:latin typeface="Courier"/>
              </a:rPr>
              <a:t>-H</a:t>
            </a:r>
            <a:r>
              <a:rPr>
                <a:latin typeface="Courier"/>
              </a:rPr>
              <a:t> </a:t>
            </a:r>
            <a:r>
              <a:rPr>
                <a:solidFill>
                  <a:srgbClr val="4070A0"/>
                </a:solidFill>
                <a:latin typeface="Courier"/>
              </a:rPr>
              <a:t>"Content-Type: application/json"</a:t>
            </a:r>
            <a:r>
              <a:rPr>
                <a:latin typeface="Courier"/>
              </a:rPr>
              <a:t> </a:t>
            </a:r>
            <a:r>
              <a:rPr>
                <a:solidFill>
                  <a:srgbClr val="902000"/>
                </a:solidFill>
                <a:latin typeface="Courier"/>
              </a:rPr>
              <a:t>\</a:t>
            </a:r>
            <a:br/>
            <a:r>
              <a:rPr>
                <a:latin typeface="Courier"/>
              </a:rPr>
              <a:t>  </a:t>
            </a:r>
            <a:r>
              <a:rPr>
                <a:solidFill>
                  <a:srgbClr val="7D9029"/>
                </a:solidFill>
                <a:latin typeface="Courier"/>
              </a:rPr>
              <a:t>-H</a:t>
            </a:r>
            <a:r>
              <a:rPr>
                <a:latin typeface="Courier"/>
              </a:rPr>
              <a:t> </a:t>
            </a:r>
            <a:r>
              <a:rPr>
                <a:solidFill>
                  <a:srgbClr val="4070A0"/>
                </a:solidFill>
                <a:latin typeface="Courier"/>
              </a:rPr>
              <a:t>"x-shieldx-api-key: YOUR_API_KEY"</a:t>
            </a:r>
            <a:r>
              <a:rPr>
                <a:latin typeface="Courier"/>
              </a:rPr>
              <a:t> </a:t>
            </a:r>
            <a:r>
              <a:rPr>
                <a:solidFill>
                  <a:srgbClr val="902000"/>
                </a:solidFill>
                <a:latin typeface="Courier"/>
              </a:rPr>
              <a:t>\</a:t>
            </a:r>
            <a:br/>
            <a:r>
              <a:rPr>
                <a:latin typeface="Courier"/>
              </a:rPr>
              <a:t>  </a:t>
            </a:r>
            <a:r>
              <a:rPr>
                <a:solidFill>
                  <a:srgbClr val="7D9029"/>
                </a:solidFill>
                <a:latin typeface="Courier"/>
              </a:rPr>
              <a:t>-d</a:t>
            </a:r>
            <a:r>
              <a:rPr>
                <a:latin typeface="Courier"/>
              </a:rPr>
              <a:t> </a:t>
            </a:r>
            <a:r>
              <a:rPr>
                <a:solidFill>
                  <a:srgbClr val="4070A0"/>
                </a:solidFill>
                <a:latin typeface="Courier"/>
              </a:rPr>
              <a:t>'{"url": "https://api.example.com"}'</a:t>
            </a:r>
            <a:br/>
            <a:br/>
            <a:r>
              <a:rPr i="1">
                <a:solidFill>
                  <a:srgbClr val="60A0B0"/>
                </a:solidFill>
                <a:latin typeface="Courier"/>
              </a:rPr>
              <a:t># Cloud config audit</a:t>
            </a:r>
            <a:br/>
            <a:r>
              <a:rPr>
                <a:latin typeface="Courier"/>
              </a:rPr>
              <a:t>curl </a:t>
            </a:r>
            <a:r>
              <a:rPr>
                <a:solidFill>
                  <a:srgbClr val="7D9029"/>
                </a:solidFill>
                <a:latin typeface="Courier"/>
              </a:rPr>
              <a:t>-s</a:t>
            </a:r>
            <a:r>
              <a:rPr>
                <a:latin typeface="Courier"/>
              </a:rPr>
              <a:t> </a:t>
            </a:r>
            <a:r>
              <a:rPr>
                <a:solidFill>
                  <a:srgbClr val="7D9029"/>
                </a:solidFill>
                <a:latin typeface="Courier"/>
              </a:rPr>
              <a:t>-X</a:t>
            </a:r>
            <a:r>
              <a:rPr>
                <a:latin typeface="Courier"/>
              </a:rPr>
              <a:t> POST https://securecodereviews.com/api/shieldx/scan-cloud </a:t>
            </a:r>
            <a:r>
              <a:rPr>
                <a:solidFill>
                  <a:srgbClr val="902000"/>
                </a:solidFill>
                <a:latin typeface="Courier"/>
              </a:rPr>
              <a:t>\</a:t>
            </a:r>
            <a:br/>
            <a:r>
              <a:rPr>
                <a:latin typeface="Courier"/>
              </a:rPr>
              <a:t>  </a:t>
            </a:r>
            <a:r>
              <a:rPr>
                <a:solidFill>
                  <a:srgbClr val="7D9029"/>
                </a:solidFill>
                <a:latin typeface="Courier"/>
              </a:rPr>
              <a:t>-H</a:t>
            </a:r>
            <a:r>
              <a:rPr>
                <a:latin typeface="Courier"/>
              </a:rPr>
              <a:t> </a:t>
            </a:r>
            <a:r>
              <a:rPr>
                <a:solidFill>
                  <a:srgbClr val="4070A0"/>
                </a:solidFill>
                <a:latin typeface="Courier"/>
              </a:rPr>
              <a:t>"Content-Type: application/json"</a:t>
            </a:r>
            <a:r>
              <a:rPr>
                <a:latin typeface="Courier"/>
              </a:rPr>
              <a:t> </a:t>
            </a:r>
            <a:r>
              <a:rPr>
                <a:solidFill>
                  <a:srgbClr val="902000"/>
                </a:solidFill>
                <a:latin typeface="Courier"/>
              </a:rPr>
              <a:t>\</a:t>
            </a:r>
            <a:br/>
            <a:r>
              <a:rPr>
                <a:latin typeface="Courier"/>
              </a:rPr>
              <a:t>  </a:t>
            </a:r>
            <a:r>
              <a:rPr>
                <a:solidFill>
                  <a:srgbClr val="7D9029"/>
                </a:solidFill>
                <a:latin typeface="Courier"/>
              </a:rPr>
              <a:t>-H</a:t>
            </a:r>
            <a:r>
              <a:rPr>
                <a:latin typeface="Courier"/>
              </a:rPr>
              <a:t> </a:t>
            </a:r>
            <a:r>
              <a:rPr>
                <a:solidFill>
                  <a:srgbClr val="4070A0"/>
                </a:solidFill>
                <a:latin typeface="Courier"/>
              </a:rPr>
              <a:t>"x-shieldx-api-key: YOUR_API_KEY"</a:t>
            </a:r>
            <a:r>
              <a:rPr>
                <a:latin typeface="Courier"/>
              </a:rPr>
              <a:t> </a:t>
            </a:r>
            <a:r>
              <a:rPr>
                <a:solidFill>
                  <a:srgbClr val="902000"/>
                </a:solidFill>
                <a:latin typeface="Courier"/>
              </a:rPr>
              <a:t>\</a:t>
            </a:r>
            <a:br/>
            <a:r>
              <a:rPr>
                <a:latin typeface="Courier"/>
              </a:rPr>
              <a:t>  </a:t>
            </a:r>
            <a:r>
              <a:rPr>
                <a:solidFill>
                  <a:srgbClr val="7D9029"/>
                </a:solidFill>
                <a:latin typeface="Courier"/>
              </a:rPr>
              <a:t>-d</a:t>
            </a:r>
            <a:r>
              <a:rPr>
                <a:latin typeface="Courier"/>
              </a:rPr>
              <a:t> </a:t>
            </a:r>
            <a:r>
              <a:rPr>
                <a:solidFill>
                  <a:srgbClr val="4070A0"/>
                </a:solidFill>
                <a:latin typeface="Courier"/>
              </a:rPr>
              <a:t>'{"config": "resource aws_s3_bucket..."}'</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13. Security Hardening</a:t>
            </a:r>
          </a:p>
        </p:txBody>
      </p:sp>
      <p:sp>
        <p:nvSpPr>
          <p:cNvPr id="4" name="Text Placeholder 3"/>
          <p:cNvSpPr>
            <a:spLocks noGrp="1"/>
          </p:cNvSpPr>
          <p:nvPr>
            <p:ph idx="2" sz="half" type="body"/>
          </p:nvPr>
        </p:nvSpPr>
        <p:spPr/>
        <p:txBody>
          <a:bodyPr/>
          <a:lstStyle/>
          <a:p>
            <a:pPr lvl="0" indent="0" marL="0">
              <a:spcBef>
                <a:spcPts val="3000"/>
              </a:spcBef>
              <a:buNone/>
            </a:pPr>
            <a:r>
              <a:rPr b="1"/>
              <a:t>Implemented Security Controls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917700"/>
                <a:gridCol w="3187700"/>
              </a:tblGrid>
              <a:tr h="0">
                <a:tc>
                  <a:txBody>
                    <a:bodyPr/>
                    <a:lstStyle/>
                    <a:p>
                      <a:pPr lvl="0" indent="0" marL="0">
                        <a:buNone/>
                      </a:pPr>
                      <a:r>
                        <a:rPr/>
                        <a:t>Control</a:t>
                      </a:r>
                    </a:p>
                  </a:txBody>
                  <a:tcPr/>
                </a:tc>
                <a:tc>
                  <a:txBody>
                    <a:bodyPr/>
                    <a:lstStyle/>
                    <a:p>
                      <a:pPr lvl="0" indent="0" marL="0">
                        <a:buNone/>
                      </a:pPr>
                      <a:r>
                        <a:rPr/>
                        <a:t>Implementation</a:t>
                      </a:r>
                    </a:p>
                  </a:txBody>
                  <a:tcPr/>
                </a:tc>
              </a:tr>
              <a:tr h="0">
                <a:tc>
                  <a:txBody>
                    <a:bodyPr/>
                    <a:lstStyle/>
                    <a:p>
                      <a:pPr lvl="0" indent="0" marL="0">
                        <a:buNone/>
                      </a:pPr>
                      <a:r>
                        <a:rPr b="1"/>
                        <a:t>SSRF Protection</a:t>
                      </a:r>
                    </a:p>
                  </a:txBody>
                </a:tc>
                <a:tc>
                  <a:txBody>
                    <a:bodyPr/>
                    <a:lstStyle/>
                    <a:p>
                      <a:pPr lvl="0" indent="0" marL="0">
                        <a:buNone/>
                      </a:pPr>
                      <a:r>
                        <a:rPr/>
                        <a:t>API scanner blocks private IPs, metadata endpoints</a:t>
                      </a:r>
                    </a:p>
                  </a:txBody>
                </a:tc>
              </a:tr>
              <a:tr h="0">
                <a:tc>
                  <a:txBody>
                    <a:bodyPr/>
                    <a:lstStyle/>
                    <a:p>
                      <a:pPr lvl="0" indent="0" marL="0">
                        <a:buNone/>
                      </a:pPr>
                      <a:r>
                        <a:rPr b="1"/>
                        <a:t>Input Validation</a:t>
                      </a:r>
                    </a:p>
                  </a:txBody>
                </a:tc>
                <a:tc>
                  <a:txBody>
                    <a:bodyPr/>
                    <a:lstStyle/>
                    <a:p>
                      <a:pPr lvl="0" indent="0" marL="0">
                        <a:buNone/>
                      </a:pPr>
                      <a:r>
                        <a:rPr/>
                        <a:t>Size limits, type checking on all endpoints</a:t>
                      </a:r>
                    </a:p>
                  </a:txBody>
                </a:tc>
              </a:tr>
              <a:tr h="0">
                <a:tc>
                  <a:txBody>
                    <a:bodyPr/>
                    <a:lstStyle/>
                    <a:p>
                      <a:pPr lvl="0" indent="0" marL="0">
                        <a:buNone/>
                      </a:pPr>
                      <a:r>
                        <a:rPr b="1"/>
                        <a:t>Rate Limiting</a:t>
                      </a:r>
                    </a:p>
                  </a:txBody>
                </a:tc>
                <a:tc>
                  <a:txBody>
                    <a:bodyPr/>
                    <a:lstStyle/>
                    <a:p>
                      <a:pPr lvl="0" indent="0" marL="0">
                        <a:buNone/>
                      </a:pPr>
                      <a:r>
                        <a:rPr/>
                        <a:t>In-memory per-IP for demo, per-user for paid</a:t>
                      </a:r>
                    </a:p>
                  </a:txBody>
                </a:tc>
              </a:tr>
              <a:tr h="0">
                <a:tc>
                  <a:txBody>
                    <a:bodyPr/>
                    <a:lstStyle/>
                    <a:p>
                      <a:pPr lvl="0" indent="0" marL="0">
                        <a:buNone/>
                      </a:pPr>
                      <a:r>
                        <a:rPr b="1"/>
                        <a:t>Auth Bypass Prevention</a:t>
                      </a:r>
                    </a:p>
                  </a:txBody>
                </a:tc>
                <a:tc>
                  <a:txBody>
                    <a:bodyPr/>
                    <a:lstStyle/>
                    <a:p>
                      <a:pPr lvl="0" indent="0" marL="0">
                        <a:buNone/>
                      </a:pPr>
                      <a:r>
                        <a:rPr/>
                        <a:t>Dual auth check (session + API key)</a:t>
                      </a:r>
                    </a:p>
                  </a:txBody>
                </a:tc>
              </a:tr>
              <a:tr h="0">
                <a:tc>
                  <a:txBody>
                    <a:bodyPr/>
                    <a:lstStyle/>
                    <a:p>
                      <a:pPr lvl="0" indent="0" marL="0">
                        <a:buNone/>
                      </a:pPr>
                      <a:r>
                        <a:rPr b="1"/>
                        <a:t>Timing Attack Protection</a:t>
                      </a:r>
                    </a:p>
                  </a:txBody>
                </a:tc>
                <a:tc>
                  <a:txBody>
                    <a:bodyPr/>
                    <a:lstStyle/>
                    <a:p>
                      <a:pPr lvl="0" indent="0" marL="0">
                        <a:buNone/>
                      </a:pPr>
                      <a:r>
                        <a:rPr>
                          <a:latin typeface="Courier"/>
                        </a:rPr>
                        <a:t>timingSafeEqual</a:t>
                      </a:r>
                      <a:r>
                        <a:rPr/>
                        <a:t> for webhook signature verification</a:t>
                      </a:r>
                    </a:p>
                  </a:txBody>
                </a:tc>
              </a:tr>
              <a:tr h="0">
                <a:tc>
                  <a:txBody>
                    <a:bodyPr/>
                    <a:lstStyle/>
                    <a:p>
                      <a:pPr lvl="0" indent="0" marL="0">
                        <a:buNone/>
                      </a:pPr>
                      <a:r>
                        <a:rPr b="1"/>
                        <a:t>XSS Prevention</a:t>
                      </a:r>
                    </a:p>
                  </a:txBody>
                </a:tc>
                <a:tc>
                  <a:txBody>
                    <a:bodyPr/>
                    <a:lstStyle/>
                    <a:p>
                      <a:pPr lvl="0" indent="0" marL="0">
                        <a:buNone/>
                      </a:pPr>
                      <a:r>
                        <a:rPr/>
                        <a:t>React auto-escaping, no </a:t>
                      </a:r>
                      <a:r>
                        <a:rPr>
                          <a:latin typeface="Courier"/>
                        </a:rPr>
                        <a:t>dangerouslySetInnerHTML</a:t>
                      </a:r>
                    </a:p>
                  </a:txBody>
                </a:tc>
              </a:tr>
              <a:tr h="0">
                <a:tc>
                  <a:txBody>
                    <a:bodyPr/>
                    <a:lstStyle/>
                    <a:p>
                      <a:pPr lvl="0" indent="0" marL="0">
                        <a:buNone/>
                      </a:pPr>
                      <a:r>
                        <a:rPr b="1"/>
                        <a:t>CSRF Protection</a:t>
                      </a:r>
                    </a:p>
                  </a:txBody>
                </a:tc>
                <a:tc>
                  <a:txBody>
                    <a:bodyPr/>
                    <a:lstStyle/>
                    <a:p>
                      <a:pPr lvl="0" indent="0" marL="0">
                        <a:buNone/>
                      </a:pPr>
                      <a:r>
                        <a:rPr/>
                        <a:t>SameSite cookies, same-origin fetch</a:t>
                      </a:r>
                    </a:p>
                  </a:txBody>
                </a:tc>
              </a:tr>
              <a:tr h="0">
                <a:tc>
                  <a:txBody>
                    <a:bodyPr/>
                    <a:lstStyle/>
                    <a:p>
                      <a:pPr lvl="0" indent="0" marL="0">
                        <a:buNone/>
                      </a:pPr>
                      <a:r>
                        <a:rPr b="1"/>
                        <a:t>SQL Injection</a:t>
                      </a:r>
                    </a:p>
                  </a:txBody>
                </a:tc>
                <a:tc>
                  <a:txBody>
                    <a:bodyPr/>
                    <a:lstStyle/>
                    <a:p>
                      <a:pPr lvl="0" indent="0" marL="0">
                        <a:buNone/>
                      </a:pPr>
                      <a:r>
                        <a:rPr/>
                        <a:t>N/A (MongoDB/Mongoose with parameterized queries)</a:t>
                      </a:r>
                    </a:p>
                  </a:txBody>
                </a:tc>
              </a:tr>
              <a:tr h="0">
                <a:tc>
                  <a:txBody>
                    <a:bodyPr/>
                    <a:lstStyle/>
                    <a:p>
                      <a:pPr lvl="0" indent="0" marL="0">
                        <a:buNone/>
                      </a:pPr>
                      <a:r>
                        <a:rPr b="1"/>
                        <a:t>Password Policy</a:t>
                      </a:r>
                    </a:p>
                  </a:txBody>
                </a:tc>
                <a:tc>
                  <a:txBody>
                    <a:bodyPr/>
                    <a:lstStyle/>
                    <a:p>
                      <a:pPr lvl="0" indent="0" marL="0">
                        <a:buNone/>
                      </a:pPr>
                      <a:r>
                        <a:rPr/>
                        <a:t>10 chars min, uppercase, lowercase, number, special char</a:t>
                      </a:r>
                    </a:p>
                  </a:txBody>
                </a:tc>
              </a:tr>
              <a:tr h="0">
                <a:tc>
                  <a:txBody>
                    <a:bodyPr/>
                    <a:lstStyle/>
                    <a:p>
                      <a:pPr lvl="0" indent="0" marL="0">
                        <a:buNone/>
                      </a:pPr>
                      <a:r>
                        <a:rPr b="1"/>
                        <a:t>Password Storage</a:t>
                      </a:r>
                    </a:p>
                  </a:txBody>
                </a:tc>
                <a:tc>
                  <a:txBody>
                    <a:bodyPr/>
                    <a:lstStyle/>
                    <a:p>
                      <a:pPr lvl="0" indent="0" marL="0">
                        <a:buNone/>
                      </a:pPr>
                      <a:r>
                        <a:rPr/>
                        <a:t>bcrypt with salt rounds</a:t>
                      </a:r>
                    </a:p>
                  </a:txBody>
                </a:tc>
              </a:tr>
              <a:tr h="0">
                <a:tc>
                  <a:txBody>
                    <a:bodyPr/>
                    <a:lstStyle/>
                    <a:p>
                      <a:pPr lvl="0" indent="0" marL="0">
                        <a:buNone/>
                      </a:pPr>
                      <a:r>
                        <a:rPr b="1"/>
                        <a:t>Session Security</a:t>
                      </a:r>
                    </a:p>
                  </a:txBody>
                </a:tc>
                <a:tc>
                  <a:txBody>
                    <a:bodyPr/>
                    <a:lstStyle/>
                    <a:p>
                      <a:pPr lvl="0" indent="0" marL="0">
                        <a:buNone/>
                      </a:pPr>
                      <a:r>
                        <a:rPr/>
                        <a:t>JWT with server-side validation, configurable expiry</a:t>
                      </a:r>
                    </a:p>
                  </a:txBody>
                </a:tc>
              </a:tr>
            </a:tbl>
          </a:graphicData>
        </a:graphic>
      </p:graphicFrame>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Known Limitations (Planned Improvements)</a:t>
            </a:r>
          </a:p>
          <a:p>
            <a:pPr lvl="0" indent="-342900" marL="342900">
              <a:buAutoNum type="arabicPeriod"/>
            </a:pPr>
            <a:r>
              <a:rPr b="1"/>
              <a:t>In-memory rate limiter</a:t>
            </a:r>
            <a:r>
              <a:rPr/>
              <a:t> — Resets on serverless cold starts. Migrate to Redis/Upstash for production scale.</a:t>
            </a:r>
          </a:p>
          <a:p>
            <a:pPr lvl="0" indent="-342900" marL="342900">
              <a:buAutoNum type="arabicPeriod"/>
            </a:pPr>
            <a:r>
              <a:rPr b="1"/>
              <a:t>Single admin password</a:t>
            </a:r>
            <a:r>
              <a:rPr/>
              <a:t> — Currently shared. Needs per-user admin accounts with RBAC.</a:t>
            </a:r>
          </a:p>
          <a:p>
            <a:pPr lvl="0" indent="-342900" marL="342900">
              <a:buAutoNum type="arabicPeriod"/>
            </a:pPr>
            <a:r>
              <a:rPr b="1"/>
              <a:t>CSP unsafe-inline</a:t>
            </a:r>
            <a:r>
              <a:rPr/>
              <a:t> — Required by Next.js + Google Analytics. Working on nonce-based CSP.</a:t>
            </a:r>
          </a:p>
          <a:p>
            <a:pPr lvl="0" indent="-342900" marL="342900">
              <a:buAutoNum type="arabicPeriod"/>
            </a:pPr>
            <a:r>
              <a:rPr b="1"/>
              <a:t>Team invite token</a:t>
            </a:r>
            <a:r>
              <a:rPr/>
              <a:t> — Generated but not fully verified in accept flow. Needs crypto-verified invite links.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File Directory Map</a:t>
            </a:r>
          </a:p>
        </p:txBody>
      </p:sp>
      <p:sp>
        <p:nvSpPr>
          <p:cNvPr id="3" name="Content Placeholder 2"/>
          <p:cNvSpPr>
            <a:spLocks noGrp="1"/>
          </p:cNvSpPr>
          <p:nvPr>
            <p:ph idx="1"/>
          </p:nvPr>
        </p:nvSpPr>
        <p:spPr/>
        <p:txBody>
          <a:bodyPr/>
          <a:lstStyle/>
          <a:p>
            <a:pPr lvl="0" indent="0">
              <a:buNone/>
            </a:pPr>
            <a:r>
              <a:rPr>
                <a:latin typeface="Courier"/>
              </a:rPr>
              <a:t>app/shieldx/
├── page.tsx              # Main workspace (scan UIs, module cards, results)
├── layout.tsx            # Layout wrapper
├── docs/
│   ├── page.tsx          # Product documentation page
│   └── layout.tsx        # Docs layout
└── pricing/
    └── page.tsx          # Pricing plans page
app/api/shieldx/
├── scan-secrets/route.ts     # Secrets scanner API
├── scan-deps/route.ts        # Dependency scanner API
├── scan-api/route.ts         # API security scanner API
├── scan-cloud/route.ts       # Cloud security audit API
├── scan-logs/route.ts        # Threat log analyzer API
├── ci-scan/route.ts          # CI/CD pipeline scan API
├── history/route.ts          # Scan history API
├── api-key/route.ts          # API key management
├── alerts/
│   ├── route.ts              # Alert configuration
│   └── test/route.ts         # Test alert delivery
├── team/route.ts             # Team management (Enterprise)
├── upgrade-plan/route.ts     # Admin plan change
├── demo-signup/route.ts      # Demo registration
└── billing/
    ├── checkout/route.ts     # Create payment order
    ├── subscription/route.ts # Get plan status
    ├── cancel/route.ts       # Cancel subscription
    └── webhook/route.ts      # Razorpay payment webhook
lib/
├── shieldx-access.ts         # Session user extraction, plan checks
├── shieldx-route-auth.ts     # Route-level auth, RBAC, scan limits
├── shieldx-api-key.ts        # API key generation and validation
├── shieldx-alerts.ts         # Alert delivery logic
├── shieldx-billing.ts        # Billing utilities
├── feature-flags.ts          # Plan → feature mapping
├── rate-limit.ts             # In-memory rate limiter
├── mongodb.ts                # Database connection
└── razorpay.ts               # Razorpay client &amp; signature verification
models/
├── User.ts                   # User schema (includes ShieldX fields)
├── ShieldXScan.ts            # Scan history records
├── ShieldXTeam.ts            # Enterprise team management
├── ShieldXAlertConfig.ts     # Alert configuration
└── ShieldXBillingEvent.ts    # Billing audit log</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14. Known Limitations &amp; Technical Boundaries</a:t>
            </a:r>
          </a:p>
        </p:txBody>
      </p:sp>
      <p:sp>
        <p:nvSpPr>
          <p:cNvPr id="4" name="Text Placeholder 3"/>
          <p:cNvSpPr>
            <a:spLocks noGrp="1"/>
          </p:cNvSpPr>
          <p:nvPr>
            <p:ph idx="2" sz="half" type="body"/>
          </p:nvPr>
        </p:nvSpPr>
        <p:spPr/>
        <p:txBody>
          <a:bodyPr/>
          <a:lstStyle/>
          <a:p>
            <a:pPr lvl="0" indent="0" marL="0">
              <a:buNone/>
            </a:pPr>
            <a:r>
              <a:rPr/>
              <a:t>ShieldX is a real, production-grade scanning platform. Below are honest technical boundaries that clients should be aware of.</a:t>
            </a:r>
          </a:p>
          <a:p>
            <a:pPr lvl="0" indent="0" marL="0">
              <a:spcBef>
                <a:spcPts val="3000"/>
              </a:spcBef>
              <a:buNone/>
            </a:pPr>
            <a:r>
              <a:rPr b="1"/>
              <a:t>Scanning Methodology</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2552700"/>
              </a:tblGrid>
              <a:tr h="0">
                <a:tc>
                  <a:txBody>
                    <a:bodyPr/>
                    <a:lstStyle/>
                    <a:p>
                      <a:pPr lvl="0" indent="0" marL="0">
                        <a:buNone/>
                      </a:pPr>
                      <a:r>
                        <a:rPr/>
                        <a:t>Module</a:t>
                      </a:r>
                    </a:p>
                  </a:txBody>
                  <a:tcPr/>
                </a:tc>
                <a:tc>
                  <a:txBody>
                    <a:bodyPr/>
                    <a:lstStyle/>
                    <a:p>
                      <a:pPr lvl="0" indent="0" marL="0">
                        <a:buNone/>
                      </a:pPr>
                      <a:r>
                        <a:rPr/>
                        <a:t>Method</a:t>
                      </a:r>
                    </a:p>
                  </a:txBody>
                  <a:tcPr/>
                </a:tc>
                <a:tc>
                  <a:txBody>
                    <a:bodyPr/>
                    <a:lstStyle/>
                    <a:p>
                      <a:pPr lvl="0" indent="0" marL="0">
                        <a:buNone/>
                      </a:pPr>
                      <a:r>
                        <a:rPr/>
                        <a:t>What This Means</a:t>
                      </a:r>
                    </a:p>
                  </a:txBody>
                  <a:tcPr/>
                </a:tc>
              </a:tr>
              <a:tr h="0">
                <a:tc>
                  <a:txBody>
                    <a:bodyPr/>
                    <a:lstStyle/>
                    <a:p>
                      <a:pPr lvl="0" indent="0" marL="0">
                        <a:buNone/>
                      </a:pPr>
                      <a:r>
                        <a:rPr/>
                        <a:t>Secrets Scanner</a:t>
                      </a:r>
                    </a:p>
                  </a:txBody>
                </a:tc>
                <a:tc>
                  <a:txBody>
                    <a:bodyPr/>
                    <a:lstStyle/>
                    <a:p>
                      <a:pPr lvl="0" indent="0" marL="0">
                        <a:buNone/>
                      </a:pPr>
                      <a:r>
                        <a:rPr/>
                        <a:t>Regex matching + Shannon entropy</a:t>
                      </a:r>
                    </a:p>
                  </a:txBody>
                </a:tc>
                <a:tc>
                  <a:txBody>
                    <a:bodyPr/>
                    <a:lstStyle/>
                    <a:p>
                      <a:pPr lvl="0" indent="0" marL="0">
                        <a:buNone/>
                      </a:pPr>
                      <a:r>
                        <a:rPr/>
                        <a:t>Detects patterns from a curated list of 20+ secret formats. May miss novel or custom credential formats not in the pattern set. Not AST/semantic analysis.</a:t>
                      </a:r>
                    </a:p>
                  </a:txBody>
                </a:tc>
              </a:tr>
              <a:tr h="0">
                <a:tc>
                  <a:txBody>
                    <a:bodyPr/>
                    <a:lstStyle/>
                    <a:p>
                      <a:pPr lvl="0" indent="0" marL="0">
                        <a:buNone/>
                      </a:pPr>
                      <a:r>
                        <a:rPr/>
                        <a:t>Dependency Scanner</a:t>
                      </a:r>
                    </a:p>
                  </a:txBody>
                </a:tc>
                <a:tc>
                  <a:txBody>
                    <a:bodyPr/>
                    <a:lstStyle/>
                    <a:p>
                      <a:pPr lvl="0" indent="0" marL="0">
                        <a:buNone/>
                      </a:pPr>
                      <a:r>
                        <a:rPr/>
                        <a:t>Live API calls to OSV.dev</a:t>
                      </a:r>
                    </a:p>
                  </a:txBody>
                </a:tc>
                <a:tc>
                  <a:txBody>
                    <a:bodyPr/>
                    <a:lstStyle/>
                    <a:p>
                      <a:pPr lvl="0" indent="0" marL="0">
                        <a:buNone/>
                      </a:pPr>
                      <a:r>
                        <a:rPr/>
                        <a:t>Real CVE database queries. Only detects vulnerabilities that exist in the OSV.dev database. Does not perform reachability analysis (cannot tell if a vulnerable function is actually called in your code).</a:t>
                      </a:r>
                    </a:p>
                  </a:txBody>
                </a:tc>
              </a:tr>
              <a:tr h="0">
                <a:tc>
                  <a:txBody>
                    <a:bodyPr/>
                    <a:lstStyle/>
                    <a:p>
                      <a:pPr lvl="0" indent="0" marL="0">
                        <a:buNone/>
                      </a:pPr>
                      <a:r>
                        <a:rPr/>
                        <a:t>API Security Scanner</a:t>
                      </a:r>
                    </a:p>
                  </a:txBody>
                </a:tc>
                <a:tc>
                  <a:txBody>
                    <a:bodyPr/>
                    <a:lstStyle/>
                    <a:p>
                      <a:pPr lvl="0" indent="0" marL="0">
                        <a:buNone/>
                      </a:pPr>
                      <a:r>
                        <a:rPr/>
                        <a:t>Real HTTP GET + OPTIONS requests</a:t>
                      </a:r>
                    </a:p>
                  </a:txBody>
                </a:tc>
                <a:tc>
                  <a:txBody>
                    <a:bodyPr/>
                    <a:lstStyle/>
                    <a:p>
                      <a:pPr lvl="0" indent="0" marL="0">
                        <a:buNone/>
                      </a:pPr>
                      <a:r>
                        <a:rPr/>
                        <a:t>Tests publicly accessible endpoints only. Cannot test authenticated endpoints requiring login. Cannot detect business logic flaws.</a:t>
                      </a:r>
                    </a:p>
                  </a:txBody>
                </a:tc>
              </a:tr>
              <a:tr h="0">
                <a:tc>
                  <a:txBody>
                    <a:bodyPr/>
                    <a:lstStyle/>
                    <a:p>
                      <a:pPr lvl="0" indent="0" marL="0">
                        <a:buNone/>
                      </a:pPr>
                      <a:r>
                        <a:rPr/>
                        <a:t>Cloud Security Audit</a:t>
                      </a:r>
                    </a:p>
                  </a:txBody>
                </a:tc>
                <a:tc>
                  <a:txBody>
                    <a:bodyPr/>
                    <a:lstStyle/>
                    <a:p>
                      <a:pPr lvl="0" indent="0" marL="0">
                        <a:buNone/>
                      </a:pPr>
                      <a:r>
                        <a:rPr/>
                        <a:t>Pattern matching on config text</a:t>
                      </a:r>
                    </a:p>
                  </a:txBody>
                </a:tc>
                <a:tc>
                  <a:txBody>
                    <a:bodyPr/>
                    <a:lstStyle/>
                    <a:p>
                      <a:pPr lvl="0" indent="0" marL="0">
                        <a:buNone/>
                      </a:pPr>
                      <a:r>
                        <a:rPr/>
                        <a:t>Analyzes Terraform/CloudFormation syntax. Does not connect to actual AWS/Azure/GCP APIs — cannot detect runtime misconfigurations not reflected in code.</a:t>
                      </a:r>
                    </a:p>
                  </a:txBody>
                </a:tc>
              </a:tr>
              <a:tr h="0">
                <a:tc>
                  <a:txBody>
                    <a:bodyPr/>
                    <a:lstStyle/>
                    <a:p>
                      <a:pPr lvl="0" indent="0" marL="0">
                        <a:buNone/>
                      </a:pPr>
                      <a:r>
                        <a:rPr/>
                        <a:t>Threat Log Analyzer</a:t>
                      </a:r>
                    </a:p>
                  </a:txBody>
                </a:tc>
                <a:tc>
                  <a:txBody>
                    <a:bodyPr/>
                    <a:lstStyle/>
                    <a:p>
                      <a:pPr lvl="0" indent="0" marL="0">
                        <a:buNone/>
                      </a:pPr>
                      <a:r>
                        <a:rPr/>
                        <a:t>Regex pattern detection (11 patterns)</a:t>
                      </a:r>
                    </a:p>
                  </a:txBody>
                </a:tc>
                <a:tc>
                  <a:txBody>
                    <a:bodyPr/>
                    <a:lstStyle/>
                    <a:p>
                      <a:pPr lvl="0" indent="0" marL="0">
                        <a:buNone/>
                      </a:pPr>
                      <a:r>
                        <a:rPr/>
                        <a:t>Detects common attack signatures in log text. Not a SIEM or ML-based anomaly detection system. May miss zero-day or novel attack patterns.</a:t>
                      </a:r>
                    </a:p>
                  </a:txBody>
                </a:tc>
              </a:tr>
              <a:tr h="0">
                <a:tc>
                  <a:txBody>
                    <a:bodyPr/>
                    <a:lstStyle/>
                    <a:p>
                      <a:pPr lvl="0" indent="0" marL="0">
                        <a:buNone/>
                      </a:pPr>
                      <a:r>
                        <a:rPr/>
                        <a:t>CI/CD Pipeline Gate</a:t>
                      </a:r>
                    </a:p>
                  </a:txBody>
                </a:tc>
                <a:tc>
                  <a:txBody>
                    <a:bodyPr/>
                    <a:lstStyle/>
                    <a:p>
                      <a:pPr lvl="0" indent="0" marL="0">
                        <a:buNone/>
                      </a:pPr>
                      <a:r>
                        <a:rPr/>
                        <a:t>Runs secrets + deps scans on submitted code</a:t>
                      </a:r>
                    </a:p>
                  </a:txBody>
                </a:tc>
                <a:tc>
                  <a:txBody>
                    <a:bodyPr/>
                    <a:lstStyle/>
                    <a:p>
                      <a:pPr lvl="0" indent="0" marL="0">
                        <a:buNone/>
                      </a:pPr>
                      <a:r>
                        <a:rPr/>
                        <a:t>Same limitations as individual scanners apply.</a:t>
                      </a:r>
                    </a:p>
                  </a:txBody>
                </a:tc>
              </a:tr>
            </a:tbl>
          </a:graphicData>
        </a:graphic>
      </p:graphicFrame>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Infrastructure Boundaries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52600"/>
                <a:gridCol w="1435100"/>
                <a:gridCol w="1917700"/>
              </a:tblGrid>
              <a:tr h="0">
                <a:tc>
                  <a:txBody>
                    <a:bodyPr/>
                    <a:lstStyle/>
                    <a:p>
                      <a:pPr lvl="0" indent="0" marL="0">
                        <a:buNone/>
                      </a:pPr>
                      <a:r>
                        <a:rPr/>
                        <a:t>Limitation</a:t>
                      </a:r>
                    </a:p>
                  </a:txBody>
                  <a:tcPr/>
                </a:tc>
                <a:tc>
                  <a:txBody>
                    <a:bodyPr/>
                    <a:lstStyle/>
                    <a:p>
                      <a:pPr lvl="0" indent="0" marL="0">
                        <a:buNone/>
                      </a:pPr>
                      <a:r>
                        <a:rPr/>
                        <a:t>Details</a:t>
                      </a:r>
                    </a:p>
                  </a:txBody>
                  <a:tcPr/>
                </a:tc>
                <a:tc>
                  <a:txBody>
                    <a:bodyPr/>
                    <a:lstStyle/>
                    <a:p>
                      <a:pPr lvl="0" indent="0" marL="0">
                        <a:buNone/>
                      </a:pPr>
                      <a:r>
                        <a:rPr/>
                        <a:t>Mitigation</a:t>
                      </a:r>
                    </a:p>
                  </a:txBody>
                  <a:tcPr/>
                </a:tc>
              </a:tr>
              <a:tr h="0">
                <a:tc>
                  <a:txBody>
                    <a:bodyPr/>
                    <a:lstStyle/>
                    <a:p>
                      <a:pPr lvl="0" indent="0" marL="0">
                        <a:buNone/>
                      </a:pPr>
                      <a:r>
                        <a:rPr b="1"/>
                        <a:t>In-memory rate limiter</a:t>
                      </a:r>
                    </a:p>
                  </a:txBody>
                </a:tc>
                <a:tc>
                  <a:txBody>
                    <a:bodyPr/>
                    <a:lstStyle/>
                    <a:p>
                      <a:pPr lvl="0" indent="0" marL="0">
                        <a:buNone/>
                      </a:pPr>
                      <a:r>
                        <a:rPr/>
                        <a:t>Resets on serverless cold starts (Vercel)</a:t>
                      </a:r>
                    </a:p>
                  </a:txBody>
                </a:tc>
                <a:tc>
                  <a:txBody>
                    <a:bodyPr/>
                    <a:lstStyle/>
                    <a:p>
                      <a:pPr lvl="0" indent="0" marL="0">
                        <a:buNone/>
                      </a:pPr>
                      <a:r>
                        <a:rPr/>
                        <a:t>Sufficient for current scale. Redis migration planned for higher volume.</a:t>
                      </a:r>
                    </a:p>
                  </a:txBody>
                </a:tc>
              </a:tr>
              <a:tr h="0">
                <a:tc>
                  <a:txBody>
                    <a:bodyPr/>
                    <a:lstStyle/>
                    <a:p>
                      <a:pPr lvl="0" indent="0" marL="0">
                        <a:buNone/>
                      </a:pPr>
                      <a:r>
                        <a:rPr b="1"/>
                        <a:t>No distributed caching</a:t>
                      </a:r>
                    </a:p>
                  </a:txBody>
                </a:tc>
                <a:tc>
                  <a:txBody>
                    <a:bodyPr/>
                    <a:lstStyle/>
                    <a:p>
                      <a:pPr lvl="0" indent="0" marL="0">
                        <a:buNone/>
                      </a:pPr>
                      <a:r>
                        <a:rPr/>
                        <a:t>Scan results are not cached between requests</a:t>
                      </a:r>
                    </a:p>
                  </a:txBody>
                </a:tc>
                <a:tc>
                  <a:txBody>
                    <a:bodyPr/>
                    <a:lstStyle/>
                    <a:p>
                      <a:pPr lvl="0" indent="0" marL="0">
                        <a:buNone/>
                      </a:pPr>
                      <a:r>
                        <a:rPr/>
                        <a:t>Each scan is fresh — ensures current results but adds latency.</a:t>
                      </a:r>
                    </a:p>
                  </a:txBody>
                </a:tc>
              </a:tr>
              <a:tr h="0">
                <a:tc>
                  <a:txBody>
                    <a:bodyPr/>
                    <a:lstStyle/>
                    <a:p>
                      <a:pPr lvl="0" indent="0" marL="0">
                        <a:buNone/>
                      </a:pPr>
                      <a:r>
                        <a:rPr b="1"/>
                        <a:t>Alert delivery — no retry</a:t>
                      </a:r>
                    </a:p>
                  </a:txBody>
                </a:tc>
                <a:tc>
                  <a:txBody>
                    <a:bodyPr/>
                    <a:lstStyle/>
                    <a:p>
                      <a:pPr lvl="0" indent="0" marL="0">
                        <a:buNone/>
                      </a:pPr>
                      <a:r>
                        <a:rPr/>
                        <a:t>If email/Slack/webhook delivery fails, it is not retried</a:t>
                      </a:r>
                    </a:p>
                  </a:txBody>
                </a:tc>
                <a:tc>
                  <a:txBody>
                    <a:bodyPr/>
                    <a:lstStyle/>
                    <a:p>
                      <a:pPr lvl="0" indent="0" marL="0">
                        <a:buNone/>
                      </a:pPr>
                      <a:r>
                        <a:rPr/>
                        <a:t>Configure multiple alert channels for redundancy.</a:t>
                      </a:r>
                    </a:p>
                  </a:txBody>
                </a:tc>
              </a:tr>
              <a:tr h="0">
                <a:tc>
                  <a:txBody>
                    <a:bodyPr/>
                    <a:lstStyle/>
                    <a:p>
                      <a:pPr lvl="0" indent="0" marL="0">
                        <a:buNone/>
                      </a:pPr>
                      <a:r>
                        <a:rPr b="1"/>
                        <a:t>API key — no scopes</a:t>
                      </a:r>
                    </a:p>
                  </a:txBody>
                </a:tc>
                <a:tc>
                  <a:txBody>
                    <a:bodyPr/>
                    <a:lstStyle/>
                    <a:p>
                      <a:pPr lvl="0" indent="0" marL="0">
                        <a:buNone/>
                      </a:pPr>
                      <a:r>
                        <a:rPr/>
                        <a:t>API keys grant full access to all scan endpoints</a:t>
                      </a:r>
                    </a:p>
                  </a:txBody>
                </a:tc>
                <a:tc>
                  <a:txBody>
                    <a:bodyPr/>
                    <a:lstStyle/>
                    <a:p>
                      <a:pPr lvl="0" indent="0" marL="0">
                        <a:buNone/>
                      </a:pPr>
                      <a:r>
                        <a:rPr/>
                        <a:t>Planned: per-endpoint scopes and read-only keys.</a:t>
                      </a:r>
                    </a:p>
                  </a:txBody>
                </a:tc>
              </a:tr>
              <a:tr h="0">
                <a:tc>
                  <a:txBody>
                    <a:bodyPr/>
                    <a:lstStyle/>
                    <a:p>
                      <a:pPr lvl="0" indent="0" marL="0">
                        <a:buNone/>
                      </a:pPr>
                      <a:r>
                        <a:rPr b="1"/>
                        <a:t>Single API key per user</a:t>
                      </a:r>
                    </a:p>
                  </a:txBody>
                </a:tc>
                <a:tc>
                  <a:txBody>
                    <a:bodyPr/>
                    <a:lstStyle/>
                    <a:p>
                      <a:pPr lvl="0" indent="0" marL="0">
                        <a:buNone/>
                      </a:pPr>
                      <a:r>
                        <a:rPr/>
                        <a:t>Users can only have one active API key</a:t>
                      </a:r>
                    </a:p>
                  </a:txBody>
                </a:tc>
                <a:tc>
                  <a:txBody>
                    <a:bodyPr/>
                    <a:lstStyle/>
                    <a:p>
                      <a:pPr lvl="0" indent="0" marL="0">
                        <a:buNone/>
                      </a:pPr>
                      <a:r>
                        <a:rPr/>
                        <a:t>Regenerate key to rotate. Multiple keys planned.</a:t>
                      </a:r>
                    </a:p>
                  </a:txBody>
                </a:tc>
              </a:tr>
            </a:tbl>
          </a:graphicData>
        </a:graphic>
      </p:graphicFrame>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ShieldX Is NOT</a:t>
            </a:r>
          </a:p>
          <a:p>
            <a:pPr lvl="0"/>
            <a:r>
              <a:rPr b="1"/>
              <a:t>Not a SAST tool</a:t>
            </a:r>
            <a:r>
              <a:rPr/>
              <a:t> — Does not perform static analysis on compiled code or parse abstract syntax trees</a:t>
            </a:r>
          </a:p>
          <a:p>
            <a:pPr lvl="0"/>
            <a:r>
              <a:rPr b="1"/>
              <a:t>Not a DAST tool</a:t>
            </a:r>
            <a:r>
              <a:rPr/>
              <a:t> — Does not crawl web applications or test for runtime vulnerabilities</a:t>
            </a:r>
          </a:p>
          <a:p>
            <a:pPr lvl="0"/>
            <a:r>
              <a:rPr b="1"/>
              <a:t>Not a SIEM</a:t>
            </a:r>
            <a:r>
              <a:rPr/>
              <a:t> — Log analyzer is pattern-based, not behavioral/ML-based</a:t>
            </a:r>
          </a:p>
          <a:p>
            <a:pPr lvl="0"/>
            <a:r>
              <a:rPr b="1"/>
              <a:t>Not a compliance certifier</a:t>
            </a:r>
            <a:r>
              <a:rPr/>
              <a:t> — Helps with OWASP/CIS alignment but does not issue compliance certificates</a:t>
            </a:r>
          </a:p>
          <a:p>
            <a:pPr lvl="0"/>
            <a:r>
              <a:rPr b="1"/>
              <a:t>Not a WAF</a:t>
            </a:r>
            <a:r>
              <a:rPr/>
              <a:t> — Detects issues but does not block traffic</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This document is maintained by the SecureCodeReviews engineering team. For questions, contact engineering@securecodereviews.com</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2026-03-19T20:07:54Z</dcterms:created>
  <dcterms:modified xsi:type="dcterms:W3CDTF">2026-03-19T20:07:54Z</dcterms:modified>
</cp:coreProperties>
</file>

<file path=docProps/custom.xml><?xml version="1.0" encoding="utf-8"?>
<Properties xmlns="http://schemas.openxmlformats.org/officeDocument/2006/custom-properties" xmlns:vt="http://schemas.openxmlformats.org/officeDocument/2006/docPropsVTypes"/>
</file>